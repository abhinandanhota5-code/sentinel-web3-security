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5" r:id="rId10"/>
    <p:sldId id="267" r:id="rId11"/>
    <p:sldId id="269" r:id="rId12"/>
    <p:sldId id="271"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varScale="1">
        <p:scale>
          <a:sx n="122" d="100"/>
          <a:sy n="122" d="100"/>
        </p:scale>
        <p:origin x="224"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194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Title &amp; Framing
- Welcome to the Sentinel pitch for Multipli Hackathon 2026.
- Key Framing: Sentinel is NOT a competitor to detection systems (like Forta) or protection systems (like Hypernative).
- The Web3 security industry already has world-class detection and automated blocking tools.
- However, there is a massive unaddressed gap: INVESTIGATION. When an alert fires, users and operators need to know:
  1. What actually happened?
  2. What is the evidence?
  3. What is observed vs inferred?
  4. What is my real dollar blast radius right now?
- Sentinel solves this by sitting between detection systems and human decisions, turning opaque alerts into verifiable evidence trails.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The Core Thesis
- Our thesis rests on a fundamental distinction: Detection, Protection, and Investigation are three completely distinct layers of security.
- Today, the industry has mature Detection tools (Forta, Hypernative) and Protection tools (Transaction Guard, Firewalls).
- But Detection produces compressed verdicts (e.g. "Risk Score 87" or "Suspicious Spender").
- And Protection enforces binary outcomes (Block vs Allow).
- What users, security analysts, and DAO signers desperately need is the third layer: INVESTIGATION.
- Investigation answers the 6 core questions shown at the bottom: What happened? Why does it matter? What is exposed right now? What evidence proves it? What is observed fact vs modeled inference? And what remains unknown?
- Every following slide in this deck addresses how Sentinel systematically solves these six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Where Sentinel Sits
- This slide shows the exact pipeline architecture.
- Notice steps 1, 2, and 3: We do NOT re-invent mempool listening or Forta detection bots. Those systems are fast and necessary.
- Instead, Sentinel consumes their output or raw blockchain triggers at Step 4.
- Sentinel performs the heavy investigative work:
  1. Reconstructs contract state and bytecode.
  2. Traces the entity relationship graph.
  3. Computes the real live dollar blast radius.
  4. Classifies each piece of data into Observed, Inferred, or Unknown.
- Step 5 generates the verifiable report, and Step 6 returns decision-making agency to the human.
- The fundamental principle: Detection compresses; Sentinel decompresses.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Core Innovation — Evidence Trail with Confidence Classes
- This is the intellectual core of Sentinel.
- Look at the left box: This is an actual real-world inspection log.
  - Notice the five OBSERVED lines: Every single line has a transaction hash, block number, or storage slot read.
  - Notice the INFERRED line: It says "The approved contract may potentially affect the wallet's balance." It does NOT say "Malicious contract".
  - Notice the UNKNOWN line: On-chain data can never prove human intent. A regular security score assigns an arbitrary number like 87. Sentinel explicitly tells the user: "We cannot establish if the admin intends to misuse this capability."
- On the right: The three confidence classes.
  - OBSERVED: Cryptographic fact.
  - INFERRED: Logical derivation from facts.
  - UNKNOWN: Clear boundary of knowledge.
- This prevents AI hallucinations and eliminates skepticism.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History vs Exposure &amp; Coverage
- One of the biggest design flaws in current Web3 reputation tools is conflating History and Exposure.
- History: "What has this address done?" It looks backward. It checks blacklists, past exploits, and tx history.
- Exposure: "What can this address affect right now?" It looks forward at active blast radius.
- Consider an attacker who buys an old, highly reputed smart contract or deploys an upgradeable proxy with zero bad history. A historical scanner will say "100% Reputable". But its Exposure could be a total drain of your active balance!
- On the right: Coverage Transparency.
  - No scanner can check everything. When a scanner says "Nothing found", users think "I am 100% safe."
  - Sentinel explicitly tells the user the verified boundary of what was analyzed.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Investigable Alerts &amp; Evidence Graph
- Look at the difference between a traditional security alert and a Sentinel Investigable Alert.
- Traditional alert: A scary red popup saying "High Risk Warning! Proceed at your own risk!"
- Sentinel alert (left side):
  1. Names the exact blast radius: "$2,840 USDC exposed."
  2. Breaks down the four concrete reasons why this fired.
  3. Gives the user three distinct choices: Inspect the raw cryptographic proof, revoke the approval in one click, or keep it active if they trust the protocol.
- On the right: The Evidence Graph.
  - Unlike abstract AI graphs, every single node and edge links directly to on-chain state.
  - The wallet approved the USDC token; the USDC token points to the spender proxy; the proxy is controlled by the admin EOA; and the proxy delegates to the implementation.
  - This turns an opaque warning into an inspectable, understandable map.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Pre-Signing Defense &amp; AI Grounding
- This slide showcases our killer user-facing feature: Pre-signing protection.
- Today, users see Metamask popups that say "Allow dApp to spend USDC". 99% of users just click Confirm because they don't know what it means.
- Look at the Sentinel modal (left side):
  - It clearly shows: Unlimited USDC requested, $2,840 currently at risk, Spender is an upgradeable proxy, Admin was recently changed with zero timelock.
  - Crucially, it gives the user AGENCY: They don't just have to reject or accept; they can click "Set $50 Cap" to do the trade safely!
- On the right side: How we prevent AI hallucinations.
  - Every investor and technical judge asks: "Are you just sending smart contracts to ChatGPT and asking if it's safe?"
  - Our answer is an absolute NO.
  - Layer 1 and 2 are 100% deterministic code. They read raw blockchain state.
  - Layer 3 builds an immutable Evidence Graph with cryptographic IDs.
  - Layer 4: The LLM is strictly a narrator. If the LLM generates a sentence that does not link to an Evidence ID, it is filtered out by our validator.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Concrete Signals Investigated
- This slide shows the depth of our deterministic analysis engine.
- We don't just look at high-level wallet transactions. We analyze 6 distinct categories:
  1. Approvals &amp; Allowances: Active caps, dormant spenders, permit signatures.
  2. Admin &amp; Governance Roles: Timelocks, single-key EOAs vs multi-sigs, emergency pause powers.
  3. Proxy &amp; Bytecode Architecture: ERC-1967/UUPS patterns, implementation changes, unverified code.
  4. Fund Flow Provenance: Multi-hop tracking, mixer touches (Tornado/Railgun), flash loans.
  5. Behavioral Clusters: Deployer funding trees, sybil coordination rings.
  6. Cross-Chain Footprint: Validating reputation across Ethereum, Arbitrum, Base, and Multipli.
- Every signal is converted into an on-chain cryptographic fact before it enters the investigation pipeline.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Investigation Workflow — End-to-End Pipeline
- This slide shows how Sentinel operates in production.
- Stages 1 through 6 take less than 3 seconds total.
- The bottom walkthrough is a real scenario:
  - An alert fires from Forta.
  - Sentinel ingests it, reads storage slots, resolves the proxy implementation, checks timelocks, computes that $2,840 USDC is exposed, synthesizes the evidence into Observed/Inferred/Unknown, and presents an actionable review modal to the user.
- Every conclusion is backed by cryptographic proof.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Multipli Hackathon Ecosystem Impact
- Why is Sentinel essential for Multipli?
  1. Cross-chain reputation: Multipli connects multiple chains. Exploiters often drain funds on Ethereum or Arbitrum and move them cleanly to newer chains. Sentinel links cross-chain identities.
  2. Institutional DeFi Yield Guard: Multipli attracts institutional liquidity. Institutions cannot deposit into yield vaults based on a "90% reputation score." They need to see the exact proxy upgrade rules and timelocks.
  3. Protocol Attestation: New builders deploying on Multipli can get an automated cryptographic proof of their contract's safety parameters.
  4. Composable SDK: Multipli dApps can embed Sentinel modals directly into their UI, reducing friction while increasing security.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Security UX Paradigm Shift
- Why do existing Web3 security tools fail to stop hacks?
  - Because they create alarm fatigue! Users get 10 red warnings a week for legitimate Uniswap or Aave interactions. They learn to ignore warnings.
  - Scores like "87/100" mean nothing to a user or a DAO signer.
- Sentinel shifts the entire paradigm:
  - We replace abstract scores with real dollars: "$2,840 USDC at risk."
  - We replace binary blocking with nuanced user agency: "Set a $50 cap instead of unlimited."
  - We replace black-box AI with strictly grounded narration.
- The result: Users actually read and understand warnings because they can verify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Appendix — Competitive Research &amp; Citations
- This appendix provides our complete research backing.
- If any judge or investor challenges any competitive cell on Slide 9:
  - Every Hypernative feature and metric is cited to their four official product URLs.
  - Every Forta feature is cited to their official docs and forta.org.
  - All vendor metrics are labeled vendor-reported.
- This academic and technical rigor demonstrates that Sentinel is built on true deep domain expertise.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371600" y="731520"/>
            <a:ext cx="5029200" cy="3200400"/>
          </a:xfrm>
          <a:prstGeom prst="ellipse">
            <a:avLst/>
          </a:prstGeom>
          <a:solidFill>
            <a:srgbClr val="EEF2FF">
              <a:alpha val="60000"/>
            </a:srgbClr>
          </a:solidFill>
          <a:ln w="12700">
            <a:solidFill>
              <a:srgbClr val="EEF2FF">
                <a:alpha val="0"/>
              </a:srgbClr>
            </a:solidFill>
            <a:prstDash val="solid"/>
          </a:ln>
        </p:spPr>
        <p:txBody>
          <a:bodyPr/>
          <a:lstStyle/>
          <a:p>
            <a:endParaRPr lang="en-US"/>
          </a:p>
        </p:txBody>
      </p:sp>
      <p:sp>
        <p:nvSpPr>
          <p:cNvPr id="3" name="Shape 1"/>
          <p:cNvSpPr/>
          <p:nvPr/>
        </p:nvSpPr>
        <p:spPr>
          <a:xfrm>
            <a:off x="6400800" y="2011680"/>
            <a:ext cx="4572000" cy="3200400"/>
          </a:xfrm>
          <a:prstGeom prst="ellipse">
            <a:avLst/>
          </a:prstGeom>
          <a:solidFill>
            <a:srgbClr val="ECFDF5">
              <a:alpha val="60000"/>
            </a:srgbClr>
          </a:solidFill>
          <a:ln w="12700">
            <a:solidFill>
              <a:srgbClr val="ECFDF5">
                <a:alpha val="0"/>
              </a:srgbClr>
            </a:solidFill>
            <a:prstDash val="solid"/>
          </a:ln>
        </p:spPr>
        <p:txBody>
          <a:bodyPr/>
          <a:lstStyle/>
          <a:p>
            <a:endParaRPr lang="en-US"/>
          </a:p>
        </p:txBody>
      </p:sp>
      <p:sp>
        <p:nvSpPr>
          <p:cNvPr id="4" name="Shape 2"/>
          <p:cNvSpPr/>
          <p:nvPr/>
        </p:nvSpPr>
        <p:spPr>
          <a:xfrm>
            <a:off x="731520" y="1005840"/>
            <a:ext cx="3474720" cy="320040"/>
          </a:xfrm>
          <a:prstGeom prst="roundRect">
            <a:avLst>
              <a:gd name="adj" fmla="val 48571"/>
            </a:avLst>
          </a:prstGeom>
          <a:solidFill>
            <a:srgbClr val="EEF2FF"/>
          </a:solidFill>
          <a:ln w="12700">
            <a:solidFill>
              <a:srgbClr val="C7D2FE"/>
            </a:solidFill>
            <a:prstDash val="solid"/>
          </a:ln>
        </p:spPr>
        <p:txBody>
          <a:bodyPr/>
          <a:lstStyle/>
          <a:p>
            <a:endParaRPr lang="en-US"/>
          </a:p>
        </p:txBody>
      </p:sp>
      <p:sp>
        <p:nvSpPr>
          <p:cNvPr id="5" name="Text 3"/>
          <p:cNvSpPr/>
          <p:nvPr/>
        </p:nvSpPr>
        <p:spPr>
          <a:xfrm>
            <a:off x="731520" y="1005840"/>
            <a:ext cx="3474720" cy="320040"/>
          </a:xfrm>
          <a:prstGeom prst="rect">
            <a:avLst/>
          </a:prstGeom>
          <a:noFill/>
          <a:ln/>
        </p:spPr>
        <p:txBody>
          <a:bodyPr wrap="square" lIns="0" tIns="0" rIns="0" bIns="0" rtlCol="0" anchor="ctr"/>
          <a:lstStyle/>
          <a:p>
            <a:pPr marL="0" indent="0" algn="ctr">
              <a:buNone/>
            </a:pPr>
            <a:r>
              <a:rPr lang="en-US" sz="950" b="1" dirty="0">
                <a:solidFill>
                  <a:srgbClr val="4338CA"/>
                </a:solidFill>
                <a:latin typeface="Segoe UI" pitchFamily="34" charset="0"/>
                <a:ea typeface="Segoe UI" pitchFamily="34" charset="-122"/>
                <a:cs typeface="Segoe UI" pitchFamily="34" charset="-120"/>
              </a:rPr>
              <a:t>MULTIPLI HACKATHON 2026  //  WEB3 SECURITY</a:t>
            </a:r>
            <a:endParaRPr lang="en-US" sz="950" dirty="0"/>
          </a:p>
        </p:txBody>
      </p:sp>
      <p:sp>
        <p:nvSpPr>
          <p:cNvPr id="6" name="Text 4"/>
          <p:cNvSpPr/>
          <p:nvPr/>
        </p:nvSpPr>
        <p:spPr>
          <a:xfrm>
            <a:off x="731520" y="1508760"/>
            <a:ext cx="10698480" cy="868680"/>
          </a:xfrm>
          <a:prstGeom prst="rect">
            <a:avLst/>
          </a:prstGeom>
          <a:noFill/>
          <a:ln/>
        </p:spPr>
        <p:txBody>
          <a:bodyPr wrap="square" lIns="0" tIns="0" rIns="0" bIns="0" rtlCol="0" anchor="t"/>
          <a:lstStyle/>
          <a:p>
            <a:pPr marL="0" indent="0">
              <a:buNone/>
            </a:pPr>
            <a:r>
              <a:rPr lang="en-US" sz="4400" b="1" dirty="0">
                <a:solidFill>
                  <a:srgbClr val="0F172A"/>
                </a:solidFill>
                <a:latin typeface="Segoe UI" pitchFamily="34" charset="0"/>
                <a:ea typeface="Segoe UI" pitchFamily="34" charset="-122"/>
                <a:cs typeface="Segoe UI" pitchFamily="34" charset="-120"/>
              </a:rPr>
              <a:t>SENTINEL</a:t>
            </a:r>
            <a:endParaRPr lang="en-US" sz="4400" dirty="0"/>
          </a:p>
        </p:txBody>
      </p:sp>
      <p:sp>
        <p:nvSpPr>
          <p:cNvPr id="7" name="Text 5"/>
          <p:cNvSpPr/>
          <p:nvPr/>
        </p:nvSpPr>
        <p:spPr>
          <a:xfrm>
            <a:off x="731520" y="2423160"/>
            <a:ext cx="10698480" cy="594360"/>
          </a:xfrm>
          <a:prstGeom prst="rect">
            <a:avLst/>
          </a:prstGeom>
          <a:noFill/>
          <a:ln/>
        </p:spPr>
        <p:txBody>
          <a:bodyPr wrap="square" lIns="0" tIns="0" rIns="0" bIns="0" rtlCol="0" anchor="t"/>
          <a:lstStyle/>
          <a:p>
            <a:pPr marL="0" indent="0">
              <a:buNone/>
            </a:pPr>
            <a:r>
              <a:rPr lang="en-US" sz="2600" b="1" dirty="0">
                <a:solidFill>
                  <a:srgbClr val="6366F1"/>
                </a:solidFill>
                <a:latin typeface="Segoe UI" pitchFamily="34" charset="0"/>
                <a:ea typeface="Segoe UI" pitchFamily="34" charset="-122"/>
                <a:cs typeface="Segoe UI" pitchFamily="34" charset="-120"/>
              </a:rPr>
              <a:t>From alert to evidence.</a:t>
            </a:r>
            <a:endParaRPr lang="en-US" sz="2600" dirty="0"/>
          </a:p>
        </p:txBody>
      </p:sp>
      <p:sp>
        <p:nvSpPr>
          <p:cNvPr id="8" name="Text 6"/>
          <p:cNvSpPr/>
          <p:nvPr/>
        </p:nvSpPr>
        <p:spPr>
          <a:xfrm>
            <a:off x="731520" y="3108960"/>
            <a:ext cx="10698480" cy="640080"/>
          </a:xfrm>
          <a:prstGeom prst="rect">
            <a:avLst/>
          </a:prstGeom>
          <a:noFill/>
          <a:ln/>
        </p:spPr>
        <p:txBody>
          <a:bodyPr wrap="square" lIns="0" tIns="0" rIns="0" bIns="0" rtlCol="0" anchor="t"/>
          <a:lstStyle/>
          <a:p>
            <a:pPr marL="0" indent="0">
              <a:lnSpc>
                <a:spcPts val="1800"/>
              </a:lnSpc>
              <a:buNone/>
            </a:pPr>
            <a:r>
              <a:rPr lang="en-US" sz="1350" dirty="0">
                <a:solidFill>
                  <a:srgbClr val="334155"/>
                </a:solidFill>
                <a:latin typeface="Segoe UI" pitchFamily="34" charset="0"/>
                <a:ea typeface="Segoe UI" pitchFamily="34" charset="-122"/>
                <a:cs typeface="Segoe UI" pitchFamily="34" charset="-120"/>
              </a:rPr>
              <a:t>An evidence-first investigation layer for Web3 security and contract reputation.</a:t>
            </a:r>
            <a:endParaRPr lang="en-US" sz="1350" dirty="0"/>
          </a:p>
          <a:p>
            <a:pPr marL="0" indent="0">
              <a:lnSpc>
                <a:spcPts val="1800"/>
              </a:lnSpc>
              <a:buNone/>
            </a:pPr>
            <a:r>
              <a:rPr lang="en-US" sz="1350" dirty="0">
                <a:solidFill>
                  <a:srgbClr val="334155"/>
                </a:solidFill>
                <a:latin typeface="Segoe UI" pitchFamily="34" charset="0"/>
                <a:ea typeface="Segoe UI" pitchFamily="34" charset="-122"/>
                <a:cs typeface="Segoe UI" pitchFamily="34" charset="-120"/>
              </a:rPr>
              <a:t>Conceptually positioned after detection and before the user decides.</a:t>
            </a:r>
            <a:endParaRPr lang="en-US" sz="1350" dirty="0"/>
          </a:p>
        </p:txBody>
      </p:sp>
      <p:sp>
        <p:nvSpPr>
          <p:cNvPr id="9" name="Shape 7"/>
          <p:cNvSpPr/>
          <p:nvPr/>
        </p:nvSpPr>
        <p:spPr>
          <a:xfrm>
            <a:off x="731520" y="3977640"/>
            <a:ext cx="3429000" cy="1783080"/>
          </a:xfrm>
          <a:prstGeom prst="roundRect">
            <a:avLst>
              <a:gd name="adj" fmla="val 4103"/>
            </a:avLst>
          </a:prstGeom>
          <a:solidFill>
            <a:srgbClr val="FFFFFF"/>
          </a:solidFill>
          <a:ln w="12700">
            <a:solidFill>
              <a:srgbClr val="E2E8F0"/>
            </a:solidFill>
            <a:prstDash val="solid"/>
          </a:ln>
        </p:spPr>
        <p:txBody>
          <a:bodyPr/>
          <a:lstStyle/>
          <a:p>
            <a:endParaRPr lang="en-US"/>
          </a:p>
        </p:txBody>
      </p:sp>
      <p:sp>
        <p:nvSpPr>
          <p:cNvPr id="10" name="Shape 8"/>
          <p:cNvSpPr/>
          <p:nvPr/>
        </p:nvSpPr>
        <p:spPr>
          <a:xfrm>
            <a:off x="749808" y="3995928"/>
            <a:ext cx="339242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11" name="Shape 9"/>
          <p:cNvSpPr/>
          <p:nvPr/>
        </p:nvSpPr>
        <p:spPr>
          <a:xfrm>
            <a:off x="960120" y="4178808"/>
            <a:ext cx="2185416"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12" name="Text 10"/>
          <p:cNvSpPr/>
          <p:nvPr/>
        </p:nvSpPr>
        <p:spPr>
          <a:xfrm>
            <a:off x="960120" y="4178808"/>
            <a:ext cx="2185416"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COMPLEMENTARY PIPELINE</a:t>
            </a:r>
            <a:endParaRPr lang="en-US" sz="800" dirty="0"/>
          </a:p>
        </p:txBody>
      </p:sp>
      <p:sp>
        <p:nvSpPr>
          <p:cNvPr id="13" name="Text 11"/>
          <p:cNvSpPr/>
          <p:nvPr/>
        </p:nvSpPr>
        <p:spPr>
          <a:xfrm>
            <a:off x="960120" y="4507992"/>
            <a:ext cx="2971800" cy="320040"/>
          </a:xfrm>
          <a:prstGeom prst="rect">
            <a:avLst/>
          </a:prstGeom>
          <a:noFill/>
          <a:ln/>
        </p:spPr>
        <p:txBody>
          <a:bodyPr wrap="square" lIns="0" tIns="0" rIns="0" bIns="0" rtlCol="0" anchor="t"/>
          <a:lstStyle/>
          <a:p>
            <a:pPr marL="0" indent="0">
              <a:buNone/>
            </a:pPr>
            <a:r>
              <a:rPr lang="en-US" sz="1350" b="1" dirty="0">
                <a:solidFill>
                  <a:srgbClr val="0F172A"/>
                </a:solidFill>
                <a:latin typeface="Segoe UI" pitchFamily="34" charset="0"/>
                <a:ea typeface="Segoe UI" pitchFamily="34" charset="-122"/>
                <a:cs typeface="Segoe UI" pitchFamily="34" charset="-120"/>
              </a:rPr>
              <a:t>Sits After Detection</a:t>
            </a:r>
            <a:endParaRPr lang="en-US" sz="1350" dirty="0"/>
          </a:p>
        </p:txBody>
      </p:sp>
      <p:sp>
        <p:nvSpPr>
          <p:cNvPr id="14" name="Text 12"/>
          <p:cNvSpPr/>
          <p:nvPr/>
        </p:nvSpPr>
        <p:spPr>
          <a:xfrm>
            <a:off x="960120" y="4873752"/>
            <a:ext cx="2971800" cy="777240"/>
          </a:xfrm>
          <a:prstGeom prst="rect">
            <a:avLst/>
          </a:prstGeom>
          <a:noFill/>
          <a:ln/>
        </p:spPr>
        <p:txBody>
          <a:bodyPr wrap="square" lIns="0" tIns="0" rIns="0" bIns="0" rtlCol="0" anchor="t"/>
          <a:lstStyle/>
          <a:p>
            <a:pPr marL="0" indent="0">
              <a:lnSpc>
                <a:spcPts val="1400"/>
              </a:lnSpc>
              <a:buNone/>
            </a:pPr>
            <a:r>
              <a:rPr lang="en-US" sz="1000" dirty="0">
                <a:solidFill>
                  <a:srgbClr val="64748B"/>
                </a:solidFill>
                <a:latin typeface="Segoe UI" pitchFamily="34" charset="0"/>
                <a:ea typeface="Segoe UI" pitchFamily="34" charset="-122"/>
                <a:cs typeface="Segoe UI" pitchFamily="34" charset="-120"/>
              </a:rPr>
              <a:t>Consumes alerts from Forta, Hypernative, &amp; mempool bots; decompresses verdicts into verifiable facts.</a:t>
            </a:r>
            <a:endParaRPr lang="en-US" sz="1000" dirty="0"/>
          </a:p>
        </p:txBody>
      </p:sp>
      <p:sp>
        <p:nvSpPr>
          <p:cNvPr id="15" name="Shape 13"/>
          <p:cNvSpPr/>
          <p:nvPr/>
        </p:nvSpPr>
        <p:spPr>
          <a:xfrm>
            <a:off x="4389120" y="3977640"/>
            <a:ext cx="3429000" cy="1783080"/>
          </a:xfrm>
          <a:prstGeom prst="roundRect">
            <a:avLst>
              <a:gd name="adj" fmla="val 4103"/>
            </a:avLst>
          </a:prstGeom>
          <a:solidFill>
            <a:srgbClr val="FFFFFF"/>
          </a:solidFill>
          <a:ln w="12700">
            <a:solidFill>
              <a:srgbClr val="E2E8F0"/>
            </a:solidFill>
            <a:prstDash val="solid"/>
          </a:ln>
        </p:spPr>
        <p:txBody>
          <a:bodyPr/>
          <a:lstStyle/>
          <a:p>
            <a:endParaRPr lang="en-US"/>
          </a:p>
        </p:txBody>
      </p:sp>
      <p:sp>
        <p:nvSpPr>
          <p:cNvPr id="16" name="Shape 14"/>
          <p:cNvSpPr/>
          <p:nvPr/>
        </p:nvSpPr>
        <p:spPr>
          <a:xfrm>
            <a:off x="4407408" y="3995928"/>
            <a:ext cx="3392424" cy="45720"/>
          </a:xfrm>
          <a:prstGeom prst="roundRect">
            <a:avLst>
              <a:gd name="adj" fmla="val 40000"/>
            </a:avLst>
          </a:prstGeom>
          <a:solidFill>
            <a:srgbClr val="10B981"/>
          </a:solidFill>
          <a:ln w="12700">
            <a:solidFill>
              <a:srgbClr val="10B981"/>
            </a:solidFill>
            <a:prstDash val="solid"/>
          </a:ln>
        </p:spPr>
        <p:txBody>
          <a:bodyPr/>
          <a:lstStyle/>
          <a:p>
            <a:endParaRPr lang="en-US"/>
          </a:p>
        </p:txBody>
      </p:sp>
      <p:sp>
        <p:nvSpPr>
          <p:cNvPr id="17" name="Shape 15"/>
          <p:cNvSpPr/>
          <p:nvPr/>
        </p:nvSpPr>
        <p:spPr>
          <a:xfrm>
            <a:off x="4617720" y="4178808"/>
            <a:ext cx="1924812" cy="219456"/>
          </a:xfrm>
          <a:prstGeom prst="roundRect">
            <a:avLst>
              <a:gd name="adj" fmla="val 50000"/>
            </a:avLst>
          </a:prstGeom>
          <a:solidFill>
            <a:srgbClr val="ECFDF5"/>
          </a:solidFill>
          <a:ln w="10160">
            <a:solidFill>
              <a:srgbClr val="A7F3D0"/>
            </a:solidFill>
            <a:prstDash val="solid"/>
          </a:ln>
        </p:spPr>
        <p:txBody>
          <a:bodyPr/>
          <a:lstStyle/>
          <a:p>
            <a:endParaRPr lang="en-US"/>
          </a:p>
        </p:txBody>
      </p:sp>
      <p:sp>
        <p:nvSpPr>
          <p:cNvPr id="18" name="Text 16"/>
          <p:cNvSpPr/>
          <p:nvPr/>
        </p:nvSpPr>
        <p:spPr>
          <a:xfrm>
            <a:off x="4617720" y="4178808"/>
            <a:ext cx="1924812" cy="219456"/>
          </a:xfrm>
          <a:prstGeom prst="rect">
            <a:avLst/>
          </a:prstGeom>
          <a:noFill/>
          <a:ln/>
        </p:spPr>
        <p:txBody>
          <a:bodyPr wrap="square" lIns="0" tIns="0" rIns="0" bIns="0" rtlCol="0" anchor="ctr"/>
          <a:lstStyle/>
          <a:p>
            <a:pPr marL="0" indent="0" algn="ctr">
              <a:buNone/>
            </a:pPr>
            <a:r>
              <a:rPr lang="en-US" sz="800" b="1" dirty="0">
                <a:solidFill>
                  <a:srgbClr val="065F46"/>
                </a:solidFill>
                <a:latin typeface="Segoe UI" pitchFamily="34" charset="0"/>
                <a:ea typeface="Segoe UI" pitchFamily="34" charset="-122"/>
                <a:cs typeface="Segoe UI" pitchFamily="34" charset="-120"/>
              </a:rPr>
              <a:t>EVIDENCE DISCIPLINE</a:t>
            </a:r>
            <a:endParaRPr lang="en-US" sz="800" dirty="0"/>
          </a:p>
        </p:txBody>
      </p:sp>
      <p:sp>
        <p:nvSpPr>
          <p:cNvPr id="19" name="Text 17"/>
          <p:cNvSpPr/>
          <p:nvPr/>
        </p:nvSpPr>
        <p:spPr>
          <a:xfrm>
            <a:off x="4617720" y="4507992"/>
            <a:ext cx="2971800" cy="320040"/>
          </a:xfrm>
          <a:prstGeom prst="rect">
            <a:avLst/>
          </a:prstGeom>
          <a:noFill/>
          <a:ln/>
        </p:spPr>
        <p:txBody>
          <a:bodyPr wrap="square" lIns="0" tIns="0" rIns="0" bIns="0" rtlCol="0" anchor="t"/>
          <a:lstStyle/>
          <a:p>
            <a:pPr marL="0" indent="0">
              <a:buNone/>
            </a:pPr>
            <a:r>
              <a:rPr lang="en-US" sz="1350" b="1" dirty="0">
                <a:solidFill>
                  <a:srgbClr val="0F172A"/>
                </a:solidFill>
                <a:latin typeface="Segoe UI" pitchFamily="34" charset="0"/>
                <a:ea typeface="Segoe UI" pitchFamily="34" charset="-122"/>
                <a:cs typeface="Segoe UI" pitchFamily="34" charset="-120"/>
              </a:rPr>
              <a:t>Confidence Classes</a:t>
            </a:r>
            <a:endParaRPr lang="en-US" sz="1350" dirty="0"/>
          </a:p>
        </p:txBody>
      </p:sp>
      <p:sp>
        <p:nvSpPr>
          <p:cNvPr id="20" name="Text 18"/>
          <p:cNvSpPr/>
          <p:nvPr/>
        </p:nvSpPr>
        <p:spPr>
          <a:xfrm>
            <a:off x="4617720" y="4873752"/>
            <a:ext cx="2971800" cy="777240"/>
          </a:xfrm>
          <a:prstGeom prst="rect">
            <a:avLst/>
          </a:prstGeom>
          <a:noFill/>
          <a:ln/>
        </p:spPr>
        <p:txBody>
          <a:bodyPr wrap="square" lIns="0" tIns="0" rIns="0" bIns="0" rtlCol="0" anchor="t"/>
          <a:lstStyle/>
          <a:p>
            <a:pPr marL="0" indent="0">
              <a:lnSpc>
                <a:spcPts val="1400"/>
              </a:lnSpc>
              <a:buNone/>
            </a:pPr>
            <a:r>
              <a:rPr lang="en-US" sz="1000" dirty="0">
                <a:solidFill>
                  <a:srgbClr val="64748B"/>
                </a:solidFill>
                <a:latin typeface="Segoe UI" pitchFamily="34" charset="0"/>
                <a:ea typeface="Segoe UI" pitchFamily="34" charset="-122"/>
                <a:cs typeface="Segoe UI" pitchFamily="34" charset="-120"/>
              </a:rPr>
              <a:t>Strictly separates OBSERVED blockchain facts from INFERRED risk models and UNKNOWN parameters.</a:t>
            </a:r>
            <a:endParaRPr lang="en-US" sz="1000" dirty="0"/>
          </a:p>
        </p:txBody>
      </p:sp>
      <p:sp>
        <p:nvSpPr>
          <p:cNvPr id="21" name="Shape 19"/>
          <p:cNvSpPr/>
          <p:nvPr/>
        </p:nvSpPr>
        <p:spPr>
          <a:xfrm>
            <a:off x="8046720" y="3977640"/>
            <a:ext cx="3429000" cy="1783080"/>
          </a:xfrm>
          <a:prstGeom prst="roundRect">
            <a:avLst>
              <a:gd name="adj" fmla="val 4103"/>
            </a:avLst>
          </a:prstGeom>
          <a:solidFill>
            <a:srgbClr val="FFFFFF"/>
          </a:solidFill>
          <a:ln w="12700">
            <a:solidFill>
              <a:srgbClr val="E2E8F0"/>
            </a:solidFill>
            <a:prstDash val="solid"/>
          </a:ln>
        </p:spPr>
        <p:txBody>
          <a:bodyPr/>
          <a:lstStyle/>
          <a:p>
            <a:endParaRPr lang="en-US"/>
          </a:p>
        </p:txBody>
      </p:sp>
      <p:sp>
        <p:nvSpPr>
          <p:cNvPr id="22" name="Shape 20"/>
          <p:cNvSpPr/>
          <p:nvPr/>
        </p:nvSpPr>
        <p:spPr>
          <a:xfrm>
            <a:off x="8065008" y="3995928"/>
            <a:ext cx="3392424" cy="45720"/>
          </a:xfrm>
          <a:prstGeom prst="roundRect">
            <a:avLst>
              <a:gd name="adj" fmla="val 40000"/>
            </a:avLst>
          </a:prstGeom>
          <a:solidFill>
            <a:srgbClr val="F59E0B"/>
          </a:solidFill>
          <a:ln w="12700">
            <a:solidFill>
              <a:srgbClr val="F59E0B"/>
            </a:solidFill>
            <a:prstDash val="solid"/>
          </a:ln>
        </p:spPr>
        <p:txBody>
          <a:bodyPr/>
          <a:lstStyle/>
          <a:p>
            <a:endParaRPr lang="en-US"/>
          </a:p>
        </p:txBody>
      </p:sp>
      <p:sp>
        <p:nvSpPr>
          <p:cNvPr id="23" name="Shape 21"/>
          <p:cNvSpPr/>
          <p:nvPr/>
        </p:nvSpPr>
        <p:spPr>
          <a:xfrm>
            <a:off x="8275320" y="4178808"/>
            <a:ext cx="1924812" cy="219456"/>
          </a:xfrm>
          <a:prstGeom prst="roundRect">
            <a:avLst>
              <a:gd name="adj" fmla="val 50000"/>
            </a:avLst>
          </a:prstGeom>
          <a:solidFill>
            <a:srgbClr val="FFFBEB"/>
          </a:solidFill>
          <a:ln w="10160">
            <a:solidFill>
              <a:srgbClr val="FDE68A"/>
            </a:solidFill>
            <a:prstDash val="solid"/>
          </a:ln>
        </p:spPr>
        <p:txBody>
          <a:bodyPr/>
          <a:lstStyle/>
          <a:p>
            <a:endParaRPr lang="en-US"/>
          </a:p>
        </p:txBody>
      </p:sp>
      <p:sp>
        <p:nvSpPr>
          <p:cNvPr id="24" name="Text 22"/>
          <p:cNvSpPr/>
          <p:nvPr/>
        </p:nvSpPr>
        <p:spPr>
          <a:xfrm>
            <a:off x="8275320" y="4178808"/>
            <a:ext cx="1924812" cy="219456"/>
          </a:xfrm>
          <a:prstGeom prst="rect">
            <a:avLst/>
          </a:prstGeom>
          <a:noFill/>
          <a:ln/>
        </p:spPr>
        <p:txBody>
          <a:bodyPr wrap="square" lIns="0" tIns="0" rIns="0" bIns="0" rtlCol="0" anchor="ctr"/>
          <a:lstStyle/>
          <a:p>
            <a:pPr marL="0" indent="0" algn="ctr">
              <a:buNone/>
            </a:pPr>
            <a:r>
              <a:rPr lang="en-US" sz="800" b="1" dirty="0">
                <a:solidFill>
                  <a:srgbClr val="92400E"/>
                </a:solidFill>
                <a:latin typeface="Segoe UI" pitchFamily="34" charset="0"/>
                <a:ea typeface="Segoe UI" pitchFamily="34" charset="-122"/>
                <a:cs typeface="Segoe UI" pitchFamily="34" charset="-120"/>
              </a:rPr>
              <a:t>RESTORE USER AGENCY</a:t>
            </a:r>
            <a:endParaRPr lang="en-US" sz="800" dirty="0"/>
          </a:p>
        </p:txBody>
      </p:sp>
      <p:sp>
        <p:nvSpPr>
          <p:cNvPr id="25" name="Text 23"/>
          <p:cNvSpPr/>
          <p:nvPr/>
        </p:nvSpPr>
        <p:spPr>
          <a:xfrm>
            <a:off x="8275320" y="4507992"/>
            <a:ext cx="2971800" cy="320040"/>
          </a:xfrm>
          <a:prstGeom prst="rect">
            <a:avLst/>
          </a:prstGeom>
          <a:noFill/>
          <a:ln/>
        </p:spPr>
        <p:txBody>
          <a:bodyPr wrap="square" lIns="0" tIns="0" rIns="0" bIns="0" rtlCol="0" anchor="t"/>
          <a:lstStyle/>
          <a:p>
            <a:pPr marL="0" indent="0">
              <a:buNone/>
            </a:pPr>
            <a:r>
              <a:rPr lang="en-US" sz="1350" b="1" dirty="0">
                <a:solidFill>
                  <a:srgbClr val="0F172A"/>
                </a:solidFill>
                <a:latin typeface="Segoe UI" pitchFamily="34" charset="0"/>
                <a:ea typeface="Segoe UI" pitchFamily="34" charset="-122"/>
                <a:cs typeface="Segoe UI" pitchFamily="34" charset="-120"/>
              </a:rPr>
              <a:t>Pre-Signing Clarity</a:t>
            </a:r>
            <a:endParaRPr lang="en-US" sz="1350" dirty="0"/>
          </a:p>
        </p:txBody>
      </p:sp>
      <p:sp>
        <p:nvSpPr>
          <p:cNvPr id="26" name="Text 24"/>
          <p:cNvSpPr/>
          <p:nvPr/>
        </p:nvSpPr>
        <p:spPr>
          <a:xfrm>
            <a:off x="8275320" y="4873752"/>
            <a:ext cx="2971800" cy="777240"/>
          </a:xfrm>
          <a:prstGeom prst="rect">
            <a:avLst/>
          </a:prstGeom>
          <a:noFill/>
          <a:ln/>
        </p:spPr>
        <p:txBody>
          <a:bodyPr wrap="square" lIns="0" tIns="0" rIns="0" bIns="0" rtlCol="0" anchor="t"/>
          <a:lstStyle/>
          <a:p>
            <a:pPr marL="0" indent="0">
              <a:lnSpc>
                <a:spcPts val="1400"/>
              </a:lnSpc>
              <a:buNone/>
            </a:pPr>
            <a:r>
              <a:rPr lang="en-US" sz="1000" dirty="0">
                <a:solidFill>
                  <a:srgbClr val="64748B"/>
                </a:solidFill>
                <a:latin typeface="Segoe UI" pitchFamily="34" charset="0"/>
                <a:ea typeface="Segoe UI" pitchFamily="34" charset="-122"/>
                <a:cs typeface="Segoe UI" pitchFamily="34" charset="-120"/>
              </a:rPr>
              <a:t>Reconstructs exact blast radius ($ at risk) and provides inspectable proofs instead of binary lockouts.</a:t>
            </a:r>
            <a:endParaRPr lang="en-US" sz="1000" dirty="0"/>
          </a:p>
        </p:txBody>
      </p:sp>
      <p:sp>
        <p:nvSpPr>
          <p:cNvPr id="27" name="Shape 25"/>
          <p:cNvSpPr/>
          <p:nvPr/>
        </p:nvSpPr>
        <p:spPr>
          <a:xfrm>
            <a:off x="731520" y="6080760"/>
            <a:ext cx="10698480" cy="0"/>
          </a:xfrm>
          <a:prstGeom prst="line">
            <a:avLst/>
          </a:prstGeom>
          <a:noFill/>
          <a:ln w="10160">
            <a:solidFill>
              <a:srgbClr val="E2E8F0"/>
            </a:solidFill>
            <a:prstDash val="solid"/>
          </a:ln>
        </p:spPr>
        <p:txBody>
          <a:bodyPr/>
          <a:lstStyle/>
          <a:p>
            <a:endParaRPr lang="en-US"/>
          </a:p>
        </p:txBody>
      </p:sp>
      <p:sp>
        <p:nvSpPr>
          <p:cNvPr id="28" name="Text 26"/>
          <p:cNvSpPr/>
          <p:nvPr/>
        </p:nvSpPr>
        <p:spPr>
          <a:xfrm>
            <a:off x="731520" y="6217920"/>
            <a:ext cx="10698480" cy="274320"/>
          </a:xfrm>
          <a:prstGeom prst="rect">
            <a:avLst/>
          </a:prstGeom>
          <a:noFill/>
          <a:ln/>
        </p:spPr>
        <p:txBody>
          <a:bodyPr wrap="square" lIns="0" tIns="0" rIns="0" bIns="0"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Multipli Hackathon 2026  •  Track: Security &amp; Infrastructure  •  Competitive Research: Forta &amp; Hypernative Official Docs</a:t>
            </a:r>
            <a:endParaRPr lang="en-US" sz="900" dirty="0"/>
          </a:p>
        </p:txBody>
      </p:sp>
      <p:sp>
        <p:nvSpPr>
          <p:cNvPr id="29" name="Shape 27"/>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30" name="Text 28"/>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31" name="Text 29"/>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01 of 16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4206240" cy="256032"/>
          </a:xfrm>
          <a:prstGeom prst="roundRect">
            <a:avLst>
              <a:gd name="adj" fmla="val 50000"/>
            </a:avLst>
          </a:prstGeom>
          <a:solidFill>
            <a:srgbClr val="EEF2FF"/>
          </a:solidFill>
          <a:ln w="12700">
            <a:solidFill>
              <a:srgbClr val="C7D2FE"/>
            </a:solidFill>
            <a:prstDash val="solid"/>
          </a:ln>
        </p:spPr>
        <p:txBody>
          <a:bodyPr/>
          <a:lstStyle/>
          <a:p>
            <a:endParaRPr lang="en-US"/>
          </a:p>
        </p:txBody>
      </p:sp>
      <p:sp>
        <p:nvSpPr>
          <p:cNvPr id="3" name="Text 1"/>
          <p:cNvSpPr/>
          <p:nvPr/>
        </p:nvSpPr>
        <p:spPr>
          <a:xfrm>
            <a:off x="731520" y="384048"/>
            <a:ext cx="4206240" cy="256032"/>
          </a:xfrm>
          <a:prstGeom prst="rect">
            <a:avLst/>
          </a:prstGeom>
          <a:noFill/>
          <a:ln/>
        </p:spPr>
        <p:txBody>
          <a:bodyPr wrap="square" lIns="0" tIns="0" rIns="0" bIns="0" rtlCol="0" anchor="ctr"/>
          <a:lstStyle/>
          <a:p>
            <a:pPr marL="0" indent="0" algn="ctr">
              <a:buNone/>
            </a:pPr>
            <a:r>
              <a:rPr lang="en-US" sz="850" b="1" dirty="0">
                <a:solidFill>
                  <a:srgbClr val="4338CA"/>
                </a:solidFill>
                <a:latin typeface="Segoe UI" pitchFamily="34" charset="0"/>
                <a:ea typeface="Segoe UI" pitchFamily="34" charset="-122"/>
                <a:cs typeface="Segoe UI" pitchFamily="34" charset="-120"/>
              </a:rPr>
              <a:t>THE CORE THESIS // THREE LAYERS, ONE GAP</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Web3 security detects and protects. It rarely explains.</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Security tools optimize for speed by compressing evidence into opaque verdicts. Sentinel decompresses them.</a:t>
            </a:r>
            <a:endParaRPr lang="en-US" sz="1150" dirty="0"/>
          </a:p>
        </p:txBody>
      </p:sp>
      <p:sp>
        <p:nvSpPr>
          <p:cNvPr id="6" name="Shape 4"/>
          <p:cNvSpPr/>
          <p:nvPr/>
        </p:nvSpPr>
        <p:spPr>
          <a:xfrm>
            <a:off x="731520" y="1691640"/>
            <a:ext cx="3429000" cy="3337560"/>
          </a:xfrm>
          <a:prstGeom prst="roundRect">
            <a:avLst>
              <a:gd name="adj" fmla="val 2192"/>
            </a:avLst>
          </a:prstGeom>
          <a:solidFill>
            <a:srgbClr val="FFFFFF"/>
          </a:solidFill>
          <a:ln w="12700">
            <a:solidFill>
              <a:srgbClr val="E2E8F0"/>
            </a:solidFill>
            <a:prstDash val="solid"/>
          </a:ln>
        </p:spPr>
        <p:txBody>
          <a:bodyPr/>
          <a:lstStyle/>
          <a:p>
            <a:endParaRPr lang="en-US"/>
          </a:p>
        </p:txBody>
      </p:sp>
      <p:sp>
        <p:nvSpPr>
          <p:cNvPr id="7" name="Shape 5"/>
          <p:cNvSpPr/>
          <p:nvPr/>
        </p:nvSpPr>
        <p:spPr>
          <a:xfrm>
            <a:off x="749808" y="1709928"/>
            <a:ext cx="3392424" cy="45720"/>
          </a:xfrm>
          <a:prstGeom prst="roundRect">
            <a:avLst>
              <a:gd name="adj" fmla="val 40000"/>
            </a:avLst>
          </a:prstGeom>
          <a:solidFill>
            <a:srgbClr val="F43F5E"/>
          </a:solidFill>
          <a:ln w="12700">
            <a:solidFill>
              <a:srgbClr val="F43F5E"/>
            </a:solidFill>
            <a:prstDash val="solid"/>
          </a:ln>
        </p:spPr>
        <p:txBody>
          <a:bodyPr/>
          <a:lstStyle/>
          <a:p>
            <a:endParaRPr lang="en-US"/>
          </a:p>
        </p:txBody>
      </p:sp>
      <p:sp>
        <p:nvSpPr>
          <p:cNvPr id="8" name="Shape 6"/>
          <p:cNvSpPr/>
          <p:nvPr/>
        </p:nvSpPr>
        <p:spPr>
          <a:xfrm>
            <a:off x="932688" y="1892808"/>
            <a:ext cx="1924812" cy="219456"/>
          </a:xfrm>
          <a:prstGeom prst="roundRect">
            <a:avLst>
              <a:gd name="adj" fmla="val 50000"/>
            </a:avLst>
          </a:prstGeom>
          <a:solidFill>
            <a:srgbClr val="FFF1F2"/>
          </a:solidFill>
          <a:ln w="10160">
            <a:solidFill>
              <a:srgbClr val="FECDD3"/>
            </a:solidFill>
            <a:prstDash val="solid"/>
          </a:ln>
        </p:spPr>
        <p:txBody>
          <a:bodyPr/>
          <a:lstStyle/>
          <a:p>
            <a:endParaRPr lang="en-US"/>
          </a:p>
        </p:txBody>
      </p:sp>
      <p:sp>
        <p:nvSpPr>
          <p:cNvPr id="9" name="Text 7"/>
          <p:cNvSpPr/>
          <p:nvPr/>
        </p:nvSpPr>
        <p:spPr>
          <a:xfrm>
            <a:off x="932688" y="1892808"/>
            <a:ext cx="1924812" cy="219456"/>
          </a:xfrm>
          <a:prstGeom prst="rect">
            <a:avLst/>
          </a:prstGeom>
          <a:noFill/>
          <a:ln/>
        </p:spPr>
        <p:txBody>
          <a:bodyPr wrap="square" lIns="0" tIns="0" rIns="0" bIns="0" rtlCol="0" anchor="ctr"/>
          <a:lstStyle/>
          <a:p>
            <a:pPr marL="0" indent="0" algn="ctr">
              <a:buNone/>
            </a:pPr>
            <a:r>
              <a:rPr lang="en-US" sz="800" b="1" dirty="0">
                <a:solidFill>
                  <a:srgbClr val="9F1239"/>
                </a:solidFill>
                <a:latin typeface="Segoe UI" pitchFamily="34" charset="0"/>
                <a:ea typeface="Segoe UI" pitchFamily="34" charset="-122"/>
                <a:cs typeface="Segoe UI" pitchFamily="34" charset="-120"/>
              </a:rPr>
              <a:t>LAYER 01: DETECTION</a:t>
            </a:r>
            <a:endParaRPr lang="en-US" sz="800" dirty="0"/>
          </a:p>
        </p:txBody>
      </p:sp>
      <p:sp>
        <p:nvSpPr>
          <p:cNvPr id="10" name="Shape 8"/>
          <p:cNvSpPr/>
          <p:nvPr/>
        </p:nvSpPr>
        <p:spPr>
          <a:xfrm>
            <a:off x="2926080" y="1892808"/>
            <a:ext cx="1033272" cy="219456"/>
          </a:xfrm>
          <a:prstGeom prst="roundRect">
            <a:avLst>
              <a:gd name="adj" fmla="val 50000"/>
            </a:avLst>
          </a:prstGeom>
          <a:solidFill>
            <a:srgbClr val="F1F5F9"/>
          </a:solidFill>
          <a:ln w="10160">
            <a:solidFill>
              <a:srgbClr val="CBD5E1"/>
            </a:solidFill>
            <a:prstDash val="solid"/>
          </a:ln>
        </p:spPr>
        <p:txBody>
          <a:bodyPr/>
          <a:lstStyle/>
          <a:p>
            <a:endParaRPr lang="en-US"/>
          </a:p>
        </p:txBody>
      </p:sp>
      <p:sp>
        <p:nvSpPr>
          <p:cNvPr id="11" name="Text 9"/>
          <p:cNvSpPr/>
          <p:nvPr/>
        </p:nvSpPr>
        <p:spPr>
          <a:xfrm>
            <a:off x="2926080" y="1892808"/>
            <a:ext cx="1033272" cy="219456"/>
          </a:xfrm>
          <a:prstGeom prst="rect">
            <a:avLst/>
          </a:prstGeom>
          <a:noFill/>
          <a:ln/>
        </p:spPr>
        <p:txBody>
          <a:bodyPr wrap="square" lIns="0" tIns="0" rIns="0" bIns="0" rtlCol="0" anchor="ctr"/>
          <a:lstStyle/>
          <a:p>
            <a:pPr marL="0" indent="0" algn="ctr">
              <a:buNone/>
            </a:pPr>
            <a:r>
              <a:rPr lang="en-US" sz="750" b="1" dirty="0">
                <a:solidFill>
                  <a:srgbClr val="64748B"/>
                </a:solidFill>
                <a:latin typeface="Segoe UI" pitchFamily="34" charset="0"/>
                <a:ea typeface="Segoe UI" pitchFamily="34" charset="-122"/>
                <a:cs typeface="Segoe UI" pitchFamily="34" charset="-120"/>
              </a:rPr>
              <a:t>WELL SERVED</a:t>
            </a:r>
            <a:endParaRPr lang="en-US" sz="750" dirty="0"/>
          </a:p>
        </p:txBody>
      </p:sp>
      <p:sp>
        <p:nvSpPr>
          <p:cNvPr id="12" name="Text 10"/>
          <p:cNvSpPr/>
          <p:nvPr/>
        </p:nvSpPr>
        <p:spPr>
          <a:xfrm>
            <a:off x="932688" y="2221992"/>
            <a:ext cx="3026664" cy="384048"/>
          </a:xfrm>
          <a:prstGeom prst="rect">
            <a:avLst/>
          </a:prstGeom>
          <a:noFill/>
          <a:ln/>
        </p:spPr>
        <p:txBody>
          <a:bodyPr wrap="square" lIns="0" tIns="0" rIns="0" bIns="0" rtlCol="0" anchor="t"/>
          <a:lstStyle/>
          <a:p>
            <a:pPr marL="0" indent="0">
              <a:buNone/>
            </a:pPr>
            <a:r>
              <a:rPr lang="en-US" sz="1150" b="1" i="1" dirty="0">
                <a:solidFill>
                  <a:srgbClr val="0F172A"/>
                </a:solidFill>
                <a:latin typeface="Segoe UI" pitchFamily="34" charset="0"/>
                <a:ea typeface="Segoe UI" pitchFamily="34" charset="-122"/>
                <a:cs typeface="Segoe UI" pitchFamily="34" charset="-120"/>
              </a:rPr>
              <a:t>“Something suspicious was detected.”</a:t>
            </a:r>
            <a:endParaRPr lang="en-US" sz="1150" dirty="0"/>
          </a:p>
        </p:txBody>
      </p:sp>
      <p:sp>
        <p:nvSpPr>
          <p:cNvPr id="13" name="Text 11"/>
          <p:cNvSpPr/>
          <p:nvPr/>
        </p:nvSpPr>
        <p:spPr>
          <a:xfrm>
            <a:off x="932688" y="2651760"/>
            <a:ext cx="3026664" cy="201168"/>
          </a:xfrm>
          <a:prstGeom prst="rect">
            <a:avLst/>
          </a:prstGeom>
          <a:noFill/>
          <a:ln/>
        </p:spPr>
        <p:txBody>
          <a:bodyPr wrap="square" lIns="0" tIns="0" rIns="0" bIns="0" rtlCol="0" anchor="ctr"/>
          <a:lstStyle/>
          <a:p>
            <a:pPr marL="0" indent="0">
              <a:buNone/>
            </a:pPr>
            <a:r>
              <a:rPr lang="en-US" sz="850" b="1" dirty="0">
                <a:solidFill>
                  <a:srgbClr val="64748B"/>
                </a:solidFill>
                <a:latin typeface="Segoe UI" pitchFamily="34" charset="0"/>
                <a:ea typeface="Segoe UI" pitchFamily="34" charset="-122"/>
                <a:cs typeface="Segoe UI" pitchFamily="34" charset="-120"/>
              </a:rPr>
              <a:t>Core Focus:</a:t>
            </a:r>
            <a:endParaRPr lang="en-US" sz="850" dirty="0"/>
          </a:p>
        </p:txBody>
      </p:sp>
      <p:sp>
        <p:nvSpPr>
          <p:cNvPr id="14" name="Text 12"/>
          <p:cNvSpPr/>
          <p:nvPr/>
        </p:nvSpPr>
        <p:spPr>
          <a:xfrm>
            <a:off x="932688" y="2862072"/>
            <a:ext cx="3026664" cy="548640"/>
          </a:xfrm>
          <a:prstGeom prst="rect">
            <a:avLst/>
          </a:prstGeom>
          <a:noFill/>
          <a:ln/>
        </p:spPr>
        <p:txBody>
          <a:bodyPr wrap="square" lIns="0" tIns="0" rIns="0" bIns="0" rtlCol="0" anchor="t"/>
          <a:lstStyle/>
          <a:p>
            <a:pPr marL="0" indent="0">
              <a:lnSpc>
                <a:spcPts val="1300"/>
              </a:lnSpc>
              <a:buNone/>
            </a:pPr>
            <a:r>
              <a:rPr lang="en-US" sz="950" dirty="0">
                <a:solidFill>
                  <a:srgbClr val="334155"/>
                </a:solidFill>
                <a:latin typeface="Segoe UI" pitchFamily="34" charset="0"/>
                <a:ea typeface="Segoe UI" pitchFamily="34" charset="-122"/>
                <a:cs typeface="Segoe UI" pitchFamily="34" charset="-120"/>
              </a:rPr>
              <a:t>Monitoring, bot networks, mempool anomaly detection, risk intelligence feeds.</a:t>
            </a:r>
            <a:endParaRPr lang="en-US" sz="950" dirty="0"/>
          </a:p>
        </p:txBody>
      </p:sp>
      <p:sp>
        <p:nvSpPr>
          <p:cNvPr id="15" name="Text 13"/>
          <p:cNvSpPr/>
          <p:nvPr/>
        </p:nvSpPr>
        <p:spPr>
          <a:xfrm>
            <a:off x="932688" y="3474720"/>
            <a:ext cx="3026664" cy="201168"/>
          </a:xfrm>
          <a:prstGeom prst="rect">
            <a:avLst/>
          </a:prstGeom>
          <a:noFill/>
          <a:ln/>
        </p:spPr>
        <p:txBody>
          <a:bodyPr wrap="square" lIns="0" tIns="0" rIns="0" bIns="0" rtlCol="0" anchor="ctr"/>
          <a:lstStyle/>
          <a:p>
            <a:pPr marL="0" indent="0">
              <a:buNone/>
            </a:pPr>
            <a:r>
              <a:rPr lang="en-US" sz="850" b="1" dirty="0">
                <a:solidFill>
                  <a:srgbClr val="64748B"/>
                </a:solidFill>
                <a:latin typeface="Segoe UI" pitchFamily="34" charset="0"/>
                <a:ea typeface="Segoe UI" pitchFamily="34" charset="-122"/>
                <a:cs typeface="Segoe UI" pitchFamily="34" charset="-120"/>
              </a:rPr>
              <a:t>Reference Landscape:</a:t>
            </a:r>
            <a:endParaRPr lang="en-US" sz="850" dirty="0"/>
          </a:p>
        </p:txBody>
      </p:sp>
      <p:sp>
        <p:nvSpPr>
          <p:cNvPr id="16" name="Text 14"/>
          <p:cNvSpPr/>
          <p:nvPr/>
        </p:nvSpPr>
        <p:spPr>
          <a:xfrm>
            <a:off x="932688" y="3685032"/>
            <a:ext cx="3026664" cy="365760"/>
          </a:xfrm>
          <a:prstGeom prst="rect">
            <a:avLst/>
          </a:prstGeom>
          <a:noFill/>
          <a:ln/>
        </p:spPr>
        <p:txBody>
          <a:bodyPr wrap="square" lIns="0" tIns="0" rIns="0" bIns="0" rtlCol="0" anchor="t"/>
          <a:lstStyle/>
          <a:p>
            <a:pPr marL="0" indent="0">
              <a:buNone/>
            </a:pPr>
            <a:r>
              <a:rPr lang="en-US" sz="950" i="1" dirty="0">
                <a:solidFill>
                  <a:srgbClr val="64748B"/>
                </a:solidFill>
                <a:latin typeface="Segoe UI" pitchFamily="34" charset="0"/>
                <a:ea typeface="Segoe UI" pitchFamily="34" charset="-122"/>
                <a:cs typeface="Segoe UI" pitchFamily="34" charset="-120"/>
              </a:rPr>
              <a:t>Forta Network bots, Hypernative ML models, Etherscan labels.</a:t>
            </a:r>
            <a:endParaRPr lang="en-US" sz="950" dirty="0"/>
          </a:p>
        </p:txBody>
      </p:sp>
      <p:sp>
        <p:nvSpPr>
          <p:cNvPr id="17" name="Text 15"/>
          <p:cNvSpPr/>
          <p:nvPr/>
        </p:nvSpPr>
        <p:spPr>
          <a:xfrm>
            <a:off x="932688" y="4114800"/>
            <a:ext cx="3026664" cy="201168"/>
          </a:xfrm>
          <a:prstGeom prst="rect">
            <a:avLst/>
          </a:prstGeom>
          <a:noFill/>
          <a:ln/>
        </p:spPr>
        <p:txBody>
          <a:bodyPr wrap="square" lIns="0" tIns="0" rIns="0" bIns="0" rtlCol="0" anchor="ctr"/>
          <a:lstStyle/>
          <a:p>
            <a:pPr marL="0" indent="0">
              <a:buNone/>
            </a:pPr>
            <a:r>
              <a:rPr lang="en-US" sz="850" b="1" dirty="0">
                <a:solidFill>
                  <a:srgbClr val="92400E"/>
                </a:solidFill>
                <a:latin typeface="Segoe UI" pitchFamily="34" charset="0"/>
                <a:ea typeface="Segoe UI" pitchFamily="34" charset="-122"/>
                <a:cs typeface="Segoe UI" pitchFamily="34" charset="-120"/>
              </a:rPr>
              <a:t>Inherent Trade-off:</a:t>
            </a:r>
            <a:endParaRPr lang="en-US" sz="850" dirty="0"/>
          </a:p>
        </p:txBody>
      </p:sp>
      <p:sp>
        <p:nvSpPr>
          <p:cNvPr id="18" name="Text 16"/>
          <p:cNvSpPr/>
          <p:nvPr/>
        </p:nvSpPr>
        <p:spPr>
          <a:xfrm>
            <a:off x="932688" y="4325112"/>
            <a:ext cx="3026664" cy="594360"/>
          </a:xfrm>
          <a:prstGeom prst="rect">
            <a:avLst/>
          </a:prstGeom>
          <a:noFill/>
          <a:ln/>
        </p:spPr>
        <p:txBody>
          <a:bodyPr wrap="square" lIns="0" tIns="0" rIns="0" bIns="0" rtlCol="0" anchor="t"/>
          <a:lstStyle/>
          <a:p>
            <a:pPr marL="0" indent="0">
              <a:lnSpc>
                <a:spcPts val="1300"/>
              </a:lnSpc>
              <a:buNone/>
            </a:pPr>
            <a:r>
              <a:rPr lang="en-US" sz="920" dirty="0">
                <a:solidFill>
                  <a:srgbClr val="334155"/>
                </a:solidFill>
                <a:latin typeface="Segoe UI" pitchFamily="34" charset="0"/>
                <a:ea typeface="Segoe UI" pitchFamily="34" charset="-122"/>
                <a:cs typeface="Segoe UI" pitchFamily="34" charset="-120"/>
              </a:rPr>
              <a:t>Optimizes for real-time speed. Compresses complex multi-hop evidence into opaque verdicts (e.g. 'High Risk 87/100').</a:t>
            </a:r>
            <a:endParaRPr lang="en-US" sz="920" dirty="0"/>
          </a:p>
        </p:txBody>
      </p:sp>
      <p:sp>
        <p:nvSpPr>
          <p:cNvPr id="19" name="Shape 17"/>
          <p:cNvSpPr/>
          <p:nvPr/>
        </p:nvSpPr>
        <p:spPr>
          <a:xfrm>
            <a:off x="4389120" y="1691640"/>
            <a:ext cx="3429000" cy="3337560"/>
          </a:xfrm>
          <a:prstGeom prst="roundRect">
            <a:avLst>
              <a:gd name="adj" fmla="val 2192"/>
            </a:avLst>
          </a:prstGeom>
          <a:solidFill>
            <a:srgbClr val="FFFFFF"/>
          </a:solidFill>
          <a:ln w="12700">
            <a:solidFill>
              <a:srgbClr val="E2E8F0"/>
            </a:solidFill>
            <a:prstDash val="solid"/>
          </a:ln>
        </p:spPr>
        <p:txBody>
          <a:bodyPr/>
          <a:lstStyle/>
          <a:p>
            <a:endParaRPr lang="en-US"/>
          </a:p>
        </p:txBody>
      </p:sp>
      <p:sp>
        <p:nvSpPr>
          <p:cNvPr id="20" name="Shape 18"/>
          <p:cNvSpPr/>
          <p:nvPr/>
        </p:nvSpPr>
        <p:spPr>
          <a:xfrm>
            <a:off x="4407408" y="1709928"/>
            <a:ext cx="3392424" cy="45720"/>
          </a:xfrm>
          <a:prstGeom prst="roundRect">
            <a:avLst>
              <a:gd name="adj" fmla="val 40000"/>
            </a:avLst>
          </a:prstGeom>
          <a:solidFill>
            <a:srgbClr val="F59E0B"/>
          </a:solidFill>
          <a:ln w="12700">
            <a:solidFill>
              <a:srgbClr val="F59E0B"/>
            </a:solidFill>
            <a:prstDash val="solid"/>
          </a:ln>
        </p:spPr>
        <p:txBody>
          <a:bodyPr/>
          <a:lstStyle/>
          <a:p>
            <a:endParaRPr lang="en-US"/>
          </a:p>
        </p:txBody>
      </p:sp>
      <p:sp>
        <p:nvSpPr>
          <p:cNvPr id="21" name="Shape 19"/>
          <p:cNvSpPr/>
          <p:nvPr/>
        </p:nvSpPr>
        <p:spPr>
          <a:xfrm>
            <a:off x="4590288" y="1892808"/>
            <a:ext cx="2011680" cy="219456"/>
          </a:xfrm>
          <a:prstGeom prst="roundRect">
            <a:avLst>
              <a:gd name="adj" fmla="val 50000"/>
            </a:avLst>
          </a:prstGeom>
          <a:solidFill>
            <a:srgbClr val="FFFBEB"/>
          </a:solidFill>
          <a:ln w="10160">
            <a:solidFill>
              <a:srgbClr val="FDE68A"/>
            </a:solidFill>
            <a:prstDash val="solid"/>
          </a:ln>
        </p:spPr>
        <p:txBody>
          <a:bodyPr/>
          <a:lstStyle/>
          <a:p>
            <a:endParaRPr lang="en-US"/>
          </a:p>
        </p:txBody>
      </p:sp>
      <p:sp>
        <p:nvSpPr>
          <p:cNvPr id="22" name="Text 20"/>
          <p:cNvSpPr/>
          <p:nvPr/>
        </p:nvSpPr>
        <p:spPr>
          <a:xfrm>
            <a:off x="4590288" y="1892808"/>
            <a:ext cx="2011680" cy="219456"/>
          </a:xfrm>
          <a:prstGeom prst="rect">
            <a:avLst/>
          </a:prstGeom>
          <a:noFill/>
          <a:ln/>
        </p:spPr>
        <p:txBody>
          <a:bodyPr wrap="square" lIns="0" tIns="0" rIns="0" bIns="0" rtlCol="0" anchor="ctr"/>
          <a:lstStyle/>
          <a:p>
            <a:pPr marL="0" indent="0" algn="ctr">
              <a:buNone/>
            </a:pPr>
            <a:r>
              <a:rPr lang="en-US" sz="800" b="1" dirty="0">
                <a:solidFill>
                  <a:srgbClr val="92400E"/>
                </a:solidFill>
                <a:latin typeface="Segoe UI" pitchFamily="34" charset="0"/>
                <a:ea typeface="Segoe UI" pitchFamily="34" charset="-122"/>
                <a:cs typeface="Segoe UI" pitchFamily="34" charset="-120"/>
              </a:rPr>
              <a:t>LAYER 02: PROTECTION</a:t>
            </a:r>
            <a:endParaRPr lang="en-US" sz="800" dirty="0"/>
          </a:p>
        </p:txBody>
      </p:sp>
      <p:sp>
        <p:nvSpPr>
          <p:cNvPr id="23" name="Shape 21"/>
          <p:cNvSpPr/>
          <p:nvPr/>
        </p:nvSpPr>
        <p:spPr>
          <a:xfrm>
            <a:off x="6583680" y="1892808"/>
            <a:ext cx="1033272" cy="219456"/>
          </a:xfrm>
          <a:prstGeom prst="roundRect">
            <a:avLst>
              <a:gd name="adj" fmla="val 50000"/>
            </a:avLst>
          </a:prstGeom>
          <a:solidFill>
            <a:srgbClr val="F1F5F9"/>
          </a:solidFill>
          <a:ln w="10160">
            <a:solidFill>
              <a:srgbClr val="CBD5E1"/>
            </a:solidFill>
            <a:prstDash val="solid"/>
          </a:ln>
        </p:spPr>
        <p:txBody>
          <a:bodyPr/>
          <a:lstStyle/>
          <a:p>
            <a:endParaRPr lang="en-US"/>
          </a:p>
        </p:txBody>
      </p:sp>
      <p:sp>
        <p:nvSpPr>
          <p:cNvPr id="24" name="Text 22"/>
          <p:cNvSpPr/>
          <p:nvPr/>
        </p:nvSpPr>
        <p:spPr>
          <a:xfrm>
            <a:off x="6583680" y="1892808"/>
            <a:ext cx="1033272" cy="219456"/>
          </a:xfrm>
          <a:prstGeom prst="rect">
            <a:avLst/>
          </a:prstGeom>
          <a:noFill/>
          <a:ln/>
        </p:spPr>
        <p:txBody>
          <a:bodyPr wrap="square" lIns="0" tIns="0" rIns="0" bIns="0" rtlCol="0" anchor="ctr"/>
          <a:lstStyle/>
          <a:p>
            <a:pPr marL="0" indent="0" algn="ctr">
              <a:buNone/>
            </a:pPr>
            <a:r>
              <a:rPr lang="en-US" sz="750" b="1" dirty="0">
                <a:solidFill>
                  <a:srgbClr val="64748B"/>
                </a:solidFill>
                <a:latin typeface="Segoe UI" pitchFamily="34" charset="0"/>
                <a:ea typeface="Segoe UI" pitchFamily="34" charset="-122"/>
                <a:cs typeface="Segoe UI" pitchFamily="34" charset="-120"/>
              </a:rPr>
              <a:t>WELL SERVED</a:t>
            </a:r>
            <a:endParaRPr lang="en-US" sz="750" dirty="0"/>
          </a:p>
        </p:txBody>
      </p:sp>
      <p:sp>
        <p:nvSpPr>
          <p:cNvPr id="25" name="Text 23"/>
          <p:cNvSpPr/>
          <p:nvPr/>
        </p:nvSpPr>
        <p:spPr>
          <a:xfrm>
            <a:off x="4590288" y="2221992"/>
            <a:ext cx="3026664" cy="384048"/>
          </a:xfrm>
          <a:prstGeom prst="rect">
            <a:avLst/>
          </a:prstGeom>
          <a:noFill/>
          <a:ln/>
        </p:spPr>
        <p:txBody>
          <a:bodyPr wrap="square" lIns="0" tIns="0" rIns="0" bIns="0" rtlCol="0" anchor="t"/>
          <a:lstStyle/>
          <a:p>
            <a:pPr marL="0" indent="0">
              <a:buNone/>
            </a:pPr>
            <a:r>
              <a:rPr lang="en-US" sz="1150" b="1" i="1" dirty="0">
                <a:solidFill>
                  <a:srgbClr val="0F172A"/>
                </a:solidFill>
                <a:latin typeface="Segoe UI" pitchFamily="34" charset="0"/>
                <a:ea typeface="Segoe UI" pitchFamily="34" charset="-122"/>
                <a:cs typeface="Segoe UI" pitchFamily="34" charset="-120"/>
              </a:rPr>
              <a:t>“Stop this transaction immediately.”</a:t>
            </a:r>
            <a:endParaRPr lang="en-US" sz="1150" dirty="0"/>
          </a:p>
        </p:txBody>
      </p:sp>
      <p:sp>
        <p:nvSpPr>
          <p:cNvPr id="26" name="Text 24"/>
          <p:cNvSpPr/>
          <p:nvPr/>
        </p:nvSpPr>
        <p:spPr>
          <a:xfrm>
            <a:off x="4590288" y="2651760"/>
            <a:ext cx="3026664" cy="201168"/>
          </a:xfrm>
          <a:prstGeom prst="rect">
            <a:avLst/>
          </a:prstGeom>
          <a:noFill/>
          <a:ln/>
        </p:spPr>
        <p:txBody>
          <a:bodyPr wrap="square" lIns="0" tIns="0" rIns="0" bIns="0" rtlCol="0" anchor="ctr"/>
          <a:lstStyle/>
          <a:p>
            <a:pPr marL="0" indent="0">
              <a:buNone/>
            </a:pPr>
            <a:r>
              <a:rPr lang="en-US" sz="850" b="1" dirty="0">
                <a:solidFill>
                  <a:srgbClr val="64748B"/>
                </a:solidFill>
                <a:latin typeface="Segoe UI" pitchFamily="34" charset="0"/>
                <a:ea typeface="Segoe UI" pitchFamily="34" charset="-122"/>
                <a:cs typeface="Segoe UI" pitchFamily="34" charset="-120"/>
              </a:rPr>
              <a:t>Core Focus:</a:t>
            </a:r>
            <a:endParaRPr lang="en-US" sz="850" dirty="0"/>
          </a:p>
        </p:txBody>
      </p:sp>
      <p:sp>
        <p:nvSpPr>
          <p:cNvPr id="27" name="Text 25"/>
          <p:cNvSpPr/>
          <p:nvPr/>
        </p:nvSpPr>
        <p:spPr>
          <a:xfrm>
            <a:off x="4590288" y="2862072"/>
            <a:ext cx="3026664" cy="548640"/>
          </a:xfrm>
          <a:prstGeom prst="rect">
            <a:avLst/>
          </a:prstGeom>
          <a:noFill/>
          <a:ln/>
        </p:spPr>
        <p:txBody>
          <a:bodyPr wrap="square" lIns="0" tIns="0" rIns="0" bIns="0" rtlCol="0" anchor="t"/>
          <a:lstStyle/>
          <a:p>
            <a:pPr marL="0" indent="0">
              <a:lnSpc>
                <a:spcPts val="1300"/>
              </a:lnSpc>
              <a:buNone/>
            </a:pPr>
            <a:r>
              <a:rPr lang="en-US" sz="950" dirty="0">
                <a:solidFill>
                  <a:srgbClr val="334155"/>
                </a:solidFill>
                <a:latin typeface="Segoe UI" pitchFamily="34" charset="0"/>
                <a:ea typeface="Segoe UI" pitchFamily="34" charset="-122"/>
                <a:cs typeface="Segoe UI" pitchFamily="34" charset="-120"/>
              </a:rPr>
              <a:t>Simulation, policy engines, automated pause triggers, firewall blocking.</a:t>
            </a:r>
            <a:endParaRPr lang="en-US" sz="950" dirty="0"/>
          </a:p>
        </p:txBody>
      </p:sp>
      <p:sp>
        <p:nvSpPr>
          <p:cNvPr id="28" name="Text 26"/>
          <p:cNvSpPr/>
          <p:nvPr/>
        </p:nvSpPr>
        <p:spPr>
          <a:xfrm>
            <a:off x="4590288" y="3474720"/>
            <a:ext cx="3026664" cy="201168"/>
          </a:xfrm>
          <a:prstGeom prst="rect">
            <a:avLst/>
          </a:prstGeom>
          <a:noFill/>
          <a:ln/>
        </p:spPr>
        <p:txBody>
          <a:bodyPr wrap="square" lIns="0" tIns="0" rIns="0" bIns="0" rtlCol="0" anchor="ctr"/>
          <a:lstStyle/>
          <a:p>
            <a:pPr marL="0" indent="0">
              <a:buNone/>
            </a:pPr>
            <a:r>
              <a:rPr lang="en-US" sz="850" b="1" dirty="0">
                <a:solidFill>
                  <a:srgbClr val="64748B"/>
                </a:solidFill>
                <a:latin typeface="Segoe UI" pitchFamily="34" charset="0"/>
                <a:ea typeface="Segoe UI" pitchFamily="34" charset="-122"/>
                <a:cs typeface="Segoe UI" pitchFamily="34" charset="-120"/>
              </a:rPr>
              <a:t>Reference Landscape:</a:t>
            </a:r>
            <a:endParaRPr lang="en-US" sz="850" dirty="0"/>
          </a:p>
        </p:txBody>
      </p:sp>
      <p:sp>
        <p:nvSpPr>
          <p:cNvPr id="29" name="Text 27"/>
          <p:cNvSpPr/>
          <p:nvPr/>
        </p:nvSpPr>
        <p:spPr>
          <a:xfrm>
            <a:off x="4590288" y="3685032"/>
            <a:ext cx="3026664" cy="365760"/>
          </a:xfrm>
          <a:prstGeom prst="rect">
            <a:avLst/>
          </a:prstGeom>
          <a:noFill/>
          <a:ln/>
        </p:spPr>
        <p:txBody>
          <a:bodyPr wrap="square" lIns="0" tIns="0" rIns="0" bIns="0" rtlCol="0" anchor="t"/>
          <a:lstStyle/>
          <a:p>
            <a:pPr marL="0" indent="0">
              <a:buNone/>
            </a:pPr>
            <a:r>
              <a:rPr lang="en-US" sz="950" i="1" dirty="0">
                <a:solidFill>
                  <a:srgbClr val="64748B"/>
                </a:solidFill>
                <a:latin typeface="Segoe UI" pitchFamily="34" charset="0"/>
                <a:ea typeface="Segoe UI" pitchFamily="34" charset="-122"/>
                <a:cs typeface="Segoe UI" pitchFamily="34" charset="-120"/>
              </a:rPr>
              <a:t>Hypernative Transaction Guard, Forta Firewall, Wallet Guard.</a:t>
            </a:r>
            <a:endParaRPr lang="en-US" sz="950" dirty="0"/>
          </a:p>
        </p:txBody>
      </p:sp>
      <p:sp>
        <p:nvSpPr>
          <p:cNvPr id="30" name="Text 28"/>
          <p:cNvSpPr/>
          <p:nvPr/>
        </p:nvSpPr>
        <p:spPr>
          <a:xfrm>
            <a:off x="4590288" y="4114800"/>
            <a:ext cx="3026664" cy="201168"/>
          </a:xfrm>
          <a:prstGeom prst="rect">
            <a:avLst/>
          </a:prstGeom>
          <a:noFill/>
          <a:ln/>
        </p:spPr>
        <p:txBody>
          <a:bodyPr wrap="square" lIns="0" tIns="0" rIns="0" bIns="0" rtlCol="0" anchor="ctr"/>
          <a:lstStyle/>
          <a:p>
            <a:pPr marL="0" indent="0">
              <a:buNone/>
            </a:pPr>
            <a:r>
              <a:rPr lang="en-US" sz="850" b="1" dirty="0">
                <a:solidFill>
                  <a:srgbClr val="92400E"/>
                </a:solidFill>
                <a:latin typeface="Segoe UI" pitchFamily="34" charset="0"/>
                <a:ea typeface="Segoe UI" pitchFamily="34" charset="-122"/>
                <a:cs typeface="Segoe UI" pitchFamily="34" charset="-120"/>
              </a:rPr>
              <a:t>Inherent Trade-off:</a:t>
            </a:r>
            <a:endParaRPr lang="en-US" sz="850" dirty="0"/>
          </a:p>
        </p:txBody>
      </p:sp>
      <p:sp>
        <p:nvSpPr>
          <p:cNvPr id="31" name="Text 29"/>
          <p:cNvSpPr/>
          <p:nvPr/>
        </p:nvSpPr>
        <p:spPr>
          <a:xfrm>
            <a:off x="4590288" y="4325112"/>
            <a:ext cx="3026664" cy="594360"/>
          </a:xfrm>
          <a:prstGeom prst="rect">
            <a:avLst/>
          </a:prstGeom>
          <a:noFill/>
          <a:ln/>
        </p:spPr>
        <p:txBody>
          <a:bodyPr wrap="square" lIns="0" tIns="0" rIns="0" bIns="0" rtlCol="0" anchor="t"/>
          <a:lstStyle/>
          <a:p>
            <a:pPr marL="0" indent="0">
              <a:lnSpc>
                <a:spcPts val="1300"/>
              </a:lnSpc>
              <a:buNone/>
            </a:pPr>
            <a:r>
              <a:rPr lang="en-US" sz="920" dirty="0">
                <a:solidFill>
                  <a:srgbClr val="334155"/>
                </a:solidFill>
                <a:latin typeface="Segoe UI" pitchFamily="34" charset="0"/>
                <a:ea typeface="Segoe UI" pitchFamily="34" charset="-122"/>
                <a:cs typeface="Segoe UI" pitchFamily="34" charset="-120"/>
              </a:rPr>
              <a:t>Binary approve/deny enforcement. Often lacks context, triggering user alarm fatigue and frequent manual bypasses.</a:t>
            </a:r>
            <a:endParaRPr lang="en-US" sz="920" dirty="0"/>
          </a:p>
        </p:txBody>
      </p:sp>
      <p:sp>
        <p:nvSpPr>
          <p:cNvPr id="32" name="Shape 30"/>
          <p:cNvSpPr/>
          <p:nvPr/>
        </p:nvSpPr>
        <p:spPr>
          <a:xfrm>
            <a:off x="8046720" y="1691640"/>
            <a:ext cx="3429000" cy="3337560"/>
          </a:xfrm>
          <a:prstGeom prst="roundRect">
            <a:avLst>
              <a:gd name="adj" fmla="val 2192"/>
            </a:avLst>
          </a:prstGeom>
          <a:solidFill>
            <a:srgbClr val="FAF5FF"/>
          </a:solidFill>
          <a:ln w="19050">
            <a:solidFill>
              <a:srgbClr val="C7D2FE"/>
            </a:solidFill>
            <a:prstDash val="solid"/>
          </a:ln>
        </p:spPr>
        <p:txBody>
          <a:bodyPr/>
          <a:lstStyle/>
          <a:p>
            <a:endParaRPr lang="en-US"/>
          </a:p>
        </p:txBody>
      </p:sp>
      <p:sp>
        <p:nvSpPr>
          <p:cNvPr id="33" name="Shape 31"/>
          <p:cNvSpPr/>
          <p:nvPr/>
        </p:nvSpPr>
        <p:spPr>
          <a:xfrm>
            <a:off x="8065008" y="1709928"/>
            <a:ext cx="339242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34" name="Shape 32"/>
          <p:cNvSpPr/>
          <p:nvPr/>
        </p:nvSpPr>
        <p:spPr>
          <a:xfrm>
            <a:off x="8247888" y="1892808"/>
            <a:ext cx="2272284"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35" name="Text 33"/>
          <p:cNvSpPr/>
          <p:nvPr/>
        </p:nvSpPr>
        <p:spPr>
          <a:xfrm>
            <a:off x="8247888" y="1892808"/>
            <a:ext cx="2272284"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LAYER 03: INVESTIGATION</a:t>
            </a:r>
            <a:endParaRPr lang="en-US" sz="800" dirty="0"/>
          </a:p>
        </p:txBody>
      </p:sp>
      <p:sp>
        <p:nvSpPr>
          <p:cNvPr id="36" name="Shape 34"/>
          <p:cNvSpPr/>
          <p:nvPr/>
        </p:nvSpPr>
        <p:spPr>
          <a:xfrm>
            <a:off x="9070848" y="1892808"/>
            <a:ext cx="2203704"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37" name="Text 35"/>
          <p:cNvSpPr/>
          <p:nvPr/>
        </p:nvSpPr>
        <p:spPr>
          <a:xfrm>
            <a:off x="9070848" y="1892808"/>
            <a:ext cx="2203704" cy="219456"/>
          </a:xfrm>
          <a:prstGeom prst="rect">
            <a:avLst/>
          </a:prstGeom>
          <a:noFill/>
          <a:ln/>
        </p:spPr>
        <p:txBody>
          <a:bodyPr wrap="square" lIns="0" tIns="0" rIns="0" bIns="0" rtlCol="0" anchor="ctr"/>
          <a:lstStyle/>
          <a:p>
            <a:pPr marL="0" indent="0" algn="ctr">
              <a:buNone/>
            </a:pPr>
            <a:r>
              <a:rPr lang="en-US" sz="750" b="1" dirty="0">
                <a:solidFill>
                  <a:srgbClr val="4338CA"/>
                </a:solidFill>
                <a:latin typeface="Segoe UI" pitchFamily="34" charset="0"/>
                <a:ea typeface="Segoe UI" pitchFamily="34" charset="-122"/>
                <a:cs typeface="Segoe UI" pitchFamily="34" charset="-120"/>
              </a:rPr>
              <a:t>THE CRITICAL GAP (SENTINEL)</a:t>
            </a:r>
            <a:endParaRPr lang="en-US" sz="750" dirty="0"/>
          </a:p>
        </p:txBody>
      </p:sp>
      <p:sp>
        <p:nvSpPr>
          <p:cNvPr id="38" name="Text 36"/>
          <p:cNvSpPr/>
          <p:nvPr/>
        </p:nvSpPr>
        <p:spPr>
          <a:xfrm>
            <a:off x="8247888" y="2221992"/>
            <a:ext cx="3026664" cy="384048"/>
          </a:xfrm>
          <a:prstGeom prst="rect">
            <a:avLst/>
          </a:prstGeom>
          <a:noFill/>
          <a:ln/>
        </p:spPr>
        <p:txBody>
          <a:bodyPr wrap="square" lIns="0" tIns="0" rIns="0" bIns="0" rtlCol="0" anchor="t"/>
          <a:lstStyle/>
          <a:p>
            <a:pPr marL="0" indent="0">
              <a:buNone/>
            </a:pPr>
            <a:r>
              <a:rPr lang="en-US" sz="1150" b="1" i="1" dirty="0">
                <a:solidFill>
                  <a:srgbClr val="4338CA"/>
                </a:solidFill>
                <a:latin typeface="Segoe UI" pitchFamily="34" charset="0"/>
                <a:ea typeface="Segoe UI" pitchFamily="34" charset="-122"/>
                <a:cs typeface="Segoe UI" pitchFamily="34" charset="-120"/>
              </a:rPr>
              <a:t>“Show me exactly why this matters so I can verify it.”</a:t>
            </a:r>
            <a:endParaRPr lang="en-US" sz="1150" dirty="0"/>
          </a:p>
        </p:txBody>
      </p:sp>
      <p:sp>
        <p:nvSpPr>
          <p:cNvPr id="39" name="Text 37"/>
          <p:cNvSpPr/>
          <p:nvPr/>
        </p:nvSpPr>
        <p:spPr>
          <a:xfrm>
            <a:off x="8247888" y="2651760"/>
            <a:ext cx="3026664" cy="201168"/>
          </a:xfrm>
          <a:prstGeom prst="rect">
            <a:avLst/>
          </a:prstGeom>
          <a:noFill/>
          <a:ln/>
        </p:spPr>
        <p:txBody>
          <a:bodyPr wrap="square" lIns="0" tIns="0" rIns="0" bIns="0" rtlCol="0" anchor="ctr"/>
          <a:lstStyle/>
          <a:p>
            <a:pPr marL="0" indent="0">
              <a:buNone/>
            </a:pPr>
            <a:r>
              <a:rPr lang="en-US" sz="850" b="1" dirty="0">
                <a:solidFill>
                  <a:srgbClr val="64748B"/>
                </a:solidFill>
                <a:latin typeface="Segoe UI" pitchFamily="34" charset="0"/>
                <a:ea typeface="Segoe UI" pitchFamily="34" charset="-122"/>
                <a:cs typeface="Segoe UI" pitchFamily="34" charset="-120"/>
              </a:rPr>
              <a:t>Core Focus:</a:t>
            </a:r>
            <a:endParaRPr lang="en-US" sz="850" dirty="0"/>
          </a:p>
        </p:txBody>
      </p:sp>
      <p:sp>
        <p:nvSpPr>
          <p:cNvPr id="40" name="Text 38"/>
          <p:cNvSpPr/>
          <p:nvPr/>
        </p:nvSpPr>
        <p:spPr>
          <a:xfrm>
            <a:off x="8247888" y="2862072"/>
            <a:ext cx="3026664" cy="548640"/>
          </a:xfrm>
          <a:prstGeom prst="rect">
            <a:avLst/>
          </a:prstGeom>
          <a:noFill/>
          <a:ln/>
        </p:spPr>
        <p:txBody>
          <a:bodyPr wrap="square" lIns="0" tIns="0" rIns="0" bIns="0" rtlCol="0" anchor="t"/>
          <a:lstStyle/>
          <a:p>
            <a:pPr marL="0" indent="0">
              <a:lnSpc>
                <a:spcPts val="1300"/>
              </a:lnSpc>
              <a:buNone/>
            </a:pPr>
            <a:r>
              <a:rPr lang="en-US" sz="950" dirty="0">
                <a:solidFill>
                  <a:srgbClr val="334155"/>
                </a:solidFill>
                <a:latin typeface="Segoe UI" pitchFamily="34" charset="0"/>
                <a:ea typeface="Segoe UI" pitchFamily="34" charset="-122"/>
                <a:cs typeface="Segoe UI" pitchFamily="34" charset="-120"/>
              </a:rPr>
              <a:t>Evidence reconstruction, relationship graphs, live blast radius calculation, confidence classes, grounded narration.</a:t>
            </a:r>
            <a:endParaRPr lang="en-US" sz="950" dirty="0"/>
          </a:p>
        </p:txBody>
      </p:sp>
      <p:sp>
        <p:nvSpPr>
          <p:cNvPr id="41" name="Text 39"/>
          <p:cNvSpPr/>
          <p:nvPr/>
        </p:nvSpPr>
        <p:spPr>
          <a:xfrm>
            <a:off x="8247888" y="3474720"/>
            <a:ext cx="3026664" cy="201168"/>
          </a:xfrm>
          <a:prstGeom prst="rect">
            <a:avLst/>
          </a:prstGeom>
          <a:noFill/>
          <a:ln/>
        </p:spPr>
        <p:txBody>
          <a:bodyPr wrap="square" lIns="0" tIns="0" rIns="0" bIns="0" rtlCol="0" anchor="ctr"/>
          <a:lstStyle/>
          <a:p>
            <a:pPr marL="0" indent="0">
              <a:buNone/>
            </a:pPr>
            <a:r>
              <a:rPr lang="en-US" sz="850" b="1" dirty="0">
                <a:solidFill>
                  <a:srgbClr val="64748B"/>
                </a:solidFill>
                <a:latin typeface="Segoe UI" pitchFamily="34" charset="0"/>
                <a:ea typeface="Segoe UI" pitchFamily="34" charset="-122"/>
                <a:cs typeface="Segoe UI" pitchFamily="34" charset="-120"/>
              </a:rPr>
              <a:t>Reference Landscape:</a:t>
            </a:r>
            <a:endParaRPr lang="en-US" sz="850" dirty="0"/>
          </a:p>
        </p:txBody>
      </p:sp>
      <p:sp>
        <p:nvSpPr>
          <p:cNvPr id="42" name="Text 40"/>
          <p:cNvSpPr/>
          <p:nvPr/>
        </p:nvSpPr>
        <p:spPr>
          <a:xfrm>
            <a:off x="8247888" y="3685032"/>
            <a:ext cx="3026664" cy="365760"/>
          </a:xfrm>
          <a:prstGeom prst="rect">
            <a:avLst/>
          </a:prstGeom>
          <a:noFill/>
          <a:ln/>
        </p:spPr>
        <p:txBody>
          <a:bodyPr wrap="square" lIns="0" tIns="0" rIns="0" bIns="0" rtlCol="0" anchor="t"/>
          <a:lstStyle/>
          <a:p>
            <a:pPr marL="0" indent="0">
              <a:buNone/>
            </a:pPr>
            <a:r>
              <a:rPr lang="en-US" sz="950" i="1" dirty="0">
                <a:solidFill>
                  <a:srgbClr val="6366F1"/>
                </a:solidFill>
                <a:latin typeface="Segoe UI" pitchFamily="34" charset="0"/>
                <a:ea typeface="Segoe UI" pitchFamily="34" charset="-122"/>
                <a:cs typeface="Segoe UI" pitchFamily="34" charset="-120"/>
              </a:rPr>
              <a:t>Sentinel Investigation Engine (Proposed Architecture).</a:t>
            </a:r>
            <a:endParaRPr lang="en-US" sz="950" dirty="0"/>
          </a:p>
        </p:txBody>
      </p:sp>
      <p:sp>
        <p:nvSpPr>
          <p:cNvPr id="43" name="Text 41"/>
          <p:cNvSpPr/>
          <p:nvPr/>
        </p:nvSpPr>
        <p:spPr>
          <a:xfrm>
            <a:off x="8247888" y="4114800"/>
            <a:ext cx="3026664" cy="201168"/>
          </a:xfrm>
          <a:prstGeom prst="rect">
            <a:avLst/>
          </a:prstGeom>
          <a:noFill/>
          <a:ln/>
        </p:spPr>
        <p:txBody>
          <a:bodyPr wrap="square" lIns="0" tIns="0" rIns="0" bIns="0" rtlCol="0" anchor="ctr"/>
          <a:lstStyle/>
          <a:p>
            <a:pPr marL="0" indent="0">
              <a:buNone/>
            </a:pPr>
            <a:r>
              <a:rPr lang="en-US" sz="850" b="1" dirty="0">
                <a:solidFill>
                  <a:srgbClr val="065F46"/>
                </a:solidFill>
                <a:latin typeface="Segoe UI" pitchFamily="34" charset="0"/>
                <a:ea typeface="Segoe UI" pitchFamily="34" charset="-122"/>
                <a:cs typeface="Segoe UI" pitchFamily="34" charset="-120"/>
              </a:rPr>
              <a:t>The Investigation Advantage:</a:t>
            </a:r>
            <a:endParaRPr lang="en-US" sz="850" dirty="0"/>
          </a:p>
        </p:txBody>
      </p:sp>
      <p:sp>
        <p:nvSpPr>
          <p:cNvPr id="44" name="Text 42"/>
          <p:cNvSpPr/>
          <p:nvPr/>
        </p:nvSpPr>
        <p:spPr>
          <a:xfrm>
            <a:off x="8247888" y="4325112"/>
            <a:ext cx="3026664" cy="594360"/>
          </a:xfrm>
          <a:prstGeom prst="rect">
            <a:avLst/>
          </a:prstGeom>
          <a:noFill/>
          <a:ln/>
        </p:spPr>
        <p:txBody>
          <a:bodyPr wrap="square" lIns="0" tIns="0" rIns="0" bIns="0" rtlCol="0" anchor="t"/>
          <a:lstStyle/>
          <a:p>
            <a:pPr marL="0" indent="0">
              <a:lnSpc>
                <a:spcPts val="1300"/>
              </a:lnSpc>
              <a:buNone/>
            </a:pPr>
            <a:r>
              <a:rPr lang="en-US" sz="920" dirty="0">
                <a:solidFill>
                  <a:srgbClr val="334155"/>
                </a:solidFill>
                <a:latin typeface="Segoe UI" pitchFamily="34" charset="0"/>
                <a:ea typeface="Segoe UI" pitchFamily="34" charset="-122"/>
                <a:cs typeface="Segoe UI" pitchFamily="34" charset="-120"/>
              </a:rPr>
              <a:t>Provides transparent provenance, verifiable proof trails, and restores human agency before critical decisions.</a:t>
            </a:r>
            <a:endParaRPr lang="en-US" sz="920" dirty="0"/>
          </a:p>
        </p:txBody>
      </p:sp>
      <p:sp>
        <p:nvSpPr>
          <p:cNvPr id="45" name="Shape 43"/>
          <p:cNvSpPr/>
          <p:nvPr/>
        </p:nvSpPr>
        <p:spPr>
          <a:xfrm>
            <a:off x="731520" y="5212080"/>
            <a:ext cx="10744200" cy="960120"/>
          </a:xfrm>
          <a:prstGeom prst="roundRect">
            <a:avLst>
              <a:gd name="adj" fmla="val 7619"/>
            </a:avLst>
          </a:prstGeom>
          <a:solidFill>
            <a:srgbClr val="EEF2FF"/>
          </a:solidFill>
          <a:ln w="15240">
            <a:solidFill>
              <a:srgbClr val="C7D2FE"/>
            </a:solidFill>
            <a:prstDash val="solid"/>
          </a:ln>
        </p:spPr>
        <p:txBody>
          <a:bodyPr/>
          <a:lstStyle/>
          <a:p>
            <a:endParaRPr lang="en-US"/>
          </a:p>
        </p:txBody>
      </p:sp>
      <p:sp>
        <p:nvSpPr>
          <p:cNvPr id="46" name="Shape 44"/>
          <p:cNvSpPr/>
          <p:nvPr/>
        </p:nvSpPr>
        <p:spPr>
          <a:xfrm>
            <a:off x="749808" y="5230368"/>
            <a:ext cx="1070762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47" name="Text 45"/>
          <p:cNvSpPr/>
          <p:nvPr/>
        </p:nvSpPr>
        <p:spPr>
          <a:xfrm>
            <a:off x="914400" y="5321808"/>
            <a:ext cx="10378440" cy="228600"/>
          </a:xfrm>
          <a:prstGeom prst="rect">
            <a:avLst/>
          </a:prstGeom>
          <a:noFill/>
          <a:ln/>
        </p:spPr>
        <p:txBody>
          <a:bodyPr wrap="square" lIns="0" tIns="0" rIns="0" bIns="0" rtlCol="0" anchor="ctr"/>
          <a:lstStyle/>
          <a:p>
            <a:pPr marL="0" indent="0">
              <a:buNone/>
            </a:pPr>
            <a:r>
              <a:rPr lang="en-US" sz="900" b="1" dirty="0">
                <a:solidFill>
                  <a:srgbClr val="4338CA"/>
                </a:solidFill>
                <a:latin typeface="Segoe UI" pitchFamily="34" charset="0"/>
                <a:ea typeface="Segoe UI" pitchFamily="34" charset="-122"/>
                <a:cs typeface="Segoe UI" pitchFamily="34" charset="-120"/>
              </a:rPr>
              <a:t>SENTINEL ANSWERS THE 6 FUNDAMENTAL INVESTIGATION QUESTIONS:</a:t>
            </a:r>
            <a:endParaRPr lang="en-US" sz="900" dirty="0"/>
          </a:p>
        </p:txBody>
      </p:sp>
      <p:sp>
        <p:nvSpPr>
          <p:cNvPr id="48" name="Text 46"/>
          <p:cNvSpPr/>
          <p:nvPr/>
        </p:nvSpPr>
        <p:spPr>
          <a:xfrm>
            <a:off x="914400" y="5596128"/>
            <a:ext cx="1691640" cy="457200"/>
          </a:xfrm>
          <a:prstGeom prst="rect">
            <a:avLst/>
          </a:prstGeom>
          <a:noFill/>
          <a:ln/>
        </p:spPr>
        <p:txBody>
          <a:bodyPr wrap="square" lIns="0" tIns="0" rIns="0" bIns="0" rtlCol="0" anchor="t"/>
          <a:lstStyle/>
          <a:p>
            <a:pPr marL="0" indent="0">
              <a:buNone/>
            </a:pPr>
            <a:r>
              <a:rPr lang="en-US" sz="950" b="1" dirty="0">
                <a:solidFill>
                  <a:srgbClr val="0F172A"/>
                </a:solidFill>
                <a:latin typeface="Segoe UI" pitchFamily="34" charset="0"/>
                <a:ea typeface="Segoe UI" pitchFamily="34" charset="-122"/>
                <a:cs typeface="Segoe UI" pitchFamily="34" charset="-120"/>
              </a:rPr>
              <a:t>1. WHAT happened?</a:t>
            </a:r>
            <a:endParaRPr lang="en-US" sz="950" dirty="0"/>
          </a:p>
        </p:txBody>
      </p:sp>
      <p:sp>
        <p:nvSpPr>
          <p:cNvPr id="49" name="Text 47"/>
          <p:cNvSpPr/>
          <p:nvPr/>
        </p:nvSpPr>
        <p:spPr>
          <a:xfrm>
            <a:off x="2651760" y="5596128"/>
            <a:ext cx="1691640" cy="457200"/>
          </a:xfrm>
          <a:prstGeom prst="rect">
            <a:avLst/>
          </a:prstGeom>
          <a:noFill/>
          <a:ln/>
        </p:spPr>
        <p:txBody>
          <a:bodyPr wrap="square" lIns="0" tIns="0" rIns="0" bIns="0" rtlCol="0" anchor="t"/>
          <a:lstStyle/>
          <a:p>
            <a:pPr marL="0" indent="0">
              <a:buNone/>
            </a:pPr>
            <a:r>
              <a:rPr lang="en-US" sz="950" b="1" dirty="0">
                <a:solidFill>
                  <a:srgbClr val="0F172A"/>
                </a:solidFill>
                <a:latin typeface="Segoe UI" pitchFamily="34" charset="0"/>
                <a:ea typeface="Segoe UI" pitchFamily="34" charset="-122"/>
                <a:cs typeface="Segoe UI" pitchFamily="34" charset="-120"/>
              </a:rPr>
              <a:t>2. WHY does it matter?</a:t>
            </a:r>
            <a:endParaRPr lang="en-US" sz="950" dirty="0"/>
          </a:p>
        </p:txBody>
      </p:sp>
      <p:sp>
        <p:nvSpPr>
          <p:cNvPr id="50" name="Text 48"/>
          <p:cNvSpPr/>
          <p:nvPr/>
        </p:nvSpPr>
        <p:spPr>
          <a:xfrm>
            <a:off x="4389120" y="5596128"/>
            <a:ext cx="1691640" cy="457200"/>
          </a:xfrm>
          <a:prstGeom prst="rect">
            <a:avLst/>
          </a:prstGeom>
          <a:noFill/>
          <a:ln/>
        </p:spPr>
        <p:txBody>
          <a:bodyPr wrap="square" lIns="0" tIns="0" rIns="0" bIns="0" rtlCol="0" anchor="t"/>
          <a:lstStyle/>
          <a:p>
            <a:pPr marL="0" indent="0">
              <a:buNone/>
            </a:pPr>
            <a:r>
              <a:rPr lang="en-US" sz="950" b="1" dirty="0">
                <a:solidFill>
                  <a:srgbClr val="0F172A"/>
                </a:solidFill>
                <a:latin typeface="Segoe UI" pitchFamily="34" charset="0"/>
                <a:ea typeface="Segoe UI" pitchFamily="34" charset="-122"/>
                <a:cs typeface="Segoe UI" pitchFamily="34" charset="-120"/>
              </a:rPr>
              <a:t>3. WHAT is exposed now?</a:t>
            </a:r>
            <a:endParaRPr lang="en-US" sz="950" dirty="0"/>
          </a:p>
        </p:txBody>
      </p:sp>
      <p:sp>
        <p:nvSpPr>
          <p:cNvPr id="51" name="Text 49"/>
          <p:cNvSpPr/>
          <p:nvPr/>
        </p:nvSpPr>
        <p:spPr>
          <a:xfrm>
            <a:off x="6126480" y="5596128"/>
            <a:ext cx="1691640" cy="457200"/>
          </a:xfrm>
          <a:prstGeom prst="rect">
            <a:avLst/>
          </a:prstGeom>
          <a:noFill/>
          <a:ln/>
        </p:spPr>
        <p:txBody>
          <a:bodyPr wrap="square" lIns="0" tIns="0" rIns="0" bIns="0" rtlCol="0" anchor="t"/>
          <a:lstStyle/>
          <a:p>
            <a:pPr marL="0" indent="0">
              <a:buNone/>
            </a:pPr>
            <a:r>
              <a:rPr lang="en-US" sz="950" b="1" dirty="0">
                <a:solidFill>
                  <a:srgbClr val="0F172A"/>
                </a:solidFill>
                <a:latin typeface="Segoe UI" pitchFamily="34" charset="0"/>
                <a:ea typeface="Segoe UI" pitchFamily="34" charset="-122"/>
                <a:cs typeface="Segoe UI" pitchFamily="34" charset="-120"/>
              </a:rPr>
              <a:t>4. WHAT evidence proves it?</a:t>
            </a:r>
            <a:endParaRPr lang="en-US" sz="950" dirty="0"/>
          </a:p>
        </p:txBody>
      </p:sp>
      <p:sp>
        <p:nvSpPr>
          <p:cNvPr id="52" name="Text 50"/>
          <p:cNvSpPr/>
          <p:nvPr/>
        </p:nvSpPr>
        <p:spPr>
          <a:xfrm>
            <a:off x="7863840" y="5596128"/>
            <a:ext cx="1691640" cy="457200"/>
          </a:xfrm>
          <a:prstGeom prst="rect">
            <a:avLst/>
          </a:prstGeom>
          <a:noFill/>
          <a:ln/>
        </p:spPr>
        <p:txBody>
          <a:bodyPr wrap="square" lIns="0" tIns="0" rIns="0" bIns="0" rtlCol="0" anchor="t"/>
          <a:lstStyle/>
          <a:p>
            <a:pPr marL="0" indent="0">
              <a:buNone/>
            </a:pPr>
            <a:r>
              <a:rPr lang="en-US" sz="950" b="1" dirty="0">
                <a:solidFill>
                  <a:srgbClr val="0F172A"/>
                </a:solidFill>
                <a:latin typeface="Segoe UI" pitchFamily="34" charset="0"/>
                <a:ea typeface="Segoe UI" pitchFamily="34" charset="-122"/>
                <a:cs typeface="Segoe UI" pitchFamily="34" charset="-120"/>
              </a:rPr>
              <a:t>5. WHAT is fact vs inference?</a:t>
            </a:r>
            <a:endParaRPr lang="en-US" sz="950" dirty="0"/>
          </a:p>
        </p:txBody>
      </p:sp>
      <p:sp>
        <p:nvSpPr>
          <p:cNvPr id="53" name="Text 51"/>
          <p:cNvSpPr/>
          <p:nvPr/>
        </p:nvSpPr>
        <p:spPr>
          <a:xfrm>
            <a:off x="9601200" y="5596128"/>
            <a:ext cx="1691640" cy="457200"/>
          </a:xfrm>
          <a:prstGeom prst="rect">
            <a:avLst/>
          </a:prstGeom>
          <a:noFill/>
          <a:ln/>
        </p:spPr>
        <p:txBody>
          <a:bodyPr wrap="square" lIns="0" tIns="0" rIns="0" bIns="0" rtlCol="0" anchor="t"/>
          <a:lstStyle/>
          <a:p>
            <a:pPr marL="0" indent="0">
              <a:buNone/>
            </a:pPr>
            <a:r>
              <a:rPr lang="en-US" sz="950" b="1" dirty="0">
                <a:solidFill>
                  <a:srgbClr val="0F172A"/>
                </a:solidFill>
                <a:latin typeface="Segoe UI" pitchFamily="34" charset="0"/>
                <a:ea typeface="Segoe UI" pitchFamily="34" charset="-122"/>
                <a:cs typeface="Segoe UI" pitchFamily="34" charset="-120"/>
              </a:rPr>
              <a:t>6. WHAT remains unknown?</a:t>
            </a:r>
            <a:endParaRPr lang="en-US" sz="950" dirty="0"/>
          </a:p>
        </p:txBody>
      </p:sp>
      <p:sp>
        <p:nvSpPr>
          <p:cNvPr id="54" name="Shape 52"/>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55" name="Text 53"/>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56" name="Text 54"/>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02 of 16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4206240" cy="256032"/>
          </a:xfrm>
          <a:prstGeom prst="roundRect">
            <a:avLst>
              <a:gd name="adj" fmla="val 50000"/>
            </a:avLst>
          </a:prstGeom>
          <a:solidFill>
            <a:srgbClr val="EEF2FF"/>
          </a:solidFill>
          <a:ln w="12700">
            <a:solidFill>
              <a:srgbClr val="C7D2FE"/>
            </a:solidFill>
            <a:prstDash val="solid"/>
          </a:ln>
        </p:spPr>
        <p:txBody>
          <a:bodyPr/>
          <a:lstStyle/>
          <a:p>
            <a:endParaRPr lang="en-US"/>
          </a:p>
        </p:txBody>
      </p:sp>
      <p:sp>
        <p:nvSpPr>
          <p:cNvPr id="3" name="Text 1"/>
          <p:cNvSpPr/>
          <p:nvPr/>
        </p:nvSpPr>
        <p:spPr>
          <a:xfrm>
            <a:off x="731520" y="384048"/>
            <a:ext cx="4206240" cy="256032"/>
          </a:xfrm>
          <a:prstGeom prst="rect">
            <a:avLst/>
          </a:prstGeom>
          <a:noFill/>
          <a:ln/>
        </p:spPr>
        <p:txBody>
          <a:bodyPr wrap="square" lIns="0" tIns="0" rIns="0" bIns="0" rtlCol="0" anchor="ctr"/>
          <a:lstStyle/>
          <a:p>
            <a:pPr marL="0" indent="0" algn="ctr">
              <a:buNone/>
            </a:pPr>
            <a:r>
              <a:rPr lang="en-US" sz="850" b="1" dirty="0">
                <a:solidFill>
                  <a:srgbClr val="4338CA"/>
                </a:solidFill>
                <a:latin typeface="Segoe UI" pitchFamily="34" charset="0"/>
                <a:ea typeface="Segoe UI" pitchFamily="34" charset="-122"/>
                <a:cs typeface="Segoe UI" pitchFamily="34" charset="-120"/>
              </a:rPr>
              <a:t>SYSTEM POSITIONING // LIFECYCLE PIPELINE</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Where Sentinel sits in the Web3 security stack</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Sentinel is a complementary layer: it consumes raw events or detection alerts and outputs inspectable proof.</a:t>
            </a:r>
            <a:endParaRPr lang="en-US" sz="1150" dirty="0"/>
          </a:p>
        </p:txBody>
      </p:sp>
      <p:sp>
        <p:nvSpPr>
          <p:cNvPr id="6" name="Shape 4"/>
          <p:cNvSpPr/>
          <p:nvPr/>
        </p:nvSpPr>
        <p:spPr>
          <a:xfrm>
            <a:off x="731520" y="1874520"/>
            <a:ext cx="1664208" cy="2834640"/>
          </a:xfrm>
          <a:prstGeom prst="roundRect">
            <a:avLst>
              <a:gd name="adj" fmla="val 4396"/>
            </a:avLst>
          </a:prstGeom>
          <a:solidFill>
            <a:srgbClr val="FFFFFF"/>
          </a:solidFill>
          <a:ln w="12700">
            <a:solidFill>
              <a:srgbClr val="E2E8F0"/>
            </a:solidFill>
            <a:prstDash val="solid"/>
          </a:ln>
        </p:spPr>
        <p:txBody>
          <a:bodyPr/>
          <a:lstStyle/>
          <a:p>
            <a:endParaRPr lang="en-US"/>
          </a:p>
        </p:txBody>
      </p:sp>
      <p:sp>
        <p:nvSpPr>
          <p:cNvPr id="7" name="Shape 5"/>
          <p:cNvSpPr/>
          <p:nvPr/>
        </p:nvSpPr>
        <p:spPr>
          <a:xfrm>
            <a:off x="749808" y="1892808"/>
            <a:ext cx="1627632" cy="45720"/>
          </a:xfrm>
          <a:prstGeom prst="roundRect">
            <a:avLst>
              <a:gd name="adj" fmla="val 40000"/>
            </a:avLst>
          </a:prstGeom>
          <a:solidFill>
            <a:srgbClr val="64748B"/>
          </a:solidFill>
          <a:ln w="12700">
            <a:solidFill>
              <a:srgbClr val="64748B"/>
            </a:solidFill>
            <a:prstDash val="solid"/>
          </a:ln>
        </p:spPr>
        <p:txBody>
          <a:bodyPr/>
          <a:lstStyle/>
          <a:p>
            <a:endParaRPr lang="en-US"/>
          </a:p>
        </p:txBody>
      </p:sp>
      <p:sp>
        <p:nvSpPr>
          <p:cNvPr id="8" name="Text 6"/>
          <p:cNvSpPr/>
          <p:nvPr/>
        </p:nvSpPr>
        <p:spPr>
          <a:xfrm>
            <a:off x="868680" y="2039112"/>
            <a:ext cx="1389888" cy="274320"/>
          </a:xfrm>
          <a:prstGeom prst="rect">
            <a:avLst/>
          </a:prstGeom>
          <a:noFill/>
          <a:ln/>
        </p:spPr>
        <p:txBody>
          <a:bodyPr wrap="square" lIns="0" tIns="0" rIns="0" bIns="0" rtlCol="0" anchor="ctr"/>
          <a:lstStyle/>
          <a:p>
            <a:pPr marL="0" indent="0">
              <a:buNone/>
            </a:pPr>
            <a:r>
              <a:rPr lang="en-US" sz="1300" b="1" dirty="0">
                <a:solidFill>
                  <a:srgbClr val="64748B"/>
                </a:solidFill>
                <a:latin typeface="Segoe UI" pitchFamily="34" charset="0"/>
                <a:ea typeface="Segoe UI" pitchFamily="34" charset="-122"/>
                <a:cs typeface="Segoe UI" pitchFamily="34" charset="-120"/>
              </a:rPr>
              <a:t>01</a:t>
            </a:r>
            <a:endParaRPr lang="en-US" sz="1300" dirty="0"/>
          </a:p>
        </p:txBody>
      </p:sp>
      <p:sp>
        <p:nvSpPr>
          <p:cNvPr id="9" name="Text 7"/>
          <p:cNvSpPr/>
          <p:nvPr/>
        </p:nvSpPr>
        <p:spPr>
          <a:xfrm>
            <a:off x="868680" y="2350008"/>
            <a:ext cx="1389888" cy="457200"/>
          </a:xfrm>
          <a:prstGeom prst="rect">
            <a:avLst/>
          </a:prstGeom>
          <a:noFill/>
          <a:ln/>
        </p:spPr>
        <p:txBody>
          <a:bodyPr wrap="square" lIns="0" tIns="0" rIns="0" bIns="0" rtlCol="0" anchor="t"/>
          <a:lstStyle/>
          <a:p>
            <a:pPr marL="0" indent="0">
              <a:lnSpc>
                <a:spcPts val="1300"/>
              </a:lnSpc>
              <a:buNone/>
            </a:pPr>
            <a:r>
              <a:rPr lang="en-US" sz="950" b="1" dirty="0">
                <a:solidFill>
                  <a:srgbClr val="0F172A"/>
                </a:solidFill>
                <a:latin typeface="Segoe UI" pitchFamily="34" charset="0"/>
                <a:ea typeface="Segoe UI" pitchFamily="34" charset="-122"/>
                <a:cs typeface="Segoe UI" pitchFamily="34" charset="-120"/>
              </a:rPr>
              <a:t>BLOCKCHAIN ACTIVITY</a:t>
            </a:r>
            <a:endParaRPr lang="en-US" sz="950" dirty="0"/>
          </a:p>
        </p:txBody>
      </p:sp>
      <p:sp>
        <p:nvSpPr>
          <p:cNvPr id="10" name="Text 8"/>
          <p:cNvSpPr/>
          <p:nvPr/>
        </p:nvSpPr>
        <p:spPr>
          <a:xfrm>
            <a:off x="868680" y="2880360"/>
            <a:ext cx="1389888" cy="164592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Mempool, state changes, contract deployments, token approvals, admin key rotations.</a:t>
            </a:r>
            <a:endParaRPr lang="en-US" sz="880" dirty="0"/>
          </a:p>
        </p:txBody>
      </p:sp>
      <p:sp>
        <p:nvSpPr>
          <p:cNvPr id="11" name="Text 9"/>
          <p:cNvSpPr/>
          <p:nvPr/>
        </p:nvSpPr>
        <p:spPr>
          <a:xfrm>
            <a:off x="2322576" y="3017520"/>
            <a:ext cx="292608" cy="320040"/>
          </a:xfrm>
          <a:prstGeom prst="rect">
            <a:avLst/>
          </a:prstGeom>
          <a:noFill/>
          <a:ln/>
        </p:spPr>
        <p:txBody>
          <a:bodyPr wrap="square" lIns="0" tIns="0" rIns="0" bIns="0" rtlCol="0" anchor="ctr"/>
          <a:lstStyle/>
          <a:p>
            <a:pPr marL="0" indent="0" algn="ctr">
              <a:buNone/>
            </a:pPr>
            <a:r>
              <a:rPr lang="en-US" sz="1600" b="1" dirty="0">
                <a:solidFill>
                  <a:srgbClr val="94A3B8"/>
                </a:solidFill>
                <a:latin typeface="Segoe UI" pitchFamily="34" charset="0"/>
                <a:ea typeface="Segoe UI" pitchFamily="34" charset="-122"/>
                <a:cs typeface="Segoe UI" pitchFamily="34" charset="-120"/>
              </a:rPr>
              <a:t>→</a:t>
            </a:r>
            <a:endParaRPr lang="en-US" sz="1600" dirty="0"/>
          </a:p>
        </p:txBody>
      </p:sp>
      <p:sp>
        <p:nvSpPr>
          <p:cNvPr id="12" name="Shape 10"/>
          <p:cNvSpPr/>
          <p:nvPr/>
        </p:nvSpPr>
        <p:spPr>
          <a:xfrm>
            <a:off x="2542032" y="1874520"/>
            <a:ext cx="1664208" cy="2834640"/>
          </a:xfrm>
          <a:prstGeom prst="roundRect">
            <a:avLst>
              <a:gd name="adj" fmla="val 4396"/>
            </a:avLst>
          </a:prstGeom>
          <a:solidFill>
            <a:srgbClr val="FFFFFF"/>
          </a:solidFill>
          <a:ln w="12700">
            <a:solidFill>
              <a:srgbClr val="E2E8F0"/>
            </a:solidFill>
            <a:prstDash val="solid"/>
          </a:ln>
        </p:spPr>
        <p:txBody>
          <a:bodyPr/>
          <a:lstStyle/>
          <a:p>
            <a:endParaRPr lang="en-US"/>
          </a:p>
        </p:txBody>
      </p:sp>
      <p:sp>
        <p:nvSpPr>
          <p:cNvPr id="13" name="Shape 11"/>
          <p:cNvSpPr/>
          <p:nvPr/>
        </p:nvSpPr>
        <p:spPr>
          <a:xfrm>
            <a:off x="2560320" y="1892808"/>
            <a:ext cx="1627632" cy="45720"/>
          </a:xfrm>
          <a:prstGeom prst="roundRect">
            <a:avLst>
              <a:gd name="adj" fmla="val 40000"/>
            </a:avLst>
          </a:prstGeom>
          <a:solidFill>
            <a:srgbClr val="F43F5E"/>
          </a:solidFill>
          <a:ln w="12700">
            <a:solidFill>
              <a:srgbClr val="F43F5E"/>
            </a:solidFill>
            <a:prstDash val="solid"/>
          </a:ln>
        </p:spPr>
        <p:txBody>
          <a:bodyPr/>
          <a:lstStyle/>
          <a:p>
            <a:endParaRPr lang="en-US"/>
          </a:p>
        </p:txBody>
      </p:sp>
      <p:sp>
        <p:nvSpPr>
          <p:cNvPr id="14" name="Text 12"/>
          <p:cNvSpPr/>
          <p:nvPr/>
        </p:nvSpPr>
        <p:spPr>
          <a:xfrm>
            <a:off x="2679192" y="2039112"/>
            <a:ext cx="1389888" cy="274320"/>
          </a:xfrm>
          <a:prstGeom prst="rect">
            <a:avLst/>
          </a:prstGeom>
          <a:noFill/>
          <a:ln/>
        </p:spPr>
        <p:txBody>
          <a:bodyPr wrap="square" lIns="0" tIns="0" rIns="0" bIns="0" rtlCol="0" anchor="ctr"/>
          <a:lstStyle/>
          <a:p>
            <a:pPr marL="0" indent="0">
              <a:buNone/>
            </a:pPr>
            <a:r>
              <a:rPr lang="en-US" sz="1300" b="1" dirty="0">
                <a:solidFill>
                  <a:srgbClr val="F43F5E"/>
                </a:solidFill>
                <a:latin typeface="Segoe UI" pitchFamily="34" charset="0"/>
                <a:ea typeface="Segoe UI" pitchFamily="34" charset="-122"/>
                <a:cs typeface="Segoe UI" pitchFamily="34" charset="-120"/>
              </a:rPr>
              <a:t>02</a:t>
            </a:r>
            <a:endParaRPr lang="en-US" sz="1300" dirty="0"/>
          </a:p>
        </p:txBody>
      </p:sp>
      <p:sp>
        <p:nvSpPr>
          <p:cNvPr id="15" name="Text 13"/>
          <p:cNvSpPr/>
          <p:nvPr/>
        </p:nvSpPr>
        <p:spPr>
          <a:xfrm>
            <a:off x="2679192" y="2350008"/>
            <a:ext cx="1389888" cy="457200"/>
          </a:xfrm>
          <a:prstGeom prst="rect">
            <a:avLst/>
          </a:prstGeom>
          <a:noFill/>
          <a:ln/>
        </p:spPr>
        <p:txBody>
          <a:bodyPr wrap="square" lIns="0" tIns="0" rIns="0" bIns="0" rtlCol="0" anchor="t"/>
          <a:lstStyle/>
          <a:p>
            <a:pPr marL="0" indent="0">
              <a:lnSpc>
                <a:spcPts val="1300"/>
              </a:lnSpc>
              <a:buNone/>
            </a:pPr>
            <a:r>
              <a:rPr lang="en-US" sz="950" b="1" dirty="0">
                <a:solidFill>
                  <a:srgbClr val="0F172A"/>
                </a:solidFill>
                <a:latin typeface="Segoe UI" pitchFamily="34" charset="0"/>
                <a:ea typeface="Segoe UI" pitchFamily="34" charset="-122"/>
                <a:cs typeface="Segoe UI" pitchFamily="34" charset="-120"/>
              </a:rPr>
              <a:t>DETECTION SYSTEMS</a:t>
            </a:r>
            <a:endParaRPr lang="en-US" sz="950" dirty="0"/>
          </a:p>
        </p:txBody>
      </p:sp>
      <p:sp>
        <p:nvSpPr>
          <p:cNvPr id="16" name="Text 14"/>
          <p:cNvSpPr/>
          <p:nvPr/>
        </p:nvSpPr>
        <p:spPr>
          <a:xfrm>
            <a:off x="2679192" y="2880360"/>
            <a:ext cx="1389888" cy="164592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Forta bots, Hypernative ML engines, wallet security scanners flag an anomaly.</a:t>
            </a:r>
            <a:endParaRPr lang="en-US" sz="880" dirty="0"/>
          </a:p>
        </p:txBody>
      </p:sp>
      <p:sp>
        <p:nvSpPr>
          <p:cNvPr id="17" name="Text 15"/>
          <p:cNvSpPr/>
          <p:nvPr/>
        </p:nvSpPr>
        <p:spPr>
          <a:xfrm>
            <a:off x="4133088" y="3017520"/>
            <a:ext cx="292608" cy="320040"/>
          </a:xfrm>
          <a:prstGeom prst="rect">
            <a:avLst/>
          </a:prstGeom>
          <a:noFill/>
          <a:ln/>
        </p:spPr>
        <p:txBody>
          <a:bodyPr wrap="square" lIns="0" tIns="0" rIns="0" bIns="0" rtlCol="0" anchor="ctr"/>
          <a:lstStyle/>
          <a:p>
            <a:pPr marL="0" indent="0" algn="ctr">
              <a:buNone/>
            </a:pPr>
            <a:r>
              <a:rPr lang="en-US" sz="1600" b="1" dirty="0">
                <a:solidFill>
                  <a:srgbClr val="94A3B8"/>
                </a:solidFill>
                <a:latin typeface="Segoe UI" pitchFamily="34" charset="0"/>
                <a:ea typeface="Segoe UI" pitchFamily="34" charset="-122"/>
                <a:cs typeface="Segoe UI" pitchFamily="34" charset="-120"/>
              </a:rPr>
              <a:t>→</a:t>
            </a:r>
            <a:endParaRPr lang="en-US" sz="1600" dirty="0"/>
          </a:p>
        </p:txBody>
      </p:sp>
      <p:sp>
        <p:nvSpPr>
          <p:cNvPr id="18" name="Shape 16"/>
          <p:cNvSpPr/>
          <p:nvPr/>
        </p:nvSpPr>
        <p:spPr>
          <a:xfrm>
            <a:off x="4352544" y="1874520"/>
            <a:ext cx="1664208" cy="2834640"/>
          </a:xfrm>
          <a:prstGeom prst="roundRect">
            <a:avLst>
              <a:gd name="adj" fmla="val 4396"/>
            </a:avLst>
          </a:prstGeom>
          <a:solidFill>
            <a:srgbClr val="FFFFFF"/>
          </a:solidFill>
          <a:ln w="12700">
            <a:solidFill>
              <a:srgbClr val="E2E8F0"/>
            </a:solidFill>
            <a:prstDash val="solid"/>
          </a:ln>
        </p:spPr>
        <p:txBody>
          <a:bodyPr/>
          <a:lstStyle/>
          <a:p>
            <a:endParaRPr lang="en-US"/>
          </a:p>
        </p:txBody>
      </p:sp>
      <p:sp>
        <p:nvSpPr>
          <p:cNvPr id="19" name="Shape 17"/>
          <p:cNvSpPr/>
          <p:nvPr/>
        </p:nvSpPr>
        <p:spPr>
          <a:xfrm>
            <a:off x="4370832" y="1892808"/>
            <a:ext cx="1627632" cy="45720"/>
          </a:xfrm>
          <a:prstGeom prst="roundRect">
            <a:avLst>
              <a:gd name="adj" fmla="val 40000"/>
            </a:avLst>
          </a:prstGeom>
          <a:solidFill>
            <a:srgbClr val="F59E0B"/>
          </a:solidFill>
          <a:ln w="12700">
            <a:solidFill>
              <a:srgbClr val="F59E0B"/>
            </a:solidFill>
            <a:prstDash val="solid"/>
          </a:ln>
        </p:spPr>
        <p:txBody>
          <a:bodyPr/>
          <a:lstStyle/>
          <a:p>
            <a:endParaRPr lang="en-US"/>
          </a:p>
        </p:txBody>
      </p:sp>
      <p:sp>
        <p:nvSpPr>
          <p:cNvPr id="20" name="Text 18"/>
          <p:cNvSpPr/>
          <p:nvPr/>
        </p:nvSpPr>
        <p:spPr>
          <a:xfrm>
            <a:off x="4489704" y="2039112"/>
            <a:ext cx="1389888" cy="274320"/>
          </a:xfrm>
          <a:prstGeom prst="rect">
            <a:avLst/>
          </a:prstGeom>
          <a:noFill/>
          <a:ln/>
        </p:spPr>
        <p:txBody>
          <a:bodyPr wrap="square" lIns="0" tIns="0" rIns="0" bIns="0" rtlCol="0" anchor="ctr"/>
          <a:lstStyle/>
          <a:p>
            <a:pPr marL="0" indent="0">
              <a:buNone/>
            </a:pPr>
            <a:r>
              <a:rPr lang="en-US" sz="1300" b="1" dirty="0">
                <a:solidFill>
                  <a:srgbClr val="F59E0B"/>
                </a:solidFill>
                <a:latin typeface="Segoe UI" pitchFamily="34" charset="0"/>
                <a:ea typeface="Segoe UI" pitchFamily="34" charset="-122"/>
                <a:cs typeface="Segoe UI" pitchFamily="34" charset="-120"/>
              </a:rPr>
              <a:t>03</a:t>
            </a:r>
            <a:endParaRPr lang="en-US" sz="1300" dirty="0"/>
          </a:p>
        </p:txBody>
      </p:sp>
      <p:sp>
        <p:nvSpPr>
          <p:cNvPr id="21" name="Text 19"/>
          <p:cNvSpPr/>
          <p:nvPr/>
        </p:nvSpPr>
        <p:spPr>
          <a:xfrm>
            <a:off x="4489704" y="2350008"/>
            <a:ext cx="1389888" cy="457200"/>
          </a:xfrm>
          <a:prstGeom prst="rect">
            <a:avLst/>
          </a:prstGeom>
          <a:noFill/>
          <a:ln/>
        </p:spPr>
        <p:txBody>
          <a:bodyPr wrap="square" lIns="0" tIns="0" rIns="0" bIns="0" rtlCol="0" anchor="t"/>
          <a:lstStyle/>
          <a:p>
            <a:pPr marL="0" indent="0">
              <a:lnSpc>
                <a:spcPts val="1300"/>
              </a:lnSpc>
              <a:buNone/>
            </a:pPr>
            <a:r>
              <a:rPr lang="en-US" sz="950" b="1" dirty="0">
                <a:solidFill>
                  <a:srgbClr val="0F172A"/>
                </a:solidFill>
                <a:latin typeface="Segoe UI" pitchFamily="34" charset="0"/>
                <a:ea typeface="Segoe UI" pitchFamily="34" charset="-122"/>
                <a:cs typeface="Segoe UI" pitchFamily="34" charset="-120"/>
              </a:rPr>
              <a:t>COMPRESSED ALERT</a:t>
            </a:r>
            <a:endParaRPr lang="en-US" sz="950" dirty="0"/>
          </a:p>
        </p:txBody>
      </p:sp>
      <p:sp>
        <p:nvSpPr>
          <p:cNvPr id="22" name="Text 20"/>
          <p:cNvSpPr/>
          <p:nvPr/>
        </p:nvSpPr>
        <p:spPr>
          <a:xfrm>
            <a:off x="4489704" y="2880360"/>
            <a:ext cx="1389888" cy="164592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Alert output: 'High Risk / Malicious Spender' — opaque score, lacking raw evidence.</a:t>
            </a:r>
            <a:endParaRPr lang="en-US" sz="880" dirty="0"/>
          </a:p>
        </p:txBody>
      </p:sp>
      <p:sp>
        <p:nvSpPr>
          <p:cNvPr id="23" name="Text 21"/>
          <p:cNvSpPr/>
          <p:nvPr/>
        </p:nvSpPr>
        <p:spPr>
          <a:xfrm>
            <a:off x="5943600" y="3017520"/>
            <a:ext cx="292608" cy="320040"/>
          </a:xfrm>
          <a:prstGeom prst="rect">
            <a:avLst/>
          </a:prstGeom>
          <a:noFill/>
          <a:ln/>
        </p:spPr>
        <p:txBody>
          <a:bodyPr wrap="square" lIns="0" tIns="0" rIns="0" bIns="0" rtlCol="0" anchor="ctr"/>
          <a:lstStyle/>
          <a:p>
            <a:pPr marL="0" indent="0" algn="ctr">
              <a:buNone/>
            </a:pPr>
            <a:r>
              <a:rPr lang="en-US" sz="1600" b="1" dirty="0">
                <a:solidFill>
                  <a:srgbClr val="94A3B8"/>
                </a:solidFill>
                <a:latin typeface="Segoe UI" pitchFamily="34" charset="0"/>
                <a:ea typeface="Segoe UI" pitchFamily="34" charset="-122"/>
                <a:cs typeface="Segoe UI" pitchFamily="34" charset="-120"/>
              </a:rPr>
              <a:t>→</a:t>
            </a:r>
            <a:endParaRPr lang="en-US" sz="1600" dirty="0"/>
          </a:p>
        </p:txBody>
      </p:sp>
      <p:sp>
        <p:nvSpPr>
          <p:cNvPr id="24" name="Shape 22"/>
          <p:cNvSpPr/>
          <p:nvPr/>
        </p:nvSpPr>
        <p:spPr>
          <a:xfrm>
            <a:off x="6163056" y="1874520"/>
            <a:ext cx="1664208" cy="2834640"/>
          </a:xfrm>
          <a:prstGeom prst="roundRect">
            <a:avLst>
              <a:gd name="adj" fmla="val 4396"/>
            </a:avLst>
          </a:prstGeom>
          <a:solidFill>
            <a:srgbClr val="EEF2FF"/>
          </a:solidFill>
          <a:ln w="19050">
            <a:solidFill>
              <a:srgbClr val="C7D2FE"/>
            </a:solidFill>
            <a:prstDash val="solid"/>
          </a:ln>
        </p:spPr>
        <p:txBody>
          <a:bodyPr/>
          <a:lstStyle/>
          <a:p>
            <a:endParaRPr lang="en-US"/>
          </a:p>
        </p:txBody>
      </p:sp>
      <p:sp>
        <p:nvSpPr>
          <p:cNvPr id="25" name="Shape 23"/>
          <p:cNvSpPr/>
          <p:nvPr/>
        </p:nvSpPr>
        <p:spPr>
          <a:xfrm>
            <a:off x="6181344" y="1892808"/>
            <a:ext cx="1627632"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26" name="Text 24"/>
          <p:cNvSpPr/>
          <p:nvPr/>
        </p:nvSpPr>
        <p:spPr>
          <a:xfrm>
            <a:off x="6300216" y="2039112"/>
            <a:ext cx="1389888" cy="274320"/>
          </a:xfrm>
          <a:prstGeom prst="rect">
            <a:avLst/>
          </a:prstGeom>
          <a:noFill/>
          <a:ln/>
        </p:spPr>
        <p:txBody>
          <a:bodyPr wrap="square" lIns="0" tIns="0" rIns="0" bIns="0" rtlCol="0" anchor="ctr"/>
          <a:lstStyle/>
          <a:p>
            <a:pPr marL="0" indent="0">
              <a:buNone/>
            </a:pPr>
            <a:r>
              <a:rPr lang="en-US" sz="1300" b="1" dirty="0">
                <a:solidFill>
                  <a:srgbClr val="6366F1"/>
                </a:solidFill>
                <a:latin typeface="Segoe UI" pitchFamily="34" charset="0"/>
                <a:ea typeface="Segoe UI" pitchFamily="34" charset="-122"/>
                <a:cs typeface="Segoe UI" pitchFamily="34" charset="-120"/>
              </a:rPr>
              <a:t>04</a:t>
            </a:r>
            <a:endParaRPr lang="en-US" sz="1300" dirty="0"/>
          </a:p>
        </p:txBody>
      </p:sp>
      <p:sp>
        <p:nvSpPr>
          <p:cNvPr id="27" name="Text 25"/>
          <p:cNvSpPr/>
          <p:nvPr/>
        </p:nvSpPr>
        <p:spPr>
          <a:xfrm>
            <a:off x="6300216" y="2350008"/>
            <a:ext cx="1389888" cy="457200"/>
          </a:xfrm>
          <a:prstGeom prst="rect">
            <a:avLst/>
          </a:prstGeom>
          <a:noFill/>
          <a:ln/>
        </p:spPr>
        <p:txBody>
          <a:bodyPr wrap="square" lIns="0" tIns="0" rIns="0" bIns="0" rtlCol="0" anchor="t"/>
          <a:lstStyle/>
          <a:p>
            <a:pPr marL="0" indent="0">
              <a:lnSpc>
                <a:spcPts val="1300"/>
              </a:lnSpc>
              <a:buNone/>
            </a:pPr>
            <a:r>
              <a:rPr lang="en-US" sz="950" b="1" dirty="0">
                <a:solidFill>
                  <a:srgbClr val="4338CA"/>
                </a:solidFill>
                <a:latin typeface="Segoe UI" pitchFamily="34" charset="0"/>
                <a:ea typeface="Segoe UI" pitchFamily="34" charset="-122"/>
                <a:cs typeface="Segoe UI" pitchFamily="34" charset="-120"/>
              </a:rPr>
              <a:t>SENTINEL ENGINE</a:t>
            </a:r>
            <a:endParaRPr lang="en-US" sz="950" dirty="0"/>
          </a:p>
        </p:txBody>
      </p:sp>
      <p:sp>
        <p:nvSpPr>
          <p:cNvPr id="28" name="Text 26"/>
          <p:cNvSpPr/>
          <p:nvPr/>
        </p:nvSpPr>
        <p:spPr>
          <a:xfrm>
            <a:off x="6300216" y="2880360"/>
            <a:ext cx="1389888" cy="164592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Reconstructs state, traverses entity graph, calculates blast radius, assigns confidence classes.</a:t>
            </a:r>
            <a:endParaRPr lang="en-US" sz="880" dirty="0"/>
          </a:p>
        </p:txBody>
      </p:sp>
      <p:sp>
        <p:nvSpPr>
          <p:cNvPr id="29" name="Text 27"/>
          <p:cNvSpPr/>
          <p:nvPr/>
        </p:nvSpPr>
        <p:spPr>
          <a:xfrm>
            <a:off x="7754112" y="3017520"/>
            <a:ext cx="292608" cy="320040"/>
          </a:xfrm>
          <a:prstGeom prst="rect">
            <a:avLst/>
          </a:prstGeom>
          <a:noFill/>
          <a:ln/>
        </p:spPr>
        <p:txBody>
          <a:bodyPr wrap="square" lIns="0" tIns="0" rIns="0" bIns="0" rtlCol="0" anchor="ctr"/>
          <a:lstStyle/>
          <a:p>
            <a:pPr marL="0" indent="0" algn="ctr">
              <a:buNone/>
            </a:pPr>
            <a:r>
              <a:rPr lang="en-US" sz="1600" b="1" dirty="0">
                <a:solidFill>
                  <a:srgbClr val="94A3B8"/>
                </a:solidFill>
                <a:latin typeface="Segoe UI" pitchFamily="34" charset="0"/>
                <a:ea typeface="Segoe UI" pitchFamily="34" charset="-122"/>
                <a:cs typeface="Segoe UI" pitchFamily="34" charset="-120"/>
              </a:rPr>
              <a:t>→</a:t>
            </a:r>
            <a:endParaRPr lang="en-US" sz="1600" dirty="0"/>
          </a:p>
        </p:txBody>
      </p:sp>
      <p:sp>
        <p:nvSpPr>
          <p:cNvPr id="30" name="Shape 28"/>
          <p:cNvSpPr/>
          <p:nvPr/>
        </p:nvSpPr>
        <p:spPr>
          <a:xfrm>
            <a:off x="7973568" y="1874520"/>
            <a:ext cx="1664208" cy="2834640"/>
          </a:xfrm>
          <a:prstGeom prst="roundRect">
            <a:avLst>
              <a:gd name="adj" fmla="val 4396"/>
            </a:avLst>
          </a:prstGeom>
          <a:solidFill>
            <a:srgbClr val="EEF2FF"/>
          </a:solidFill>
          <a:ln w="19050">
            <a:solidFill>
              <a:srgbClr val="C7D2FE"/>
            </a:solidFill>
            <a:prstDash val="solid"/>
          </a:ln>
        </p:spPr>
        <p:txBody>
          <a:bodyPr/>
          <a:lstStyle/>
          <a:p>
            <a:endParaRPr lang="en-US"/>
          </a:p>
        </p:txBody>
      </p:sp>
      <p:sp>
        <p:nvSpPr>
          <p:cNvPr id="31" name="Shape 29"/>
          <p:cNvSpPr/>
          <p:nvPr/>
        </p:nvSpPr>
        <p:spPr>
          <a:xfrm>
            <a:off x="7991856" y="1892808"/>
            <a:ext cx="1627632" cy="45720"/>
          </a:xfrm>
          <a:prstGeom prst="roundRect">
            <a:avLst>
              <a:gd name="adj" fmla="val 40000"/>
            </a:avLst>
          </a:prstGeom>
          <a:solidFill>
            <a:srgbClr val="10B981"/>
          </a:solidFill>
          <a:ln w="12700">
            <a:solidFill>
              <a:srgbClr val="10B981"/>
            </a:solidFill>
            <a:prstDash val="solid"/>
          </a:ln>
        </p:spPr>
        <p:txBody>
          <a:bodyPr/>
          <a:lstStyle/>
          <a:p>
            <a:endParaRPr lang="en-US"/>
          </a:p>
        </p:txBody>
      </p:sp>
      <p:sp>
        <p:nvSpPr>
          <p:cNvPr id="32" name="Text 30"/>
          <p:cNvSpPr/>
          <p:nvPr/>
        </p:nvSpPr>
        <p:spPr>
          <a:xfrm>
            <a:off x="8110728" y="2039112"/>
            <a:ext cx="1389888" cy="274320"/>
          </a:xfrm>
          <a:prstGeom prst="rect">
            <a:avLst/>
          </a:prstGeom>
          <a:noFill/>
          <a:ln/>
        </p:spPr>
        <p:txBody>
          <a:bodyPr wrap="square" lIns="0" tIns="0" rIns="0" bIns="0" rtlCol="0" anchor="ctr"/>
          <a:lstStyle/>
          <a:p>
            <a:pPr marL="0" indent="0">
              <a:buNone/>
            </a:pPr>
            <a:r>
              <a:rPr lang="en-US" sz="1300" b="1" dirty="0">
                <a:solidFill>
                  <a:srgbClr val="10B981"/>
                </a:solidFill>
                <a:latin typeface="Segoe UI" pitchFamily="34" charset="0"/>
                <a:ea typeface="Segoe UI" pitchFamily="34" charset="-122"/>
                <a:cs typeface="Segoe UI" pitchFamily="34" charset="-120"/>
              </a:rPr>
              <a:t>05</a:t>
            </a:r>
            <a:endParaRPr lang="en-US" sz="1300" dirty="0"/>
          </a:p>
        </p:txBody>
      </p:sp>
      <p:sp>
        <p:nvSpPr>
          <p:cNvPr id="33" name="Text 31"/>
          <p:cNvSpPr/>
          <p:nvPr/>
        </p:nvSpPr>
        <p:spPr>
          <a:xfrm>
            <a:off x="8110728" y="2350008"/>
            <a:ext cx="1389888" cy="457200"/>
          </a:xfrm>
          <a:prstGeom prst="rect">
            <a:avLst/>
          </a:prstGeom>
          <a:noFill/>
          <a:ln/>
        </p:spPr>
        <p:txBody>
          <a:bodyPr wrap="square" lIns="0" tIns="0" rIns="0" bIns="0" rtlCol="0" anchor="t"/>
          <a:lstStyle/>
          <a:p>
            <a:pPr marL="0" indent="0">
              <a:lnSpc>
                <a:spcPts val="1300"/>
              </a:lnSpc>
              <a:buNone/>
            </a:pPr>
            <a:r>
              <a:rPr lang="en-US" sz="950" b="1" dirty="0">
                <a:solidFill>
                  <a:srgbClr val="4338CA"/>
                </a:solidFill>
                <a:latin typeface="Segoe UI" pitchFamily="34" charset="0"/>
                <a:ea typeface="Segoe UI" pitchFamily="34" charset="-122"/>
                <a:cs typeface="Segoe UI" pitchFamily="34" charset="-120"/>
              </a:rPr>
              <a:t>VERIFIABLE REPORT</a:t>
            </a:r>
            <a:endParaRPr lang="en-US" sz="950" dirty="0"/>
          </a:p>
        </p:txBody>
      </p:sp>
      <p:sp>
        <p:nvSpPr>
          <p:cNvPr id="34" name="Text 32"/>
          <p:cNvSpPr/>
          <p:nvPr/>
        </p:nvSpPr>
        <p:spPr>
          <a:xfrm>
            <a:off x="8110728" y="2880360"/>
            <a:ext cx="1389888" cy="164592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Inspectable evidence trail + LLM narration grounded in cryptographically verified proof IDs.</a:t>
            </a:r>
            <a:endParaRPr lang="en-US" sz="880" dirty="0"/>
          </a:p>
        </p:txBody>
      </p:sp>
      <p:sp>
        <p:nvSpPr>
          <p:cNvPr id="35" name="Text 33"/>
          <p:cNvSpPr/>
          <p:nvPr/>
        </p:nvSpPr>
        <p:spPr>
          <a:xfrm>
            <a:off x="9564624" y="3017520"/>
            <a:ext cx="292608" cy="320040"/>
          </a:xfrm>
          <a:prstGeom prst="rect">
            <a:avLst/>
          </a:prstGeom>
          <a:noFill/>
          <a:ln/>
        </p:spPr>
        <p:txBody>
          <a:bodyPr wrap="square" lIns="0" tIns="0" rIns="0" bIns="0" rtlCol="0" anchor="ctr"/>
          <a:lstStyle/>
          <a:p>
            <a:pPr marL="0" indent="0" algn="ctr">
              <a:buNone/>
            </a:pPr>
            <a:r>
              <a:rPr lang="en-US" sz="1600" b="1" dirty="0">
                <a:solidFill>
                  <a:srgbClr val="94A3B8"/>
                </a:solidFill>
                <a:latin typeface="Segoe UI" pitchFamily="34" charset="0"/>
                <a:ea typeface="Segoe UI" pitchFamily="34" charset="-122"/>
                <a:cs typeface="Segoe UI" pitchFamily="34" charset="-120"/>
              </a:rPr>
              <a:t>→</a:t>
            </a:r>
            <a:endParaRPr lang="en-US" sz="1600" dirty="0"/>
          </a:p>
        </p:txBody>
      </p:sp>
      <p:sp>
        <p:nvSpPr>
          <p:cNvPr id="36" name="Shape 34"/>
          <p:cNvSpPr/>
          <p:nvPr/>
        </p:nvSpPr>
        <p:spPr>
          <a:xfrm>
            <a:off x="9784080" y="1874520"/>
            <a:ext cx="1664208" cy="2834640"/>
          </a:xfrm>
          <a:prstGeom prst="roundRect">
            <a:avLst>
              <a:gd name="adj" fmla="val 4396"/>
            </a:avLst>
          </a:prstGeom>
          <a:solidFill>
            <a:srgbClr val="FFFFFF"/>
          </a:solidFill>
          <a:ln w="12700">
            <a:solidFill>
              <a:srgbClr val="E2E8F0"/>
            </a:solidFill>
            <a:prstDash val="solid"/>
          </a:ln>
        </p:spPr>
        <p:txBody>
          <a:bodyPr/>
          <a:lstStyle/>
          <a:p>
            <a:endParaRPr lang="en-US"/>
          </a:p>
        </p:txBody>
      </p:sp>
      <p:sp>
        <p:nvSpPr>
          <p:cNvPr id="37" name="Shape 35"/>
          <p:cNvSpPr/>
          <p:nvPr/>
        </p:nvSpPr>
        <p:spPr>
          <a:xfrm>
            <a:off x="9802368" y="1892808"/>
            <a:ext cx="1627632" cy="45720"/>
          </a:xfrm>
          <a:prstGeom prst="roundRect">
            <a:avLst>
              <a:gd name="adj" fmla="val 40000"/>
            </a:avLst>
          </a:prstGeom>
          <a:solidFill>
            <a:srgbClr val="64748B"/>
          </a:solidFill>
          <a:ln w="12700">
            <a:solidFill>
              <a:srgbClr val="64748B"/>
            </a:solidFill>
            <a:prstDash val="solid"/>
          </a:ln>
        </p:spPr>
        <p:txBody>
          <a:bodyPr/>
          <a:lstStyle/>
          <a:p>
            <a:endParaRPr lang="en-US"/>
          </a:p>
        </p:txBody>
      </p:sp>
      <p:sp>
        <p:nvSpPr>
          <p:cNvPr id="38" name="Text 36"/>
          <p:cNvSpPr/>
          <p:nvPr/>
        </p:nvSpPr>
        <p:spPr>
          <a:xfrm>
            <a:off x="9921240" y="2039112"/>
            <a:ext cx="1389888" cy="274320"/>
          </a:xfrm>
          <a:prstGeom prst="rect">
            <a:avLst/>
          </a:prstGeom>
          <a:noFill/>
          <a:ln/>
        </p:spPr>
        <p:txBody>
          <a:bodyPr wrap="square" lIns="0" tIns="0" rIns="0" bIns="0" rtlCol="0" anchor="ctr"/>
          <a:lstStyle/>
          <a:p>
            <a:pPr marL="0" indent="0">
              <a:buNone/>
            </a:pPr>
            <a:r>
              <a:rPr lang="en-US" sz="1300" b="1" dirty="0">
                <a:solidFill>
                  <a:srgbClr val="64748B"/>
                </a:solidFill>
                <a:latin typeface="Segoe UI" pitchFamily="34" charset="0"/>
                <a:ea typeface="Segoe UI" pitchFamily="34" charset="-122"/>
                <a:cs typeface="Segoe UI" pitchFamily="34" charset="-120"/>
              </a:rPr>
              <a:t>06</a:t>
            </a:r>
            <a:endParaRPr lang="en-US" sz="1300" dirty="0"/>
          </a:p>
        </p:txBody>
      </p:sp>
      <p:sp>
        <p:nvSpPr>
          <p:cNvPr id="39" name="Text 37"/>
          <p:cNvSpPr/>
          <p:nvPr/>
        </p:nvSpPr>
        <p:spPr>
          <a:xfrm>
            <a:off x="9921240" y="2350008"/>
            <a:ext cx="1389888" cy="457200"/>
          </a:xfrm>
          <a:prstGeom prst="rect">
            <a:avLst/>
          </a:prstGeom>
          <a:noFill/>
          <a:ln/>
        </p:spPr>
        <p:txBody>
          <a:bodyPr wrap="square" lIns="0" tIns="0" rIns="0" bIns="0" rtlCol="0" anchor="t"/>
          <a:lstStyle/>
          <a:p>
            <a:pPr marL="0" indent="0">
              <a:lnSpc>
                <a:spcPts val="1300"/>
              </a:lnSpc>
              <a:buNone/>
            </a:pPr>
            <a:r>
              <a:rPr lang="en-US" sz="950" b="1" dirty="0">
                <a:solidFill>
                  <a:srgbClr val="0F172A"/>
                </a:solidFill>
                <a:latin typeface="Segoe UI" pitchFamily="34" charset="0"/>
                <a:ea typeface="Segoe UI" pitchFamily="34" charset="-122"/>
                <a:cs typeface="Segoe UI" pitchFamily="34" charset="-120"/>
              </a:rPr>
              <a:t>INFORMED DECISION</a:t>
            </a:r>
            <a:endParaRPr lang="en-US" sz="950" dirty="0"/>
          </a:p>
        </p:txBody>
      </p:sp>
      <p:sp>
        <p:nvSpPr>
          <p:cNvPr id="40" name="Text 38"/>
          <p:cNvSpPr/>
          <p:nvPr/>
        </p:nvSpPr>
        <p:spPr>
          <a:xfrm>
            <a:off x="9921240" y="2880360"/>
            <a:ext cx="1389888" cy="164592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Human operator or wallet user acts with complete clarity: Revoke, Adjust Cap, or Proceed.</a:t>
            </a:r>
            <a:endParaRPr lang="en-US" sz="880" dirty="0"/>
          </a:p>
        </p:txBody>
      </p:sp>
      <p:sp>
        <p:nvSpPr>
          <p:cNvPr id="41" name="Shape 39"/>
          <p:cNvSpPr/>
          <p:nvPr/>
        </p:nvSpPr>
        <p:spPr>
          <a:xfrm>
            <a:off x="731520" y="4937760"/>
            <a:ext cx="10744200" cy="1234440"/>
          </a:xfrm>
          <a:prstGeom prst="roundRect">
            <a:avLst>
              <a:gd name="adj" fmla="val 5926"/>
            </a:avLst>
          </a:prstGeom>
          <a:solidFill>
            <a:srgbClr val="FFFFFF"/>
          </a:solidFill>
          <a:ln w="12700">
            <a:solidFill>
              <a:srgbClr val="E2E8F0"/>
            </a:solidFill>
            <a:prstDash val="solid"/>
          </a:ln>
        </p:spPr>
        <p:txBody>
          <a:bodyPr/>
          <a:lstStyle/>
          <a:p>
            <a:endParaRPr lang="en-US"/>
          </a:p>
        </p:txBody>
      </p:sp>
      <p:sp>
        <p:nvSpPr>
          <p:cNvPr id="42" name="Shape 40"/>
          <p:cNvSpPr/>
          <p:nvPr/>
        </p:nvSpPr>
        <p:spPr>
          <a:xfrm>
            <a:off x="749808" y="4956048"/>
            <a:ext cx="10707624" cy="45720"/>
          </a:xfrm>
          <a:prstGeom prst="roundRect">
            <a:avLst>
              <a:gd name="adj" fmla="val 40000"/>
            </a:avLst>
          </a:prstGeom>
          <a:solidFill>
            <a:srgbClr val="10B981"/>
          </a:solidFill>
          <a:ln w="12700">
            <a:solidFill>
              <a:srgbClr val="10B981"/>
            </a:solidFill>
            <a:prstDash val="solid"/>
          </a:ln>
        </p:spPr>
        <p:txBody>
          <a:bodyPr/>
          <a:lstStyle/>
          <a:p>
            <a:endParaRPr lang="en-US"/>
          </a:p>
        </p:txBody>
      </p:sp>
      <p:sp>
        <p:nvSpPr>
          <p:cNvPr id="43" name="Text 41"/>
          <p:cNvSpPr/>
          <p:nvPr/>
        </p:nvSpPr>
        <p:spPr>
          <a:xfrm>
            <a:off x="1005840" y="5074920"/>
            <a:ext cx="10195560" cy="228600"/>
          </a:xfrm>
          <a:prstGeom prst="rect">
            <a:avLst/>
          </a:prstGeom>
          <a:noFill/>
          <a:ln/>
        </p:spPr>
        <p:txBody>
          <a:bodyPr wrap="square" lIns="0" tIns="0" rIns="0" bIns="0" rtlCol="0" anchor="ctr"/>
          <a:lstStyle/>
          <a:p>
            <a:pPr marL="0" indent="0">
              <a:buNone/>
            </a:pPr>
            <a:r>
              <a:rPr lang="en-US" sz="950" b="1" dirty="0">
                <a:solidFill>
                  <a:srgbClr val="065F46"/>
                </a:solidFill>
                <a:latin typeface="Segoe UI" pitchFamily="34" charset="0"/>
                <a:ea typeface="Segoe UI" pitchFamily="34" charset="-122"/>
                <a:cs typeface="Segoe UI" pitchFamily="34" charset="-120"/>
              </a:rPr>
              <a:t>THE ARCHITECTURAL SHIFT: FROM COMPRESSION TO DECOMPRESSION</a:t>
            </a:r>
            <a:endParaRPr lang="en-US" sz="950" dirty="0"/>
          </a:p>
        </p:txBody>
      </p:sp>
      <p:sp>
        <p:nvSpPr>
          <p:cNvPr id="44" name="Text 42"/>
          <p:cNvSpPr/>
          <p:nvPr/>
        </p:nvSpPr>
        <p:spPr>
          <a:xfrm>
            <a:off x="1005840" y="5349240"/>
            <a:ext cx="10195560" cy="685800"/>
          </a:xfrm>
          <a:prstGeom prst="rect">
            <a:avLst/>
          </a:prstGeom>
          <a:noFill/>
          <a:ln/>
        </p:spPr>
        <p:txBody>
          <a:bodyPr wrap="square" lIns="0" tIns="0" rIns="0" bIns="0" rtlCol="0" anchor="t"/>
          <a:lstStyle/>
          <a:p>
            <a:pPr marL="0" indent="0">
              <a:lnSpc>
                <a:spcPts val="1450"/>
              </a:lnSpc>
              <a:buNone/>
            </a:pPr>
            <a:r>
              <a:rPr lang="en-US" sz="950" dirty="0">
                <a:solidFill>
                  <a:srgbClr val="334155"/>
                </a:solidFill>
                <a:latin typeface="Segoe UI" pitchFamily="34" charset="0"/>
                <a:ea typeface="Segoe UI" pitchFamily="34" charset="-122"/>
                <a:cs typeface="Segoe UI" pitchFamily="34" charset="-120"/>
              </a:rPr>
              <a:t>• What detection outputs today: A compressed verdict ('HIGH RISK - 87', 'Scam suspected', 'Malicious approval'). Highly scalable, but unverifiable by the user.</a:t>
            </a:r>
            <a:endParaRPr lang="en-US" sz="950" dirty="0"/>
          </a:p>
          <a:p>
            <a:pPr marL="0" indent="0">
              <a:lnSpc>
                <a:spcPts val="1450"/>
              </a:lnSpc>
              <a:buNone/>
            </a:pPr>
            <a:r>
              <a:rPr lang="en-US" sz="950" dirty="0">
                <a:solidFill>
                  <a:srgbClr val="334155"/>
                </a:solidFill>
                <a:latin typeface="Segoe UI" pitchFamily="34" charset="0"/>
                <a:ea typeface="Segoe UI" pitchFamily="34" charset="-122"/>
                <a:cs typeface="Segoe UI" pitchFamily="34" charset="-120"/>
              </a:rPr>
              <a:t>• What Sentinel delivers: Complete decompression — explicit on-chain block/tx proofs, active allowance dollar exposure ($ at risk), proxy admin relationships, and clear demarcation between observed facts and risk inferences.</a:t>
            </a:r>
            <a:endParaRPr lang="en-US" sz="950" dirty="0"/>
          </a:p>
        </p:txBody>
      </p:sp>
      <p:sp>
        <p:nvSpPr>
          <p:cNvPr id="45" name="Shape 43"/>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46" name="Text 44"/>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47" name="Text 45"/>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03 of 16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3470148" cy="256032"/>
          </a:xfrm>
          <a:prstGeom prst="roundRect">
            <a:avLst>
              <a:gd name="adj" fmla="val 50000"/>
            </a:avLst>
          </a:prstGeom>
          <a:solidFill>
            <a:srgbClr val="ECFDF5"/>
          </a:solidFill>
          <a:ln w="12700">
            <a:solidFill>
              <a:srgbClr val="A7F3D0"/>
            </a:solidFill>
            <a:prstDash val="solid"/>
          </a:ln>
        </p:spPr>
        <p:txBody>
          <a:bodyPr/>
          <a:lstStyle/>
          <a:p>
            <a:endParaRPr lang="en-US"/>
          </a:p>
        </p:txBody>
      </p:sp>
      <p:sp>
        <p:nvSpPr>
          <p:cNvPr id="3" name="Text 1"/>
          <p:cNvSpPr/>
          <p:nvPr/>
        </p:nvSpPr>
        <p:spPr>
          <a:xfrm>
            <a:off x="731520" y="384048"/>
            <a:ext cx="3470148" cy="256032"/>
          </a:xfrm>
          <a:prstGeom prst="rect">
            <a:avLst/>
          </a:prstGeom>
          <a:noFill/>
          <a:ln/>
        </p:spPr>
        <p:txBody>
          <a:bodyPr wrap="square" lIns="0" tIns="0" rIns="0" bIns="0" rtlCol="0" anchor="ctr"/>
          <a:lstStyle/>
          <a:p>
            <a:pPr marL="0" indent="0" algn="ctr">
              <a:buNone/>
            </a:pPr>
            <a:r>
              <a:rPr lang="en-US" sz="850" b="1" dirty="0">
                <a:solidFill>
                  <a:srgbClr val="065F46"/>
                </a:solidFill>
                <a:latin typeface="Segoe UI" pitchFamily="34" charset="0"/>
                <a:ea typeface="Segoe UI" pitchFamily="34" charset="-122"/>
                <a:cs typeface="Segoe UI" pitchFamily="34" charset="-120"/>
              </a:rPr>
              <a:t>METHODOLOGY // CONFIDENCE CLASSES</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Evidence trail: never turn an inference into a fact</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Every claim carries cryptographic provenance. Scores compress and hide; confidence classes expose and empower.</a:t>
            </a:r>
            <a:endParaRPr lang="en-US" sz="1150" dirty="0"/>
          </a:p>
        </p:txBody>
      </p:sp>
      <p:sp>
        <p:nvSpPr>
          <p:cNvPr id="6" name="Shape 4"/>
          <p:cNvSpPr/>
          <p:nvPr/>
        </p:nvSpPr>
        <p:spPr>
          <a:xfrm>
            <a:off x="731520" y="1691640"/>
            <a:ext cx="5669280" cy="4480560"/>
          </a:xfrm>
          <a:prstGeom prst="roundRect">
            <a:avLst>
              <a:gd name="adj" fmla="val 1633"/>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749808" y="1709928"/>
            <a:ext cx="5632704" cy="45720"/>
          </a:xfrm>
          <a:prstGeom prst="roundRect">
            <a:avLst>
              <a:gd name="adj" fmla="val 40000"/>
            </a:avLst>
          </a:prstGeom>
          <a:solidFill>
            <a:srgbClr val="10B981"/>
          </a:solidFill>
          <a:ln w="12700">
            <a:solidFill>
              <a:srgbClr val="10B981"/>
            </a:solidFill>
            <a:prstDash val="solid"/>
          </a:ln>
        </p:spPr>
        <p:txBody>
          <a:bodyPr/>
          <a:lstStyle/>
          <a:p>
            <a:endParaRPr lang="en-US"/>
          </a:p>
        </p:txBody>
      </p:sp>
      <p:sp>
        <p:nvSpPr>
          <p:cNvPr id="8" name="Shape 6"/>
          <p:cNvSpPr/>
          <p:nvPr/>
        </p:nvSpPr>
        <p:spPr>
          <a:xfrm>
            <a:off x="731520" y="1691640"/>
            <a:ext cx="5669280" cy="347472"/>
          </a:xfrm>
          <a:prstGeom prst="rect">
            <a:avLst/>
          </a:prstGeom>
          <a:solidFill>
            <a:srgbClr val="F1F5F9"/>
          </a:solidFill>
          <a:ln w="12700">
            <a:solidFill>
              <a:srgbClr val="CBD5E1"/>
            </a:solidFill>
            <a:prstDash val="solid"/>
          </a:ln>
        </p:spPr>
        <p:txBody>
          <a:bodyPr/>
          <a:lstStyle/>
          <a:p>
            <a:endParaRPr lang="en-US"/>
          </a:p>
        </p:txBody>
      </p:sp>
      <p:sp>
        <p:nvSpPr>
          <p:cNvPr id="9" name="Shape 7"/>
          <p:cNvSpPr/>
          <p:nvPr/>
        </p:nvSpPr>
        <p:spPr>
          <a:xfrm>
            <a:off x="868680" y="1801368"/>
            <a:ext cx="128016" cy="128016"/>
          </a:xfrm>
          <a:prstGeom prst="ellipse">
            <a:avLst/>
          </a:prstGeom>
          <a:solidFill>
            <a:srgbClr val="FCA5A5"/>
          </a:solidFill>
          <a:ln w="12700">
            <a:solidFill>
              <a:srgbClr val="F87171"/>
            </a:solidFill>
            <a:prstDash val="solid"/>
          </a:ln>
        </p:spPr>
        <p:txBody>
          <a:bodyPr/>
          <a:lstStyle/>
          <a:p>
            <a:endParaRPr lang="en-US"/>
          </a:p>
        </p:txBody>
      </p:sp>
      <p:sp>
        <p:nvSpPr>
          <p:cNvPr id="10" name="Shape 8"/>
          <p:cNvSpPr/>
          <p:nvPr/>
        </p:nvSpPr>
        <p:spPr>
          <a:xfrm>
            <a:off x="1051560" y="1801368"/>
            <a:ext cx="128016" cy="128016"/>
          </a:xfrm>
          <a:prstGeom prst="ellipse">
            <a:avLst/>
          </a:prstGeom>
          <a:solidFill>
            <a:srgbClr val="FDE68A"/>
          </a:solidFill>
          <a:ln w="12700">
            <a:solidFill>
              <a:srgbClr val="FBBF24"/>
            </a:solidFill>
            <a:prstDash val="solid"/>
          </a:ln>
        </p:spPr>
        <p:txBody>
          <a:bodyPr/>
          <a:lstStyle/>
          <a:p>
            <a:endParaRPr lang="en-US"/>
          </a:p>
        </p:txBody>
      </p:sp>
      <p:sp>
        <p:nvSpPr>
          <p:cNvPr id="11" name="Shape 9"/>
          <p:cNvSpPr/>
          <p:nvPr/>
        </p:nvSpPr>
        <p:spPr>
          <a:xfrm>
            <a:off x="1234440" y="1801368"/>
            <a:ext cx="128016" cy="128016"/>
          </a:xfrm>
          <a:prstGeom prst="ellipse">
            <a:avLst/>
          </a:prstGeom>
          <a:solidFill>
            <a:srgbClr val="A7F3D0"/>
          </a:solidFill>
          <a:ln w="12700">
            <a:solidFill>
              <a:srgbClr val="34D399"/>
            </a:solidFill>
            <a:prstDash val="solid"/>
          </a:ln>
        </p:spPr>
        <p:txBody>
          <a:bodyPr/>
          <a:lstStyle/>
          <a:p>
            <a:endParaRPr lang="en-US"/>
          </a:p>
        </p:txBody>
      </p:sp>
      <p:sp>
        <p:nvSpPr>
          <p:cNvPr id="12" name="Text 10"/>
          <p:cNvSpPr/>
          <p:nvPr/>
        </p:nvSpPr>
        <p:spPr>
          <a:xfrm>
            <a:off x="1508760" y="1764792"/>
            <a:ext cx="4572000" cy="219456"/>
          </a:xfrm>
          <a:prstGeom prst="rect">
            <a:avLst/>
          </a:prstGeom>
          <a:noFill/>
          <a:ln/>
        </p:spPr>
        <p:txBody>
          <a:bodyPr wrap="square" lIns="0" tIns="0" rIns="0" bIns="0" rtlCol="0" anchor="ctr"/>
          <a:lstStyle/>
          <a:p>
            <a:pPr marL="0" indent="0">
              <a:buNone/>
            </a:pPr>
            <a:r>
              <a:rPr lang="en-US" sz="850" b="1" dirty="0">
                <a:solidFill>
                  <a:srgbClr val="64748B"/>
                </a:solidFill>
                <a:latin typeface="Consolas" pitchFamily="34" charset="0"/>
                <a:ea typeface="Consolas" pitchFamily="34" charset="-122"/>
                <a:cs typeface="Consolas" pitchFamily="34" charset="-120"/>
              </a:rPr>
              <a:t>EVIDENCE RECONSTRUCTION LOG  //  INCIDENT REF: #EV-2026-9842</a:t>
            </a:r>
            <a:endParaRPr lang="en-US" sz="850" dirty="0"/>
          </a:p>
        </p:txBody>
      </p:sp>
      <p:sp>
        <p:nvSpPr>
          <p:cNvPr id="13" name="Text 11"/>
          <p:cNvSpPr/>
          <p:nvPr/>
        </p:nvSpPr>
        <p:spPr>
          <a:xfrm>
            <a:off x="914400" y="2130552"/>
            <a:ext cx="5303520" cy="475488"/>
          </a:xfrm>
          <a:prstGeom prst="rect">
            <a:avLst/>
          </a:prstGeom>
          <a:noFill/>
          <a:ln/>
        </p:spPr>
        <p:txBody>
          <a:bodyPr wrap="square" lIns="0" tIns="0" rIns="0" bIns="0" rtlCol="0" anchor="t"/>
          <a:lstStyle/>
          <a:p>
            <a:pPr marL="0" indent="0">
              <a:lnSpc>
                <a:spcPts val="1100"/>
              </a:lnSpc>
              <a:buNone/>
            </a:pPr>
            <a:r>
              <a:rPr lang="en-US" sz="820" b="1" dirty="0">
                <a:solidFill>
                  <a:srgbClr val="065F46"/>
                </a:solidFill>
                <a:latin typeface="Consolas" pitchFamily="34" charset="0"/>
                <a:ea typeface="Consolas" pitchFamily="34" charset="-122"/>
                <a:cs typeface="Consolas" pitchFamily="34" charset="-120"/>
              </a:rPr>
              <a:t>[OBSERVED] </a:t>
            </a:r>
            <a:r>
              <a:rPr lang="en-US" sz="800" dirty="0">
                <a:solidFill>
                  <a:srgbClr val="334155"/>
                </a:solidFill>
                <a:latin typeface="Consolas" pitchFamily="34" charset="0"/>
                <a:ea typeface="Consolas" pitchFamily="34" charset="-122"/>
                <a:cs typeface="Consolas" pitchFamily="34" charset="-120"/>
              </a:rPr>
              <a:t>Wallet granted spender 0x7A21... unlimited USDC allowance.</a:t>
            </a:r>
            <a:endParaRPr lang="en-US" sz="820" dirty="0"/>
          </a:p>
          <a:p>
            <a:pPr marL="0" indent="0">
              <a:lnSpc>
                <a:spcPts val="1100"/>
              </a:lnSpc>
              <a:buNone/>
            </a:pPr>
            <a:r>
              <a:rPr lang="en-US" sz="800" dirty="0">
                <a:solidFill>
                  <a:srgbClr val="334155"/>
                </a:solidFill>
                <a:latin typeface="Consolas" pitchFamily="34" charset="0"/>
                <a:ea typeface="Consolas" pitchFamily="34" charset="-122"/>
                <a:cs typeface="Consolas" pitchFamily="34" charset="-120"/>
              </a:rPr>
              <a:t>Tx: 0x4e8b...91f4 | Block: #19,842,105 | Timestamp: 14h ago</a:t>
            </a:r>
            <a:endParaRPr lang="en-US" sz="820" dirty="0"/>
          </a:p>
        </p:txBody>
      </p:sp>
      <p:sp>
        <p:nvSpPr>
          <p:cNvPr id="14" name="Text 12"/>
          <p:cNvSpPr/>
          <p:nvPr/>
        </p:nvSpPr>
        <p:spPr>
          <a:xfrm>
            <a:off x="914400" y="2660904"/>
            <a:ext cx="5303520" cy="475488"/>
          </a:xfrm>
          <a:prstGeom prst="rect">
            <a:avLst/>
          </a:prstGeom>
          <a:noFill/>
          <a:ln/>
        </p:spPr>
        <p:txBody>
          <a:bodyPr wrap="square" lIns="0" tIns="0" rIns="0" bIns="0" rtlCol="0" anchor="t"/>
          <a:lstStyle/>
          <a:p>
            <a:pPr marL="0" indent="0">
              <a:lnSpc>
                <a:spcPts val="1100"/>
              </a:lnSpc>
              <a:buNone/>
            </a:pPr>
            <a:r>
              <a:rPr lang="en-US" sz="820" b="1" dirty="0">
                <a:solidFill>
                  <a:srgbClr val="065F46"/>
                </a:solidFill>
                <a:latin typeface="Consolas" pitchFamily="34" charset="0"/>
                <a:ea typeface="Consolas" pitchFamily="34" charset="-122"/>
                <a:cs typeface="Consolas" pitchFamily="34" charset="-120"/>
              </a:rPr>
              <a:t>[OBSERVED] </a:t>
            </a:r>
            <a:r>
              <a:rPr lang="en-US" sz="800" dirty="0">
                <a:solidFill>
                  <a:srgbClr val="334155"/>
                </a:solidFill>
                <a:latin typeface="Consolas" pitchFamily="34" charset="0"/>
                <a:ea typeface="Consolas" pitchFamily="34" charset="-122"/>
                <a:cs typeface="Consolas" pitchFamily="34" charset="-120"/>
              </a:rPr>
              <a:t>Allowance remains active in current ERC-20 state slot (no expiry).</a:t>
            </a:r>
            <a:endParaRPr lang="en-US" sz="820" dirty="0"/>
          </a:p>
          <a:p>
            <a:pPr marL="0" indent="0">
              <a:lnSpc>
                <a:spcPts val="1100"/>
              </a:lnSpc>
              <a:buNone/>
            </a:pPr>
            <a:r>
              <a:rPr lang="en-US" sz="800" dirty="0">
                <a:solidFill>
                  <a:srgbClr val="334155"/>
                </a:solidFill>
                <a:latin typeface="Consolas" pitchFamily="34" charset="0"/>
                <a:ea typeface="Consolas" pitchFamily="34" charset="-122"/>
                <a:cs typeface="Consolas" pitchFamily="34" charset="-120"/>
              </a:rPr>
              <a:t>Slot read verified at current block #19,843,219.</a:t>
            </a:r>
            <a:endParaRPr lang="en-US" sz="820" dirty="0"/>
          </a:p>
        </p:txBody>
      </p:sp>
      <p:sp>
        <p:nvSpPr>
          <p:cNvPr id="15" name="Text 13"/>
          <p:cNvSpPr/>
          <p:nvPr/>
        </p:nvSpPr>
        <p:spPr>
          <a:xfrm>
            <a:off x="914400" y="3191256"/>
            <a:ext cx="5303520" cy="475488"/>
          </a:xfrm>
          <a:prstGeom prst="rect">
            <a:avLst/>
          </a:prstGeom>
          <a:noFill/>
          <a:ln/>
        </p:spPr>
        <p:txBody>
          <a:bodyPr wrap="square" lIns="0" tIns="0" rIns="0" bIns="0" rtlCol="0" anchor="t"/>
          <a:lstStyle/>
          <a:p>
            <a:pPr marL="0" indent="0">
              <a:lnSpc>
                <a:spcPts val="1100"/>
              </a:lnSpc>
              <a:buNone/>
            </a:pPr>
            <a:r>
              <a:rPr lang="en-US" sz="820" b="1" dirty="0">
                <a:solidFill>
                  <a:srgbClr val="065F46"/>
                </a:solidFill>
                <a:latin typeface="Consolas" pitchFamily="34" charset="0"/>
                <a:ea typeface="Consolas" pitchFamily="34" charset="-122"/>
                <a:cs typeface="Consolas" pitchFamily="34" charset="-120"/>
              </a:rPr>
              <a:t>[OBSERVED] </a:t>
            </a:r>
            <a:r>
              <a:rPr lang="en-US" sz="800" dirty="0">
                <a:solidFill>
                  <a:srgbClr val="334155"/>
                </a:solidFill>
                <a:latin typeface="Consolas" pitchFamily="34" charset="0"/>
                <a:ea typeface="Consolas" pitchFamily="34" charset="-122"/>
                <a:cs typeface="Consolas" pitchFamily="34" charset="-120"/>
              </a:rPr>
              <a:t>Wallet currently holds $2,840.00 USDC in liquid balance.</a:t>
            </a:r>
            <a:endParaRPr lang="en-US" sz="820" dirty="0"/>
          </a:p>
          <a:p>
            <a:pPr marL="0" indent="0">
              <a:lnSpc>
                <a:spcPts val="1100"/>
              </a:lnSpc>
              <a:buNone/>
            </a:pPr>
            <a:r>
              <a:rPr lang="en-US" sz="800" dirty="0">
                <a:solidFill>
                  <a:srgbClr val="334155"/>
                </a:solidFill>
                <a:latin typeface="Consolas" pitchFamily="34" charset="0"/>
                <a:ea typeface="Consolas" pitchFamily="34" charset="-122"/>
                <a:cs typeface="Consolas" pitchFamily="34" charset="-120"/>
              </a:rPr>
              <a:t>Full balance is exposed to the spender address.</a:t>
            </a:r>
            <a:endParaRPr lang="en-US" sz="820" dirty="0"/>
          </a:p>
        </p:txBody>
      </p:sp>
      <p:sp>
        <p:nvSpPr>
          <p:cNvPr id="16" name="Text 14"/>
          <p:cNvSpPr/>
          <p:nvPr/>
        </p:nvSpPr>
        <p:spPr>
          <a:xfrm>
            <a:off x="914400" y="3721608"/>
            <a:ext cx="5303520" cy="475488"/>
          </a:xfrm>
          <a:prstGeom prst="rect">
            <a:avLst/>
          </a:prstGeom>
          <a:noFill/>
          <a:ln/>
        </p:spPr>
        <p:txBody>
          <a:bodyPr wrap="square" lIns="0" tIns="0" rIns="0" bIns="0" rtlCol="0" anchor="t"/>
          <a:lstStyle/>
          <a:p>
            <a:pPr marL="0" indent="0">
              <a:lnSpc>
                <a:spcPts val="1100"/>
              </a:lnSpc>
              <a:buNone/>
            </a:pPr>
            <a:r>
              <a:rPr lang="en-US" sz="820" b="1" dirty="0">
                <a:solidFill>
                  <a:srgbClr val="065F46"/>
                </a:solidFill>
                <a:latin typeface="Consolas" pitchFamily="34" charset="0"/>
                <a:ea typeface="Consolas" pitchFamily="34" charset="-122"/>
                <a:cs typeface="Consolas" pitchFamily="34" charset="-120"/>
              </a:rPr>
              <a:t>[OBSERVED] </a:t>
            </a:r>
            <a:r>
              <a:rPr lang="en-US" sz="800" dirty="0">
                <a:solidFill>
                  <a:srgbClr val="334155"/>
                </a:solidFill>
                <a:latin typeface="Consolas" pitchFamily="34" charset="0"/>
                <a:ea typeface="Consolas" pitchFamily="34" charset="-122"/>
                <a:cs typeface="Consolas" pitchFamily="34" charset="-120"/>
              </a:rPr>
              <a:t>Spender 0x7A21... is an ERC-1967 upgradeable proxy.</a:t>
            </a:r>
            <a:endParaRPr lang="en-US" sz="820" dirty="0"/>
          </a:p>
          <a:p>
            <a:pPr marL="0" indent="0">
              <a:lnSpc>
                <a:spcPts val="1100"/>
              </a:lnSpc>
              <a:buNone/>
            </a:pPr>
            <a:r>
              <a:rPr lang="en-US" sz="800" dirty="0">
                <a:solidFill>
                  <a:srgbClr val="334155"/>
                </a:solidFill>
                <a:latin typeface="Consolas" pitchFamily="34" charset="0"/>
                <a:ea typeface="Consolas" pitchFamily="34" charset="-122"/>
                <a:cs typeface="Consolas" pitchFamily="34" charset="-120"/>
              </a:rPr>
              <a:t>Implementation slot points to contract 0x91F4... (updated 48h ago).</a:t>
            </a:r>
            <a:endParaRPr lang="en-US" sz="820" dirty="0"/>
          </a:p>
        </p:txBody>
      </p:sp>
      <p:sp>
        <p:nvSpPr>
          <p:cNvPr id="17" name="Text 15"/>
          <p:cNvSpPr/>
          <p:nvPr/>
        </p:nvSpPr>
        <p:spPr>
          <a:xfrm>
            <a:off x="914400" y="4251960"/>
            <a:ext cx="5303520" cy="475488"/>
          </a:xfrm>
          <a:prstGeom prst="rect">
            <a:avLst/>
          </a:prstGeom>
          <a:noFill/>
          <a:ln/>
        </p:spPr>
        <p:txBody>
          <a:bodyPr wrap="square" lIns="0" tIns="0" rIns="0" bIns="0" rtlCol="0" anchor="t"/>
          <a:lstStyle/>
          <a:p>
            <a:pPr marL="0" indent="0">
              <a:lnSpc>
                <a:spcPts val="1100"/>
              </a:lnSpc>
              <a:buNone/>
            </a:pPr>
            <a:r>
              <a:rPr lang="en-US" sz="820" b="1" dirty="0">
                <a:solidFill>
                  <a:srgbClr val="065F46"/>
                </a:solidFill>
                <a:latin typeface="Consolas" pitchFamily="34" charset="0"/>
                <a:ea typeface="Consolas" pitchFamily="34" charset="-122"/>
                <a:cs typeface="Consolas" pitchFamily="34" charset="-120"/>
              </a:rPr>
              <a:t>[OBSERVED] </a:t>
            </a:r>
            <a:r>
              <a:rPr lang="en-US" sz="800" dirty="0">
                <a:solidFill>
                  <a:srgbClr val="334155"/>
                </a:solidFill>
                <a:latin typeface="Consolas" pitchFamily="34" charset="0"/>
                <a:ea typeface="Consolas" pitchFamily="34" charset="-122"/>
                <a:cs typeface="Consolas" pitchFamily="34" charset="-120"/>
              </a:rPr>
              <a:t>Proxy admin role is held by single EOA 0xABC9... (no timelock detected).</a:t>
            </a:r>
            <a:endParaRPr lang="en-US" sz="820" dirty="0"/>
          </a:p>
          <a:p>
            <a:pPr marL="0" indent="0">
              <a:lnSpc>
                <a:spcPts val="1100"/>
              </a:lnSpc>
              <a:buNone/>
            </a:pPr>
            <a:r>
              <a:rPr lang="en-US" sz="800" dirty="0">
                <a:solidFill>
                  <a:srgbClr val="334155"/>
                </a:solidFill>
                <a:latin typeface="Consolas" pitchFamily="34" charset="0"/>
                <a:ea typeface="Consolas" pitchFamily="34" charset="-122"/>
                <a:cs typeface="Consolas" pitchFamily="34" charset="-120"/>
              </a:rPr>
              <a:t>Admin transferred from multi-sig 48h ago.</a:t>
            </a:r>
            <a:endParaRPr lang="en-US" sz="820" dirty="0"/>
          </a:p>
        </p:txBody>
      </p:sp>
      <p:sp>
        <p:nvSpPr>
          <p:cNvPr id="18" name="Text 16"/>
          <p:cNvSpPr/>
          <p:nvPr/>
        </p:nvSpPr>
        <p:spPr>
          <a:xfrm>
            <a:off x="914400" y="4782312"/>
            <a:ext cx="5303520" cy="475488"/>
          </a:xfrm>
          <a:prstGeom prst="rect">
            <a:avLst/>
          </a:prstGeom>
          <a:noFill/>
          <a:ln/>
        </p:spPr>
        <p:txBody>
          <a:bodyPr wrap="square" lIns="0" tIns="0" rIns="0" bIns="0" rtlCol="0" anchor="t"/>
          <a:lstStyle/>
          <a:p>
            <a:pPr marL="0" indent="0">
              <a:lnSpc>
                <a:spcPts val="1100"/>
              </a:lnSpc>
              <a:buNone/>
            </a:pPr>
            <a:r>
              <a:rPr lang="en-US" sz="820" b="1" dirty="0">
                <a:solidFill>
                  <a:srgbClr val="92400E"/>
                </a:solidFill>
                <a:latin typeface="Consolas" pitchFamily="34" charset="0"/>
                <a:ea typeface="Consolas" pitchFamily="34" charset="-122"/>
                <a:cs typeface="Consolas" pitchFamily="34" charset="-120"/>
              </a:rPr>
              <a:t>[INFERRED] </a:t>
            </a:r>
            <a:r>
              <a:rPr lang="en-US" sz="800" dirty="0">
                <a:solidFill>
                  <a:srgbClr val="334155"/>
                </a:solidFill>
                <a:latin typeface="Consolas" pitchFamily="34" charset="0"/>
                <a:ea typeface="Consolas" pitchFamily="34" charset="-122"/>
                <a:cs typeface="Consolas" pitchFamily="34" charset="-120"/>
              </a:rPr>
              <a:t>The approved contract may potentially affect the wallet's current</a:t>
            </a:r>
            <a:endParaRPr lang="en-US" sz="820" dirty="0"/>
          </a:p>
          <a:p>
            <a:pPr marL="0" indent="0">
              <a:lnSpc>
                <a:spcPts val="1100"/>
              </a:lnSpc>
              <a:buNone/>
            </a:pPr>
            <a:r>
              <a:rPr lang="en-US" sz="800" dirty="0">
                <a:solidFill>
                  <a:srgbClr val="334155"/>
                </a:solidFill>
                <a:latin typeface="Consolas" pitchFamily="34" charset="0"/>
                <a:ea typeface="Consolas" pitchFamily="34" charset="-122"/>
                <a:cs typeface="Consolas" pitchFamily="34" charset="-120"/>
              </a:rPr>
              <a:t>$2,840 USDC balance if implementation logic mutates.</a:t>
            </a:r>
            <a:endParaRPr lang="en-US" sz="820" dirty="0"/>
          </a:p>
        </p:txBody>
      </p:sp>
      <p:sp>
        <p:nvSpPr>
          <p:cNvPr id="19" name="Text 17"/>
          <p:cNvSpPr/>
          <p:nvPr/>
        </p:nvSpPr>
        <p:spPr>
          <a:xfrm>
            <a:off x="914400" y="5312664"/>
            <a:ext cx="5303520" cy="475488"/>
          </a:xfrm>
          <a:prstGeom prst="rect">
            <a:avLst/>
          </a:prstGeom>
          <a:noFill/>
          <a:ln/>
        </p:spPr>
        <p:txBody>
          <a:bodyPr wrap="square" lIns="0" tIns="0" rIns="0" bIns="0" rtlCol="0" anchor="t"/>
          <a:lstStyle/>
          <a:p>
            <a:pPr marL="0" indent="0">
              <a:lnSpc>
                <a:spcPts val="1100"/>
              </a:lnSpc>
              <a:buNone/>
            </a:pPr>
            <a:r>
              <a:rPr lang="en-US" sz="820" b="1" dirty="0">
                <a:solidFill>
                  <a:srgbClr val="475569"/>
                </a:solidFill>
                <a:latin typeface="Consolas" pitchFamily="34" charset="0"/>
                <a:ea typeface="Consolas" pitchFamily="34" charset="-122"/>
                <a:cs typeface="Consolas" pitchFamily="34" charset="-120"/>
              </a:rPr>
              <a:t>[UNKNOWN] </a:t>
            </a:r>
            <a:r>
              <a:rPr lang="en-US" sz="800" dirty="0">
                <a:solidFill>
                  <a:srgbClr val="334155"/>
                </a:solidFill>
                <a:latin typeface="Consolas" pitchFamily="34" charset="0"/>
                <a:ea typeface="Consolas" pitchFamily="34" charset="-122"/>
                <a:cs typeface="Consolas" pitchFamily="34" charset="-120"/>
              </a:rPr>
              <a:t>Blockchain evidence does not establish whether address 0xABC9...</a:t>
            </a:r>
            <a:endParaRPr lang="en-US" sz="820" dirty="0"/>
          </a:p>
          <a:p>
            <a:pPr marL="0" indent="0">
              <a:lnSpc>
                <a:spcPts val="1100"/>
              </a:lnSpc>
              <a:buNone/>
            </a:pPr>
            <a:r>
              <a:rPr lang="en-US" sz="800" dirty="0">
                <a:solidFill>
                  <a:srgbClr val="334155"/>
                </a:solidFill>
                <a:latin typeface="Consolas" pitchFamily="34" charset="0"/>
                <a:ea typeface="Consolas" pitchFamily="34" charset="-122"/>
                <a:cs typeface="Consolas" pitchFamily="34" charset="-120"/>
              </a:rPr>
              <a:t>intends to execute a malicious upgrade or legitimate migration.</a:t>
            </a:r>
            <a:endParaRPr lang="en-US" sz="820" dirty="0"/>
          </a:p>
        </p:txBody>
      </p:sp>
      <p:sp>
        <p:nvSpPr>
          <p:cNvPr id="20" name="Shape 18"/>
          <p:cNvSpPr/>
          <p:nvPr/>
        </p:nvSpPr>
        <p:spPr>
          <a:xfrm>
            <a:off x="6629400" y="1691640"/>
            <a:ext cx="4800600" cy="1417320"/>
          </a:xfrm>
          <a:prstGeom prst="roundRect">
            <a:avLst>
              <a:gd name="adj" fmla="val 5161"/>
            </a:avLst>
          </a:prstGeom>
          <a:solidFill>
            <a:srgbClr val="FFFFFF"/>
          </a:solidFill>
          <a:ln w="12700">
            <a:solidFill>
              <a:srgbClr val="E2E8F0"/>
            </a:solidFill>
            <a:prstDash val="solid"/>
          </a:ln>
        </p:spPr>
        <p:txBody>
          <a:bodyPr/>
          <a:lstStyle/>
          <a:p>
            <a:endParaRPr lang="en-US"/>
          </a:p>
        </p:txBody>
      </p:sp>
      <p:sp>
        <p:nvSpPr>
          <p:cNvPr id="21" name="Shape 19"/>
          <p:cNvSpPr/>
          <p:nvPr/>
        </p:nvSpPr>
        <p:spPr>
          <a:xfrm>
            <a:off x="6647688" y="1709928"/>
            <a:ext cx="4764024" cy="45720"/>
          </a:xfrm>
          <a:prstGeom prst="roundRect">
            <a:avLst>
              <a:gd name="adj" fmla="val 40000"/>
            </a:avLst>
          </a:prstGeom>
          <a:solidFill>
            <a:srgbClr val="10B981"/>
          </a:solidFill>
          <a:ln w="12700">
            <a:solidFill>
              <a:srgbClr val="10B981"/>
            </a:solidFill>
            <a:prstDash val="solid"/>
          </a:ln>
        </p:spPr>
        <p:txBody>
          <a:bodyPr/>
          <a:lstStyle/>
          <a:p>
            <a:endParaRPr lang="en-US"/>
          </a:p>
        </p:txBody>
      </p:sp>
      <p:sp>
        <p:nvSpPr>
          <p:cNvPr id="22" name="Shape 20"/>
          <p:cNvSpPr/>
          <p:nvPr/>
        </p:nvSpPr>
        <p:spPr>
          <a:xfrm>
            <a:off x="6830568" y="1856232"/>
            <a:ext cx="969264" cy="219456"/>
          </a:xfrm>
          <a:prstGeom prst="roundRect">
            <a:avLst>
              <a:gd name="adj" fmla="val 50000"/>
            </a:avLst>
          </a:prstGeom>
          <a:solidFill>
            <a:srgbClr val="ECFDF5"/>
          </a:solidFill>
          <a:ln w="10160">
            <a:solidFill>
              <a:srgbClr val="A7F3D0"/>
            </a:solidFill>
            <a:prstDash val="solid"/>
          </a:ln>
        </p:spPr>
        <p:txBody>
          <a:bodyPr/>
          <a:lstStyle/>
          <a:p>
            <a:endParaRPr lang="en-US"/>
          </a:p>
        </p:txBody>
      </p:sp>
      <p:sp>
        <p:nvSpPr>
          <p:cNvPr id="23" name="Text 21"/>
          <p:cNvSpPr/>
          <p:nvPr/>
        </p:nvSpPr>
        <p:spPr>
          <a:xfrm>
            <a:off x="6830568" y="1856232"/>
            <a:ext cx="969264" cy="219456"/>
          </a:xfrm>
          <a:prstGeom prst="rect">
            <a:avLst/>
          </a:prstGeom>
          <a:noFill/>
          <a:ln/>
        </p:spPr>
        <p:txBody>
          <a:bodyPr wrap="square" lIns="0" tIns="0" rIns="0" bIns="0" rtlCol="0" anchor="ctr"/>
          <a:lstStyle/>
          <a:p>
            <a:pPr marL="0" indent="0" algn="ctr">
              <a:buNone/>
            </a:pPr>
            <a:r>
              <a:rPr lang="en-US" sz="800" b="1" dirty="0">
                <a:solidFill>
                  <a:srgbClr val="065F46"/>
                </a:solidFill>
                <a:latin typeface="Segoe UI" pitchFamily="34" charset="0"/>
                <a:ea typeface="Segoe UI" pitchFamily="34" charset="-122"/>
                <a:cs typeface="Segoe UI" pitchFamily="34" charset="-120"/>
              </a:rPr>
              <a:t>OBSERVED</a:t>
            </a:r>
            <a:endParaRPr lang="en-US" sz="800" dirty="0"/>
          </a:p>
        </p:txBody>
      </p:sp>
      <p:sp>
        <p:nvSpPr>
          <p:cNvPr id="24" name="Text 22"/>
          <p:cNvSpPr/>
          <p:nvPr/>
        </p:nvSpPr>
        <p:spPr>
          <a:xfrm>
            <a:off x="7955280" y="1856232"/>
            <a:ext cx="3291840" cy="237744"/>
          </a:xfrm>
          <a:prstGeom prst="rect">
            <a:avLst/>
          </a:prstGeom>
          <a:noFill/>
          <a:ln/>
        </p:spPr>
        <p:txBody>
          <a:bodyPr wrap="square" lIns="0" tIns="0" rIns="0" bIns="0"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Directly Verifiable On-Chain Fact</a:t>
            </a:r>
            <a:endParaRPr lang="en-US" sz="1100" dirty="0"/>
          </a:p>
        </p:txBody>
      </p:sp>
      <p:sp>
        <p:nvSpPr>
          <p:cNvPr id="25" name="Text 23"/>
          <p:cNvSpPr/>
          <p:nvPr/>
        </p:nvSpPr>
        <p:spPr>
          <a:xfrm>
            <a:off x="6830568" y="2148840"/>
            <a:ext cx="4398264" cy="54864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A mathematical certainty recorded in state, event logs, or bytecode. Anyone running a standard RPC node can re-verify the exact claim at the cited transaction hash and block number.</a:t>
            </a:r>
            <a:endParaRPr lang="en-US" sz="880" dirty="0"/>
          </a:p>
        </p:txBody>
      </p:sp>
      <p:sp>
        <p:nvSpPr>
          <p:cNvPr id="26" name="Text 24"/>
          <p:cNvSpPr/>
          <p:nvPr/>
        </p:nvSpPr>
        <p:spPr>
          <a:xfrm>
            <a:off x="6830568" y="2743200"/>
            <a:ext cx="4398264" cy="256032"/>
          </a:xfrm>
          <a:prstGeom prst="rect">
            <a:avLst/>
          </a:prstGeom>
          <a:noFill/>
          <a:ln/>
        </p:spPr>
        <p:txBody>
          <a:bodyPr wrap="square" lIns="0" tIns="0" rIns="0" bIns="0" rtlCol="0" anchor="ctr"/>
          <a:lstStyle/>
          <a:p>
            <a:pPr marL="0" indent="0">
              <a:buNone/>
            </a:pPr>
            <a:r>
              <a:rPr lang="en-US" sz="820" b="1" i="1" dirty="0">
                <a:solidFill>
                  <a:srgbClr val="10B981"/>
                </a:solidFill>
                <a:latin typeface="Segoe UI" pitchFamily="34" charset="0"/>
                <a:ea typeface="Segoe UI" pitchFamily="34" charset="-122"/>
                <a:cs typeface="Segoe UI" pitchFamily="34" charset="-120"/>
              </a:rPr>
              <a:t>Rule: Never claims intent or future behavior; only cites verifiable history.</a:t>
            </a:r>
            <a:endParaRPr lang="en-US" sz="820" dirty="0"/>
          </a:p>
        </p:txBody>
      </p:sp>
      <p:sp>
        <p:nvSpPr>
          <p:cNvPr id="27" name="Shape 25"/>
          <p:cNvSpPr/>
          <p:nvPr/>
        </p:nvSpPr>
        <p:spPr>
          <a:xfrm>
            <a:off x="6629400" y="3227832"/>
            <a:ext cx="4800600" cy="1417320"/>
          </a:xfrm>
          <a:prstGeom prst="roundRect">
            <a:avLst>
              <a:gd name="adj" fmla="val 5161"/>
            </a:avLst>
          </a:prstGeom>
          <a:solidFill>
            <a:srgbClr val="FFFFFF"/>
          </a:solidFill>
          <a:ln w="12700">
            <a:solidFill>
              <a:srgbClr val="E2E8F0"/>
            </a:solidFill>
            <a:prstDash val="solid"/>
          </a:ln>
        </p:spPr>
        <p:txBody>
          <a:bodyPr/>
          <a:lstStyle/>
          <a:p>
            <a:endParaRPr lang="en-US"/>
          </a:p>
        </p:txBody>
      </p:sp>
      <p:sp>
        <p:nvSpPr>
          <p:cNvPr id="28" name="Shape 26"/>
          <p:cNvSpPr/>
          <p:nvPr/>
        </p:nvSpPr>
        <p:spPr>
          <a:xfrm>
            <a:off x="6647688" y="3246120"/>
            <a:ext cx="4764024" cy="45720"/>
          </a:xfrm>
          <a:prstGeom prst="roundRect">
            <a:avLst>
              <a:gd name="adj" fmla="val 40000"/>
            </a:avLst>
          </a:prstGeom>
          <a:solidFill>
            <a:srgbClr val="F59E0B"/>
          </a:solidFill>
          <a:ln w="12700">
            <a:solidFill>
              <a:srgbClr val="F59E0B"/>
            </a:solidFill>
            <a:prstDash val="solid"/>
          </a:ln>
        </p:spPr>
        <p:txBody>
          <a:bodyPr/>
          <a:lstStyle/>
          <a:p>
            <a:endParaRPr lang="en-US"/>
          </a:p>
        </p:txBody>
      </p:sp>
      <p:sp>
        <p:nvSpPr>
          <p:cNvPr id="29" name="Shape 27"/>
          <p:cNvSpPr/>
          <p:nvPr/>
        </p:nvSpPr>
        <p:spPr>
          <a:xfrm>
            <a:off x="6830568" y="3392424"/>
            <a:ext cx="969264" cy="219456"/>
          </a:xfrm>
          <a:prstGeom prst="roundRect">
            <a:avLst>
              <a:gd name="adj" fmla="val 50000"/>
            </a:avLst>
          </a:prstGeom>
          <a:solidFill>
            <a:srgbClr val="FFFBEB"/>
          </a:solidFill>
          <a:ln w="10160">
            <a:solidFill>
              <a:srgbClr val="FDE68A"/>
            </a:solidFill>
            <a:prstDash val="solid"/>
          </a:ln>
        </p:spPr>
        <p:txBody>
          <a:bodyPr/>
          <a:lstStyle/>
          <a:p>
            <a:endParaRPr lang="en-US"/>
          </a:p>
        </p:txBody>
      </p:sp>
      <p:sp>
        <p:nvSpPr>
          <p:cNvPr id="30" name="Text 28"/>
          <p:cNvSpPr/>
          <p:nvPr/>
        </p:nvSpPr>
        <p:spPr>
          <a:xfrm>
            <a:off x="6830568" y="3392424"/>
            <a:ext cx="969264" cy="219456"/>
          </a:xfrm>
          <a:prstGeom prst="rect">
            <a:avLst/>
          </a:prstGeom>
          <a:noFill/>
          <a:ln/>
        </p:spPr>
        <p:txBody>
          <a:bodyPr wrap="square" lIns="0" tIns="0" rIns="0" bIns="0" rtlCol="0" anchor="ctr"/>
          <a:lstStyle/>
          <a:p>
            <a:pPr marL="0" indent="0" algn="ctr">
              <a:buNone/>
            </a:pPr>
            <a:r>
              <a:rPr lang="en-US" sz="800" b="1" dirty="0">
                <a:solidFill>
                  <a:srgbClr val="92400E"/>
                </a:solidFill>
                <a:latin typeface="Segoe UI" pitchFamily="34" charset="0"/>
                <a:ea typeface="Segoe UI" pitchFamily="34" charset="-122"/>
                <a:cs typeface="Segoe UI" pitchFamily="34" charset="-120"/>
              </a:rPr>
              <a:t>INFERRED</a:t>
            </a:r>
            <a:endParaRPr lang="en-US" sz="800" dirty="0"/>
          </a:p>
        </p:txBody>
      </p:sp>
      <p:sp>
        <p:nvSpPr>
          <p:cNvPr id="31" name="Text 29"/>
          <p:cNvSpPr/>
          <p:nvPr/>
        </p:nvSpPr>
        <p:spPr>
          <a:xfrm>
            <a:off x="7955280" y="3392424"/>
            <a:ext cx="3291840" cy="237744"/>
          </a:xfrm>
          <a:prstGeom prst="rect">
            <a:avLst/>
          </a:prstGeom>
          <a:noFill/>
          <a:ln/>
        </p:spPr>
        <p:txBody>
          <a:bodyPr wrap="square" lIns="0" tIns="0" rIns="0" bIns="0"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Logically Derived Risk Hypothesis</a:t>
            </a:r>
            <a:endParaRPr lang="en-US" sz="1100" dirty="0"/>
          </a:p>
        </p:txBody>
      </p:sp>
      <p:sp>
        <p:nvSpPr>
          <p:cNvPr id="32" name="Text 30"/>
          <p:cNvSpPr/>
          <p:nvPr/>
        </p:nvSpPr>
        <p:spPr>
          <a:xfrm>
            <a:off x="6830568" y="3685032"/>
            <a:ext cx="4398264" cy="54864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A deduction derived systematically from observed facts (e.g. active unlimited allowance + upgradeable proxy without timelock = dollar exposure). Stated strictly as exposure, never as a definitive verdict of maliciousness.</a:t>
            </a:r>
            <a:endParaRPr lang="en-US" sz="880" dirty="0"/>
          </a:p>
        </p:txBody>
      </p:sp>
      <p:sp>
        <p:nvSpPr>
          <p:cNvPr id="33" name="Text 31"/>
          <p:cNvSpPr/>
          <p:nvPr/>
        </p:nvSpPr>
        <p:spPr>
          <a:xfrm>
            <a:off x="6830568" y="4279392"/>
            <a:ext cx="4398264" cy="256032"/>
          </a:xfrm>
          <a:prstGeom prst="rect">
            <a:avLst/>
          </a:prstGeom>
          <a:noFill/>
          <a:ln/>
        </p:spPr>
        <p:txBody>
          <a:bodyPr wrap="square" lIns="0" tIns="0" rIns="0" bIns="0" rtlCol="0" anchor="ctr"/>
          <a:lstStyle/>
          <a:p>
            <a:pPr marL="0" indent="0">
              <a:buNone/>
            </a:pPr>
            <a:r>
              <a:rPr lang="en-US" sz="820" b="1" i="1" dirty="0">
                <a:solidFill>
                  <a:srgbClr val="F59E0B"/>
                </a:solidFill>
                <a:latin typeface="Segoe UI" pitchFamily="34" charset="0"/>
                <a:ea typeface="Segoe UI" pitchFamily="34" charset="-122"/>
                <a:cs typeface="Segoe UI" pitchFamily="34" charset="-120"/>
              </a:rPr>
              <a:t>Rule: Must cite all antecedent OBSERVED facts that produced the inference.</a:t>
            </a:r>
            <a:endParaRPr lang="en-US" sz="820" dirty="0"/>
          </a:p>
        </p:txBody>
      </p:sp>
      <p:sp>
        <p:nvSpPr>
          <p:cNvPr id="34" name="Shape 32"/>
          <p:cNvSpPr/>
          <p:nvPr/>
        </p:nvSpPr>
        <p:spPr>
          <a:xfrm>
            <a:off x="6629400" y="4764024"/>
            <a:ext cx="4800600" cy="1417320"/>
          </a:xfrm>
          <a:prstGeom prst="roundRect">
            <a:avLst>
              <a:gd name="adj" fmla="val 5161"/>
            </a:avLst>
          </a:prstGeom>
          <a:solidFill>
            <a:srgbClr val="FFFFFF"/>
          </a:solidFill>
          <a:ln w="12700">
            <a:solidFill>
              <a:srgbClr val="E2E8F0"/>
            </a:solidFill>
            <a:prstDash val="solid"/>
          </a:ln>
        </p:spPr>
        <p:txBody>
          <a:bodyPr/>
          <a:lstStyle/>
          <a:p>
            <a:endParaRPr lang="en-US"/>
          </a:p>
        </p:txBody>
      </p:sp>
      <p:sp>
        <p:nvSpPr>
          <p:cNvPr id="35" name="Shape 33"/>
          <p:cNvSpPr/>
          <p:nvPr/>
        </p:nvSpPr>
        <p:spPr>
          <a:xfrm>
            <a:off x="6647688" y="4782312"/>
            <a:ext cx="4764024" cy="45720"/>
          </a:xfrm>
          <a:prstGeom prst="roundRect">
            <a:avLst>
              <a:gd name="adj" fmla="val 40000"/>
            </a:avLst>
          </a:prstGeom>
          <a:solidFill>
            <a:srgbClr val="64748B"/>
          </a:solidFill>
          <a:ln w="12700">
            <a:solidFill>
              <a:srgbClr val="64748B"/>
            </a:solidFill>
            <a:prstDash val="solid"/>
          </a:ln>
        </p:spPr>
        <p:txBody>
          <a:bodyPr/>
          <a:lstStyle/>
          <a:p>
            <a:endParaRPr lang="en-US"/>
          </a:p>
        </p:txBody>
      </p:sp>
      <p:sp>
        <p:nvSpPr>
          <p:cNvPr id="36" name="Shape 34"/>
          <p:cNvSpPr/>
          <p:nvPr/>
        </p:nvSpPr>
        <p:spPr>
          <a:xfrm>
            <a:off x="6830568" y="4928616"/>
            <a:ext cx="914400" cy="219456"/>
          </a:xfrm>
          <a:prstGeom prst="roundRect">
            <a:avLst>
              <a:gd name="adj" fmla="val 50000"/>
            </a:avLst>
          </a:prstGeom>
          <a:solidFill>
            <a:srgbClr val="F1F5F9"/>
          </a:solidFill>
          <a:ln w="10160">
            <a:solidFill>
              <a:srgbClr val="CBD5E1"/>
            </a:solidFill>
            <a:prstDash val="solid"/>
          </a:ln>
        </p:spPr>
        <p:txBody>
          <a:bodyPr/>
          <a:lstStyle/>
          <a:p>
            <a:endParaRPr lang="en-US"/>
          </a:p>
        </p:txBody>
      </p:sp>
      <p:sp>
        <p:nvSpPr>
          <p:cNvPr id="37" name="Text 35"/>
          <p:cNvSpPr/>
          <p:nvPr/>
        </p:nvSpPr>
        <p:spPr>
          <a:xfrm>
            <a:off x="6830568" y="4928616"/>
            <a:ext cx="914400" cy="219456"/>
          </a:xfrm>
          <a:prstGeom prst="rect">
            <a:avLst/>
          </a:prstGeom>
          <a:noFill/>
          <a:ln/>
        </p:spPr>
        <p:txBody>
          <a:bodyPr wrap="square" lIns="0" tIns="0" rIns="0" bIns="0" rtlCol="0" anchor="ctr"/>
          <a:lstStyle/>
          <a:p>
            <a:pPr marL="0" indent="0" algn="ctr">
              <a:buNone/>
            </a:pPr>
            <a:r>
              <a:rPr lang="en-US" sz="800" b="1" dirty="0">
                <a:solidFill>
                  <a:srgbClr val="475569"/>
                </a:solidFill>
                <a:latin typeface="Segoe UI" pitchFamily="34" charset="0"/>
                <a:ea typeface="Segoe UI" pitchFamily="34" charset="-122"/>
                <a:cs typeface="Segoe UI" pitchFamily="34" charset="-120"/>
              </a:rPr>
              <a:t>UNKNOWN</a:t>
            </a:r>
            <a:endParaRPr lang="en-US" sz="800" dirty="0"/>
          </a:p>
        </p:txBody>
      </p:sp>
      <p:sp>
        <p:nvSpPr>
          <p:cNvPr id="38" name="Text 36"/>
          <p:cNvSpPr/>
          <p:nvPr/>
        </p:nvSpPr>
        <p:spPr>
          <a:xfrm>
            <a:off x="7955280" y="4928616"/>
            <a:ext cx="3291840" cy="237744"/>
          </a:xfrm>
          <a:prstGeom prst="rect">
            <a:avLst/>
          </a:prstGeom>
          <a:noFill/>
          <a:ln/>
        </p:spPr>
        <p:txBody>
          <a:bodyPr wrap="square" lIns="0" tIns="0" rIns="0" bIns="0"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Explicit Boundary of Knowledge</a:t>
            </a:r>
            <a:endParaRPr lang="en-US" sz="1100" dirty="0"/>
          </a:p>
        </p:txBody>
      </p:sp>
      <p:sp>
        <p:nvSpPr>
          <p:cNvPr id="39" name="Text 37"/>
          <p:cNvSpPr/>
          <p:nvPr/>
        </p:nvSpPr>
        <p:spPr>
          <a:xfrm>
            <a:off x="6830568" y="5221224"/>
            <a:ext cx="4398264" cy="54864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Parameters that cannot be established from on-chain data alone — including human intent, off-chain identity, private communications, or undisclosed zero-day bugs. Explicitly named rather than silently guessed.</a:t>
            </a:r>
            <a:endParaRPr lang="en-US" sz="880" dirty="0"/>
          </a:p>
        </p:txBody>
      </p:sp>
      <p:sp>
        <p:nvSpPr>
          <p:cNvPr id="40" name="Text 38"/>
          <p:cNvSpPr/>
          <p:nvPr/>
        </p:nvSpPr>
        <p:spPr>
          <a:xfrm>
            <a:off x="6830568" y="5815584"/>
            <a:ext cx="4398264" cy="256032"/>
          </a:xfrm>
          <a:prstGeom prst="rect">
            <a:avLst/>
          </a:prstGeom>
          <a:noFill/>
          <a:ln/>
        </p:spPr>
        <p:txBody>
          <a:bodyPr wrap="square" lIns="0" tIns="0" rIns="0" bIns="0" rtlCol="0" anchor="ctr"/>
          <a:lstStyle/>
          <a:p>
            <a:pPr marL="0" indent="0">
              <a:buNone/>
            </a:pPr>
            <a:r>
              <a:rPr lang="en-US" sz="820" b="1" i="1" dirty="0">
                <a:solidFill>
                  <a:srgbClr val="64748B"/>
                </a:solidFill>
                <a:latin typeface="Segoe UI" pitchFamily="34" charset="0"/>
                <a:ea typeface="Segoe UI" pitchFamily="34" charset="-122"/>
                <a:cs typeface="Segoe UI" pitchFamily="34" charset="-120"/>
              </a:rPr>
              <a:t>Rule: Never hallucinated or silently filled by AI speculation.</a:t>
            </a:r>
            <a:endParaRPr lang="en-US" sz="820" dirty="0"/>
          </a:p>
        </p:txBody>
      </p:sp>
      <p:sp>
        <p:nvSpPr>
          <p:cNvPr id="41" name="Shape 39"/>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42" name="Text 40"/>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43" name="Text 41"/>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04 of 16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3680460" cy="256032"/>
          </a:xfrm>
          <a:prstGeom prst="roundRect">
            <a:avLst>
              <a:gd name="adj" fmla="val 50000"/>
            </a:avLst>
          </a:prstGeom>
          <a:solidFill>
            <a:srgbClr val="FFFBEB"/>
          </a:solidFill>
          <a:ln w="12700">
            <a:solidFill>
              <a:srgbClr val="FDE68A"/>
            </a:solidFill>
            <a:prstDash val="solid"/>
          </a:ln>
        </p:spPr>
        <p:txBody>
          <a:bodyPr/>
          <a:lstStyle/>
          <a:p>
            <a:endParaRPr lang="en-US"/>
          </a:p>
        </p:txBody>
      </p:sp>
      <p:sp>
        <p:nvSpPr>
          <p:cNvPr id="3" name="Text 1"/>
          <p:cNvSpPr/>
          <p:nvPr/>
        </p:nvSpPr>
        <p:spPr>
          <a:xfrm>
            <a:off x="731520" y="384048"/>
            <a:ext cx="3680460" cy="256032"/>
          </a:xfrm>
          <a:prstGeom prst="rect">
            <a:avLst/>
          </a:prstGeom>
          <a:noFill/>
          <a:ln/>
        </p:spPr>
        <p:txBody>
          <a:bodyPr wrap="square" lIns="0" tIns="0" rIns="0" bIns="0" rtlCol="0" anchor="ctr"/>
          <a:lstStyle/>
          <a:p>
            <a:pPr marL="0" indent="0" algn="ctr">
              <a:buNone/>
            </a:pPr>
            <a:r>
              <a:rPr lang="en-US" sz="850" b="1" dirty="0">
                <a:solidFill>
                  <a:srgbClr val="92400E"/>
                </a:solidFill>
                <a:latin typeface="Segoe UI" pitchFamily="34" charset="0"/>
                <a:ea typeface="Segoe UI" pitchFamily="34" charset="-122"/>
                <a:cs typeface="Segoe UI" pitchFamily="34" charset="-120"/>
              </a:rPr>
              <a:t>RISK AXES // TWO QUESTIONS, NOT ONE</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History vs exposure — and what we actually checked</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A reputation check must strictly separate historical behavior from present-day blast radius.</a:t>
            </a:r>
            <a:endParaRPr lang="en-US" sz="1150" dirty="0"/>
          </a:p>
        </p:txBody>
      </p:sp>
      <p:sp>
        <p:nvSpPr>
          <p:cNvPr id="6" name="Shape 4"/>
          <p:cNvSpPr/>
          <p:nvPr/>
        </p:nvSpPr>
        <p:spPr>
          <a:xfrm>
            <a:off x="731520" y="1691640"/>
            <a:ext cx="3337560" cy="3154680"/>
          </a:xfrm>
          <a:prstGeom prst="roundRect">
            <a:avLst>
              <a:gd name="adj" fmla="val 2319"/>
            </a:avLst>
          </a:prstGeom>
          <a:solidFill>
            <a:srgbClr val="FFFFFF"/>
          </a:solidFill>
          <a:ln w="12700">
            <a:solidFill>
              <a:srgbClr val="E2E8F0"/>
            </a:solidFill>
            <a:prstDash val="solid"/>
          </a:ln>
        </p:spPr>
        <p:txBody>
          <a:bodyPr/>
          <a:lstStyle/>
          <a:p>
            <a:endParaRPr lang="en-US"/>
          </a:p>
        </p:txBody>
      </p:sp>
      <p:sp>
        <p:nvSpPr>
          <p:cNvPr id="7" name="Shape 5"/>
          <p:cNvSpPr/>
          <p:nvPr/>
        </p:nvSpPr>
        <p:spPr>
          <a:xfrm>
            <a:off x="749808" y="1709928"/>
            <a:ext cx="330098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8" name="Shape 6"/>
          <p:cNvSpPr/>
          <p:nvPr/>
        </p:nvSpPr>
        <p:spPr>
          <a:xfrm>
            <a:off x="960120" y="1892808"/>
            <a:ext cx="1664208"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9" name="Text 7"/>
          <p:cNvSpPr/>
          <p:nvPr/>
        </p:nvSpPr>
        <p:spPr>
          <a:xfrm>
            <a:off x="960120" y="1892808"/>
            <a:ext cx="1664208"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AXIS 01: HISTORY</a:t>
            </a:r>
            <a:endParaRPr lang="en-US" sz="800" dirty="0"/>
          </a:p>
        </p:txBody>
      </p:sp>
      <p:sp>
        <p:nvSpPr>
          <p:cNvPr id="10" name="Text 8"/>
          <p:cNvSpPr/>
          <p:nvPr/>
        </p:nvSpPr>
        <p:spPr>
          <a:xfrm>
            <a:off x="960120" y="2221992"/>
            <a:ext cx="2880360" cy="292608"/>
          </a:xfrm>
          <a:prstGeom prst="rect">
            <a:avLst/>
          </a:prstGeom>
          <a:noFill/>
          <a:ln/>
        </p:spPr>
        <p:txBody>
          <a:bodyPr wrap="square" lIns="0" tIns="0" rIns="0" bIns="0" rtlCol="0" anchor="ctr"/>
          <a:lstStyle/>
          <a:p>
            <a:pPr marL="0" indent="0">
              <a:buNone/>
            </a:pPr>
            <a:r>
              <a:rPr lang="en-US" sz="1200" b="1" i="1" dirty="0">
                <a:solidFill>
                  <a:srgbClr val="4338CA"/>
                </a:solidFill>
                <a:latin typeface="Segoe UI" pitchFamily="34" charset="0"/>
                <a:ea typeface="Segoe UI" pitchFamily="34" charset="-122"/>
                <a:cs typeface="Segoe UI" pitchFamily="34" charset="-120"/>
              </a:rPr>
              <a:t>“What has this address done?”</a:t>
            </a:r>
            <a:endParaRPr lang="en-US" sz="1200" dirty="0"/>
          </a:p>
        </p:txBody>
      </p:sp>
      <p:sp>
        <p:nvSpPr>
          <p:cNvPr id="11" name="Text 9"/>
          <p:cNvSpPr/>
          <p:nvPr/>
        </p:nvSpPr>
        <p:spPr>
          <a:xfrm>
            <a:off x="960120" y="2587752"/>
            <a:ext cx="2880360" cy="1325880"/>
          </a:xfrm>
          <a:prstGeom prst="rect">
            <a:avLst/>
          </a:prstGeom>
          <a:noFill/>
          <a:ln/>
        </p:spPr>
        <p:txBody>
          <a:bodyPr wrap="square" lIns="0" tIns="0" rIns="0" bIns="0" rtlCol="0" anchor="t"/>
          <a:lstStyle/>
          <a:p>
            <a:pPr marL="0" indent="0">
              <a:lnSpc>
                <a:spcPts val="1400"/>
              </a:lnSpc>
              <a:buNone/>
            </a:pPr>
            <a:r>
              <a:rPr lang="en-US" sz="920" dirty="0">
                <a:solidFill>
                  <a:srgbClr val="334155"/>
                </a:solidFill>
                <a:latin typeface="Segoe UI" pitchFamily="34" charset="0"/>
                <a:ea typeface="Segoe UI" pitchFamily="34" charset="-122"/>
                <a:cs typeface="Segoe UI" pitchFamily="34" charset="-120"/>
              </a:rPr>
              <a:t>• Historical transaction frequency &amp; volume</a:t>
            </a:r>
            <a:endParaRPr lang="en-US" sz="920" dirty="0"/>
          </a:p>
          <a:p>
            <a:pPr marL="0" indent="0">
              <a:lnSpc>
                <a:spcPts val="1400"/>
              </a:lnSpc>
              <a:buNone/>
            </a:pPr>
            <a:r>
              <a:rPr lang="en-US" sz="920" dirty="0">
                <a:solidFill>
                  <a:srgbClr val="334155"/>
                </a:solidFill>
                <a:latin typeface="Segoe UI" pitchFamily="34" charset="0"/>
                <a:ea typeface="Segoe UI" pitchFamily="34" charset="-122"/>
                <a:cs typeface="Segoe UI" pitchFamily="34" charset="-120"/>
              </a:rPr>
              <a:t>• Interaction logs with known protocols</a:t>
            </a:r>
            <a:endParaRPr lang="en-US" sz="920" dirty="0"/>
          </a:p>
          <a:p>
            <a:pPr marL="0" indent="0">
              <a:lnSpc>
                <a:spcPts val="1400"/>
              </a:lnSpc>
              <a:buNone/>
            </a:pPr>
            <a:r>
              <a:rPr lang="en-US" sz="920" dirty="0">
                <a:solidFill>
                  <a:srgbClr val="334155"/>
                </a:solidFill>
                <a:latin typeface="Segoe UI" pitchFamily="34" charset="0"/>
                <a:ea typeface="Segoe UI" pitchFamily="34" charset="-122"/>
                <a:cs typeface="Segoe UI" pitchFamily="34" charset="-120"/>
              </a:rPr>
              <a:t>• Prior incident databases &amp; blacklist feeds</a:t>
            </a:r>
            <a:endParaRPr lang="en-US" sz="920" dirty="0"/>
          </a:p>
          <a:p>
            <a:pPr marL="0" indent="0">
              <a:lnSpc>
                <a:spcPts val="1400"/>
              </a:lnSpc>
              <a:buNone/>
            </a:pPr>
            <a:r>
              <a:rPr lang="en-US" sz="920" dirty="0">
                <a:solidFill>
                  <a:srgbClr val="334155"/>
                </a:solidFill>
                <a:latin typeface="Segoe UI" pitchFamily="34" charset="0"/>
                <a:ea typeface="Segoe UI" pitchFamily="34" charset="-122"/>
                <a:cs typeface="Segoe UI" pitchFamily="34" charset="-120"/>
              </a:rPr>
              <a:t>• Point-in-time counterparty associations</a:t>
            </a:r>
            <a:endParaRPr lang="en-US" sz="920" dirty="0"/>
          </a:p>
          <a:p>
            <a:pPr marL="0" indent="0">
              <a:lnSpc>
                <a:spcPts val="1400"/>
              </a:lnSpc>
              <a:buNone/>
            </a:pPr>
            <a:r>
              <a:rPr lang="en-US" sz="920" dirty="0">
                <a:solidFill>
                  <a:srgbClr val="334155"/>
                </a:solidFill>
                <a:latin typeface="Segoe UI" pitchFamily="34" charset="0"/>
                <a:ea typeface="Segoe UI" pitchFamily="34" charset="-122"/>
                <a:cs typeface="Segoe UI" pitchFamily="34" charset="-120"/>
              </a:rPr>
              <a:t>• Cross-chain deployment records</a:t>
            </a:r>
            <a:endParaRPr lang="en-US" sz="920" dirty="0"/>
          </a:p>
        </p:txBody>
      </p:sp>
      <p:sp>
        <p:nvSpPr>
          <p:cNvPr id="12" name="Shape 10"/>
          <p:cNvSpPr/>
          <p:nvPr/>
        </p:nvSpPr>
        <p:spPr>
          <a:xfrm>
            <a:off x="932688" y="4023360"/>
            <a:ext cx="2935224" cy="658368"/>
          </a:xfrm>
          <a:prstGeom prst="roundRect">
            <a:avLst>
              <a:gd name="adj" fmla="val 11111"/>
            </a:avLst>
          </a:prstGeom>
          <a:solidFill>
            <a:srgbClr val="EEF2FF"/>
          </a:solidFill>
          <a:ln w="10160">
            <a:solidFill>
              <a:srgbClr val="C7D2FE"/>
            </a:solidFill>
            <a:prstDash val="solid"/>
          </a:ln>
        </p:spPr>
        <p:txBody>
          <a:bodyPr/>
          <a:lstStyle/>
          <a:p>
            <a:endParaRPr lang="en-US"/>
          </a:p>
        </p:txBody>
      </p:sp>
      <p:sp>
        <p:nvSpPr>
          <p:cNvPr id="13" name="Text 11"/>
          <p:cNvSpPr/>
          <p:nvPr/>
        </p:nvSpPr>
        <p:spPr>
          <a:xfrm>
            <a:off x="1005840" y="4069080"/>
            <a:ext cx="2788920" cy="566928"/>
          </a:xfrm>
          <a:prstGeom prst="rect">
            <a:avLst/>
          </a:prstGeom>
          <a:noFill/>
          <a:ln/>
        </p:spPr>
        <p:txBody>
          <a:bodyPr wrap="square" lIns="0" tIns="0" rIns="0" bIns="0" rtlCol="0" anchor="ctr"/>
          <a:lstStyle/>
          <a:p>
            <a:pPr marL="0" indent="0">
              <a:lnSpc>
                <a:spcPts val="1150"/>
              </a:lnSpc>
              <a:buNone/>
            </a:pPr>
            <a:r>
              <a:rPr lang="en-US" sz="820" b="1" dirty="0">
                <a:solidFill>
                  <a:srgbClr val="4338CA"/>
                </a:solidFill>
                <a:latin typeface="Segoe UI" pitchFamily="34" charset="0"/>
                <a:ea typeface="Segoe UI" pitchFamily="34" charset="-122"/>
                <a:cs typeface="Segoe UI" pitchFamily="34" charset="-120"/>
              </a:rPr>
              <a:t>Critical Reality: Clean historical reputation offers ZERO guarantee against a newly upgraded malicious proxy or compromised admin key.</a:t>
            </a:r>
            <a:endParaRPr lang="en-US" sz="820" dirty="0"/>
          </a:p>
        </p:txBody>
      </p:sp>
      <p:sp>
        <p:nvSpPr>
          <p:cNvPr id="14" name="Shape 12"/>
          <p:cNvSpPr/>
          <p:nvPr/>
        </p:nvSpPr>
        <p:spPr>
          <a:xfrm>
            <a:off x="4251960" y="1691640"/>
            <a:ext cx="3337560" cy="3154680"/>
          </a:xfrm>
          <a:prstGeom prst="roundRect">
            <a:avLst>
              <a:gd name="adj" fmla="val 2319"/>
            </a:avLst>
          </a:prstGeom>
          <a:solidFill>
            <a:srgbClr val="FFFFFF"/>
          </a:solidFill>
          <a:ln w="12700">
            <a:solidFill>
              <a:srgbClr val="E2E8F0"/>
            </a:solidFill>
            <a:prstDash val="solid"/>
          </a:ln>
        </p:spPr>
        <p:txBody>
          <a:bodyPr/>
          <a:lstStyle/>
          <a:p>
            <a:endParaRPr lang="en-US"/>
          </a:p>
        </p:txBody>
      </p:sp>
      <p:sp>
        <p:nvSpPr>
          <p:cNvPr id="15" name="Shape 13"/>
          <p:cNvSpPr/>
          <p:nvPr/>
        </p:nvSpPr>
        <p:spPr>
          <a:xfrm>
            <a:off x="4270248" y="1709928"/>
            <a:ext cx="3300984" cy="45720"/>
          </a:xfrm>
          <a:prstGeom prst="roundRect">
            <a:avLst>
              <a:gd name="adj" fmla="val 40000"/>
            </a:avLst>
          </a:prstGeom>
          <a:solidFill>
            <a:srgbClr val="F43F5E"/>
          </a:solidFill>
          <a:ln w="12700">
            <a:solidFill>
              <a:srgbClr val="F43F5E"/>
            </a:solidFill>
            <a:prstDash val="solid"/>
          </a:ln>
        </p:spPr>
        <p:txBody>
          <a:bodyPr/>
          <a:lstStyle/>
          <a:p>
            <a:endParaRPr lang="en-US"/>
          </a:p>
        </p:txBody>
      </p:sp>
      <p:sp>
        <p:nvSpPr>
          <p:cNvPr id="16" name="Shape 14"/>
          <p:cNvSpPr/>
          <p:nvPr/>
        </p:nvSpPr>
        <p:spPr>
          <a:xfrm>
            <a:off x="4480560" y="1892808"/>
            <a:ext cx="1751076" cy="219456"/>
          </a:xfrm>
          <a:prstGeom prst="roundRect">
            <a:avLst>
              <a:gd name="adj" fmla="val 50000"/>
            </a:avLst>
          </a:prstGeom>
          <a:solidFill>
            <a:srgbClr val="FFF1F2"/>
          </a:solidFill>
          <a:ln w="10160">
            <a:solidFill>
              <a:srgbClr val="FECDD3"/>
            </a:solidFill>
            <a:prstDash val="solid"/>
          </a:ln>
        </p:spPr>
        <p:txBody>
          <a:bodyPr/>
          <a:lstStyle/>
          <a:p>
            <a:endParaRPr lang="en-US"/>
          </a:p>
        </p:txBody>
      </p:sp>
      <p:sp>
        <p:nvSpPr>
          <p:cNvPr id="17" name="Text 15"/>
          <p:cNvSpPr/>
          <p:nvPr/>
        </p:nvSpPr>
        <p:spPr>
          <a:xfrm>
            <a:off x="4480560" y="1892808"/>
            <a:ext cx="1751076" cy="219456"/>
          </a:xfrm>
          <a:prstGeom prst="rect">
            <a:avLst/>
          </a:prstGeom>
          <a:noFill/>
          <a:ln/>
        </p:spPr>
        <p:txBody>
          <a:bodyPr wrap="square" lIns="0" tIns="0" rIns="0" bIns="0" rtlCol="0" anchor="ctr"/>
          <a:lstStyle/>
          <a:p>
            <a:pPr marL="0" indent="0" algn="ctr">
              <a:buNone/>
            </a:pPr>
            <a:r>
              <a:rPr lang="en-US" sz="800" b="1" dirty="0">
                <a:solidFill>
                  <a:srgbClr val="9F1239"/>
                </a:solidFill>
                <a:latin typeface="Segoe UI" pitchFamily="34" charset="0"/>
                <a:ea typeface="Segoe UI" pitchFamily="34" charset="-122"/>
                <a:cs typeface="Segoe UI" pitchFamily="34" charset="-120"/>
              </a:rPr>
              <a:t>AXIS 02: EXPOSURE</a:t>
            </a:r>
            <a:endParaRPr lang="en-US" sz="800" dirty="0"/>
          </a:p>
        </p:txBody>
      </p:sp>
      <p:sp>
        <p:nvSpPr>
          <p:cNvPr id="18" name="Text 16"/>
          <p:cNvSpPr/>
          <p:nvPr/>
        </p:nvSpPr>
        <p:spPr>
          <a:xfrm>
            <a:off x="4480560" y="2221992"/>
            <a:ext cx="2880360" cy="292608"/>
          </a:xfrm>
          <a:prstGeom prst="rect">
            <a:avLst/>
          </a:prstGeom>
          <a:noFill/>
          <a:ln/>
        </p:spPr>
        <p:txBody>
          <a:bodyPr wrap="square" lIns="0" tIns="0" rIns="0" bIns="0" rtlCol="0" anchor="ctr"/>
          <a:lstStyle/>
          <a:p>
            <a:pPr marL="0" indent="0">
              <a:buNone/>
            </a:pPr>
            <a:r>
              <a:rPr lang="en-US" sz="1200" b="1" i="1" dirty="0">
                <a:solidFill>
                  <a:srgbClr val="9F1239"/>
                </a:solidFill>
                <a:latin typeface="Segoe UI" pitchFamily="34" charset="0"/>
                <a:ea typeface="Segoe UI" pitchFamily="34" charset="-122"/>
                <a:cs typeface="Segoe UI" pitchFamily="34" charset="-120"/>
              </a:rPr>
              <a:t>“What can it affect RIGHT NOW?”</a:t>
            </a:r>
            <a:endParaRPr lang="en-US" sz="1200" dirty="0"/>
          </a:p>
        </p:txBody>
      </p:sp>
      <p:sp>
        <p:nvSpPr>
          <p:cNvPr id="19" name="Text 17"/>
          <p:cNvSpPr/>
          <p:nvPr/>
        </p:nvSpPr>
        <p:spPr>
          <a:xfrm>
            <a:off x="4480560" y="2587752"/>
            <a:ext cx="2880360" cy="1325880"/>
          </a:xfrm>
          <a:prstGeom prst="rect">
            <a:avLst/>
          </a:prstGeom>
          <a:noFill/>
          <a:ln/>
        </p:spPr>
        <p:txBody>
          <a:bodyPr wrap="square" lIns="0" tIns="0" rIns="0" bIns="0" rtlCol="0" anchor="t"/>
          <a:lstStyle/>
          <a:p>
            <a:pPr marL="0" indent="0">
              <a:lnSpc>
                <a:spcPts val="1400"/>
              </a:lnSpc>
              <a:buNone/>
            </a:pPr>
            <a:r>
              <a:rPr lang="en-US" sz="920" dirty="0">
                <a:solidFill>
                  <a:srgbClr val="334155"/>
                </a:solidFill>
                <a:latin typeface="Segoe UI" pitchFamily="34" charset="0"/>
                <a:ea typeface="Segoe UI" pitchFamily="34" charset="-122"/>
                <a:cs typeface="Segoe UI" pitchFamily="34" charset="-120"/>
              </a:rPr>
              <a:t>• Active token allowances &amp; infinite permissions</a:t>
            </a:r>
            <a:endParaRPr lang="en-US" sz="920" dirty="0"/>
          </a:p>
          <a:p>
            <a:pPr marL="0" indent="0">
              <a:lnSpc>
                <a:spcPts val="1400"/>
              </a:lnSpc>
              <a:buNone/>
            </a:pPr>
            <a:r>
              <a:rPr lang="en-US" sz="920" dirty="0">
                <a:solidFill>
                  <a:srgbClr val="334155"/>
                </a:solidFill>
                <a:latin typeface="Segoe UI" pitchFamily="34" charset="0"/>
                <a:ea typeface="Segoe UI" pitchFamily="34" charset="-122"/>
                <a:cs typeface="Segoe UI" pitchFamily="34" charset="-120"/>
              </a:rPr>
              <a:t>• Current wallet token balances at risk ($ blast radius)</a:t>
            </a:r>
            <a:endParaRPr lang="en-US" sz="920" dirty="0"/>
          </a:p>
          <a:p>
            <a:pPr marL="0" indent="0">
              <a:lnSpc>
                <a:spcPts val="1400"/>
              </a:lnSpc>
              <a:buNone/>
            </a:pPr>
            <a:r>
              <a:rPr lang="en-US" sz="920" dirty="0">
                <a:solidFill>
                  <a:srgbClr val="334155"/>
                </a:solidFill>
                <a:latin typeface="Segoe UI" pitchFamily="34" charset="0"/>
                <a:ea typeface="Segoe UI" pitchFamily="34" charset="-122"/>
                <a:cs typeface="Segoe UI" pitchFamily="34" charset="-120"/>
              </a:rPr>
              <a:t>• Mutable proxy implementations without timelocks</a:t>
            </a:r>
            <a:endParaRPr lang="en-US" sz="920" dirty="0"/>
          </a:p>
          <a:p>
            <a:pPr marL="0" indent="0">
              <a:lnSpc>
                <a:spcPts val="1400"/>
              </a:lnSpc>
              <a:buNone/>
            </a:pPr>
            <a:r>
              <a:rPr lang="en-US" sz="920" dirty="0">
                <a:solidFill>
                  <a:srgbClr val="334155"/>
                </a:solidFill>
                <a:latin typeface="Segoe UI" pitchFamily="34" charset="0"/>
                <a:ea typeface="Segoe UI" pitchFamily="34" charset="-122"/>
                <a:cs typeface="Segoe UI" pitchFamily="34" charset="-120"/>
              </a:rPr>
              <a:t>• Single-key admin roles over pool liquidity</a:t>
            </a:r>
            <a:endParaRPr lang="en-US" sz="920" dirty="0"/>
          </a:p>
          <a:p>
            <a:pPr marL="0" indent="0">
              <a:lnSpc>
                <a:spcPts val="1400"/>
              </a:lnSpc>
              <a:buNone/>
            </a:pPr>
            <a:r>
              <a:rPr lang="en-US" sz="920" dirty="0">
                <a:solidFill>
                  <a:srgbClr val="334155"/>
                </a:solidFill>
                <a:latin typeface="Segoe UI" pitchFamily="34" charset="0"/>
                <a:ea typeface="Segoe UI" pitchFamily="34" charset="-122"/>
                <a:cs typeface="Segoe UI" pitchFamily="34" charset="-120"/>
              </a:rPr>
              <a:t>• Immediate drainage capabilities in live contracts</a:t>
            </a:r>
            <a:endParaRPr lang="en-US" sz="920" dirty="0"/>
          </a:p>
        </p:txBody>
      </p:sp>
      <p:sp>
        <p:nvSpPr>
          <p:cNvPr id="20" name="Shape 18"/>
          <p:cNvSpPr/>
          <p:nvPr/>
        </p:nvSpPr>
        <p:spPr>
          <a:xfrm>
            <a:off x="4453128" y="4023360"/>
            <a:ext cx="2935224" cy="658368"/>
          </a:xfrm>
          <a:prstGeom prst="roundRect">
            <a:avLst>
              <a:gd name="adj" fmla="val 11111"/>
            </a:avLst>
          </a:prstGeom>
          <a:solidFill>
            <a:srgbClr val="FFF1F2"/>
          </a:solidFill>
          <a:ln w="10160">
            <a:solidFill>
              <a:srgbClr val="FECDD3"/>
            </a:solidFill>
            <a:prstDash val="solid"/>
          </a:ln>
        </p:spPr>
        <p:txBody>
          <a:bodyPr/>
          <a:lstStyle/>
          <a:p>
            <a:endParaRPr lang="en-US"/>
          </a:p>
        </p:txBody>
      </p:sp>
      <p:sp>
        <p:nvSpPr>
          <p:cNvPr id="21" name="Text 19"/>
          <p:cNvSpPr/>
          <p:nvPr/>
        </p:nvSpPr>
        <p:spPr>
          <a:xfrm>
            <a:off x="4526280" y="4069080"/>
            <a:ext cx="2788920" cy="566928"/>
          </a:xfrm>
          <a:prstGeom prst="rect">
            <a:avLst/>
          </a:prstGeom>
          <a:noFill/>
          <a:ln/>
        </p:spPr>
        <p:txBody>
          <a:bodyPr wrap="square" lIns="0" tIns="0" rIns="0" bIns="0" rtlCol="0" anchor="ctr"/>
          <a:lstStyle/>
          <a:p>
            <a:pPr marL="0" indent="0">
              <a:lnSpc>
                <a:spcPts val="1150"/>
              </a:lnSpc>
              <a:buNone/>
            </a:pPr>
            <a:r>
              <a:rPr lang="en-US" sz="820" b="1" dirty="0">
                <a:solidFill>
                  <a:srgbClr val="9F1239"/>
                </a:solidFill>
                <a:latin typeface="Segoe UI" pitchFamily="34" charset="0"/>
                <a:ea typeface="Segoe UI" pitchFamily="34" charset="-122"/>
                <a:cs typeface="Segoe UI" pitchFamily="34" charset="-120"/>
              </a:rPr>
              <a:t>Sentinel Principle: We quantify current dollar exposure directly. A wallet holding $0 at an infinite approval has a very different risk than one holding $100k.</a:t>
            </a:r>
            <a:endParaRPr lang="en-US" sz="820" dirty="0"/>
          </a:p>
        </p:txBody>
      </p:sp>
      <p:sp>
        <p:nvSpPr>
          <p:cNvPr id="22" name="Shape 20"/>
          <p:cNvSpPr/>
          <p:nvPr/>
        </p:nvSpPr>
        <p:spPr>
          <a:xfrm>
            <a:off x="7772400" y="1691640"/>
            <a:ext cx="3703320" cy="4480560"/>
          </a:xfrm>
          <a:prstGeom prst="roundRect">
            <a:avLst>
              <a:gd name="adj" fmla="val 1975"/>
            </a:avLst>
          </a:prstGeom>
          <a:solidFill>
            <a:srgbClr val="FFFFFF"/>
          </a:solidFill>
          <a:ln w="12700">
            <a:solidFill>
              <a:srgbClr val="E2E8F0"/>
            </a:solidFill>
            <a:prstDash val="solid"/>
          </a:ln>
        </p:spPr>
        <p:txBody>
          <a:bodyPr/>
          <a:lstStyle/>
          <a:p>
            <a:endParaRPr lang="en-US"/>
          </a:p>
        </p:txBody>
      </p:sp>
      <p:sp>
        <p:nvSpPr>
          <p:cNvPr id="23" name="Shape 21"/>
          <p:cNvSpPr/>
          <p:nvPr/>
        </p:nvSpPr>
        <p:spPr>
          <a:xfrm>
            <a:off x="7790688" y="1709928"/>
            <a:ext cx="3666744" cy="45720"/>
          </a:xfrm>
          <a:prstGeom prst="roundRect">
            <a:avLst>
              <a:gd name="adj" fmla="val 40000"/>
            </a:avLst>
          </a:prstGeom>
          <a:solidFill>
            <a:srgbClr val="F59E0B"/>
          </a:solidFill>
          <a:ln w="12700">
            <a:solidFill>
              <a:srgbClr val="F59E0B"/>
            </a:solidFill>
            <a:prstDash val="solid"/>
          </a:ln>
        </p:spPr>
        <p:txBody>
          <a:bodyPr/>
          <a:lstStyle/>
          <a:p>
            <a:endParaRPr lang="en-US"/>
          </a:p>
        </p:txBody>
      </p:sp>
      <p:sp>
        <p:nvSpPr>
          <p:cNvPr id="24" name="Shape 22"/>
          <p:cNvSpPr/>
          <p:nvPr/>
        </p:nvSpPr>
        <p:spPr>
          <a:xfrm>
            <a:off x="8001000" y="1892808"/>
            <a:ext cx="2098548" cy="219456"/>
          </a:xfrm>
          <a:prstGeom prst="roundRect">
            <a:avLst>
              <a:gd name="adj" fmla="val 50000"/>
            </a:avLst>
          </a:prstGeom>
          <a:solidFill>
            <a:srgbClr val="FFFBEB"/>
          </a:solidFill>
          <a:ln w="10160">
            <a:solidFill>
              <a:srgbClr val="FDE68A"/>
            </a:solidFill>
            <a:prstDash val="solid"/>
          </a:ln>
        </p:spPr>
        <p:txBody>
          <a:bodyPr/>
          <a:lstStyle/>
          <a:p>
            <a:endParaRPr lang="en-US"/>
          </a:p>
        </p:txBody>
      </p:sp>
      <p:sp>
        <p:nvSpPr>
          <p:cNvPr id="25" name="Text 23"/>
          <p:cNvSpPr/>
          <p:nvPr/>
        </p:nvSpPr>
        <p:spPr>
          <a:xfrm>
            <a:off x="8001000" y="1892808"/>
            <a:ext cx="2098548" cy="219456"/>
          </a:xfrm>
          <a:prstGeom prst="rect">
            <a:avLst/>
          </a:prstGeom>
          <a:noFill/>
          <a:ln/>
        </p:spPr>
        <p:txBody>
          <a:bodyPr wrap="square" lIns="0" tIns="0" rIns="0" bIns="0" rtlCol="0" anchor="ctr"/>
          <a:lstStyle/>
          <a:p>
            <a:pPr marL="0" indent="0" algn="ctr">
              <a:buNone/>
            </a:pPr>
            <a:r>
              <a:rPr lang="en-US" sz="800" b="1" dirty="0">
                <a:solidFill>
                  <a:srgbClr val="92400E"/>
                </a:solidFill>
                <a:latin typeface="Segoe UI" pitchFamily="34" charset="0"/>
                <a:ea typeface="Segoe UI" pitchFamily="34" charset="-122"/>
                <a:cs typeface="Segoe UI" pitchFamily="34" charset="-120"/>
              </a:rPr>
              <a:t>COVERAGE TRANSPARENCY</a:t>
            </a:r>
            <a:endParaRPr lang="en-US" sz="800" dirty="0"/>
          </a:p>
        </p:txBody>
      </p:sp>
      <p:sp>
        <p:nvSpPr>
          <p:cNvPr id="26" name="Text 24"/>
          <p:cNvSpPr/>
          <p:nvPr/>
        </p:nvSpPr>
        <p:spPr>
          <a:xfrm>
            <a:off x="8001000" y="2221992"/>
            <a:ext cx="3246120" cy="274320"/>
          </a:xfrm>
          <a:prstGeom prst="rect">
            <a:avLst/>
          </a:prstGeom>
          <a:noFill/>
          <a:ln/>
        </p:spPr>
        <p:txBody>
          <a:bodyPr wrap="square" lIns="0" tIns="0" rIns="0" bIns="0" rtlCol="0" anchor="ctr"/>
          <a:lstStyle/>
          <a:p>
            <a:pPr marL="0" indent="0">
              <a:buNone/>
            </a:pPr>
            <a:r>
              <a:rPr lang="en-US" sz="1200" b="1" dirty="0">
                <a:solidFill>
                  <a:srgbClr val="0F172A"/>
                </a:solidFill>
                <a:latin typeface="Segoe UI" pitchFamily="34" charset="0"/>
                <a:ea typeface="Segoe UI" pitchFamily="34" charset="-122"/>
                <a:cs typeface="Segoe UI" pitchFamily="34" charset="-120"/>
              </a:rPr>
              <a:t>Visible Boundaries vs False Safety</a:t>
            </a:r>
            <a:endParaRPr lang="en-US" sz="1200" dirty="0"/>
          </a:p>
        </p:txBody>
      </p:sp>
      <p:sp>
        <p:nvSpPr>
          <p:cNvPr id="27" name="Text 25"/>
          <p:cNvSpPr/>
          <p:nvPr/>
        </p:nvSpPr>
        <p:spPr>
          <a:xfrm>
            <a:off x="8001000" y="2532888"/>
            <a:ext cx="3246120" cy="502920"/>
          </a:xfrm>
          <a:prstGeom prst="rect">
            <a:avLst/>
          </a:prstGeom>
          <a:noFill/>
          <a:ln/>
        </p:spPr>
        <p:txBody>
          <a:bodyPr wrap="square" lIns="0" tIns="0" rIns="0" bIns="0" rtlCol="0" anchor="t"/>
          <a:lstStyle/>
          <a:p>
            <a:pPr marL="0" indent="0">
              <a:lnSpc>
                <a:spcPts val="1200"/>
              </a:lnSpc>
              <a:buNone/>
            </a:pPr>
            <a:r>
              <a:rPr lang="en-US" sz="880" dirty="0">
                <a:solidFill>
                  <a:srgbClr val="64748B"/>
                </a:solidFill>
                <a:latin typeface="Segoe UI" pitchFamily="34" charset="0"/>
                <a:ea typeface="Segoe UI" pitchFamily="34" charset="-122"/>
                <a:cs typeface="Segoe UI" pitchFamily="34" charset="-120"/>
              </a:rPr>
              <a:t>Traditional scanners output 'No threats found', causing users to assume 100% safety. Sentinel explicitly displays the verified boundary:</a:t>
            </a:r>
            <a:endParaRPr lang="en-US" sz="880" dirty="0"/>
          </a:p>
        </p:txBody>
      </p:sp>
      <p:sp>
        <p:nvSpPr>
          <p:cNvPr id="28" name="Shape 26"/>
          <p:cNvSpPr/>
          <p:nvPr/>
        </p:nvSpPr>
        <p:spPr>
          <a:xfrm>
            <a:off x="7973568" y="3108960"/>
            <a:ext cx="3300984" cy="420624"/>
          </a:xfrm>
          <a:prstGeom prst="roundRect">
            <a:avLst>
              <a:gd name="adj" fmla="val 13043"/>
            </a:avLst>
          </a:prstGeom>
          <a:solidFill>
            <a:srgbClr val="F8FAFC"/>
          </a:solidFill>
          <a:ln w="10160">
            <a:solidFill>
              <a:srgbClr val="E2E8F0"/>
            </a:solidFill>
            <a:prstDash val="solid"/>
          </a:ln>
        </p:spPr>
        <p:txBody>
          <a:bodyPr/>
          <a:lstStyle/>
          <a:p>
            <a:endParaRPr lang="en-US"/>
          </a:p>
        </p:txBody>
      </p:sp>
      <p:sp>
        <p:nvSpPr>
          <p:cNvPr id="29" name="Text 27"/>
          <p:cNvSpPr/>
          <p:nvPr/>
        </p:nvSpPr>
        <p:spPr>
          <a:xfrm>
            <a:off x="8065008" y="3154680"/>
            <a:ext cx="1463040" cy="164592"/>
          </a:xfrm>
          <a:prstGeom prst="rect">
            <a:avLst/>
          </a:prstGeom>
          <a:noFill/>
          <a:ln/>
        </p:spPr>
        <p:txBody>
          <a:bodyPr wrap="square" lIns="0" tIns="0" rIns="0" bIns="0" rtlCol="0" anchor="ctr"/>
          <a:lstStyle/>
          <a:p>
            <a:pPr marL="0" indent="0">
              <a:buNone/>
            </a:pPr>
            <a:r>
              <a:rPr lang="en-US" sz="780" b="1" dirty="0">
                <a:solidFill>
                  <a:srgbClr val="64748B"/>
                </a:solidFill>
                <a:latin typeface="Segoe UI" pitchFamily="34" charset="0"/>
                <a:ea typeface="Segoe UI" pitchFamily="34" charset="-122"/>
                <a:cs typeface="Segoe UI" pitchFamily="34" charset="-120"/>
              </a:rPr>
              <a:t>Chains Analyzed</a:t>
            </a:r>
            <a:endParaRPr lang="en-US" sz="780" dirty="0"/>
          </a:p>
        </p:txBody>
      </p:sp>
      <p:sp>
        <p:nvSpPr>
          <p:cNvPr id="30" name="Text 28"/>
          <p:cNvSpPr/>
          <p:nvPr/>
        </p:nvSpPr>
        <p:spPr>
          <a:xfrm>
            <a:off x="8065008" y="3319272"/>
            <a:ext cx="2103120" cy="182880"/>
          </a:xfrm>
          <a:prstGeom prst="rect">
            <a:avLst/>
          </a:prstGeom>
          <a:noFill/>
          <a:ln/>
        </p:spPr>
        <p:txBody>
          <a:bodyPr wrap="square" lIns="0" tIns="0" rIns="0" bIns="0" rtlCol="0" anchor="ctr"/>
          <a:lstStyle/>
          <a:p>
            <a:pPr marL="0" indent="0">
              <a:buNone/>
            </a:pPr>
            <a:r>
              <a:rPr lang="en-US" sz="820" dirty="0">
                <a:solidFill>
                  <a:srgbClr val="0F172A"/>
                </a:solidFill>
                <a:latin typeface="Segoe UI" pitchFamily="34" charset="0"/>
                <a:ea typeface="Segoe UI" pitchFamily="34" charset="-122"/>
                <a:cs typeface="Segoe UI" pitchFamily="34" charset="-120"/>
              </a:rPr>
              <a:t>Ethereum, Base, Arbitrum, Multipli</a:t>
            </a:r>
            <a:endParaRPr lang="en-US" sz="820" dirty="0"/>
          </a:p>
        </p:txBody>
      </p:sp>
      <p:sp>
        <p:nvSpPr>
          <p:cNvPr id="31" name="Text 29"/>
          <p:cNvSpPr/>
          <p:nvPr/>
        </p:nvSpPr>
        <p:spPr>
          <a:xfrm>
            <a:off x="10332720" y="3218688"/>
            <a:ext cx="868680" cy="201168"/>
          </a:xfrm>
          <a:prstGeom prst="rect">
            <a:avLst/>
          </a:prstGeom>
          <a:noFill/>
          <a:ln/>
        </p:spPr>
        <p:txBody>
          <a:bodyPr wrap="square" lIns="0" tIns="0" rIns="0" bIns="0" rtlCol="0" anchor="ctr"/>
          <a:lstStyle/>
          <a:p>
            <a:pPr marL="0" indent="0" algn="r">
              <a:buNone/>
            </a:pPr>
            <a:r>
              <a:rPr lang="en-US" sz="780" b="1" dirty="0">
                <a:solidFill>
                  <a:srgbClr val="065F46"/>
                </a:solidFill>
                <a:latin typeface="Segoe UI" pitchFamily="34" charset="0"/>
                <a:ea typeface="Segoe UI" pitchFamily="34" charset="-122"/>
                <a:cs typeface="Segoe UI" pitchFamily="34" charset="-120"/>
              </a:rPr>
              <a:t>✓ FULL</a:t>
            </a:r>
            <a:endParaRPr lang="en-US" sz="780" dirty="0"/>
          </a:p>
        </p:txBody>
      </p:sp>
      <p:sp>
        <p:nvSpPr>
          <p:cNvPr id="32" name="Shape 30"/>
          <p:cNvSpPr/>
          <p:nvPr/>
        </p:nvSpPr>
        <p:spPr>
          <a:xfrm>
            <a:off x="7973568" y="3584448"/>
            <a:ext cx="3300984" cy="420624"/>
          </a:xfrm>
          <a:prstGeom prst="roundRect">
            <a:avLst>
              <a:gd name="adj" fmla="val 13043"/>
            </a:avLst>
          </a:prstGeom>
          <a:solidFill>
            <a:srgbClr val="F8FAFC"/>
          </a:solidFill>
          <a:ln w="10160">
            <a:solidFill>
              <a:srgbClr val="E2E8F0"/>
            </a:solidFill>
            <a:prstDash val="solid"/>
          </a:ln>
        </p:spPr>
        <p:txBody>
          <a:bodyPr/>
          <a:lstStyle/>
          <a:p>
            <a:endParaRPr lang="en-US"/>
          </a:p>
        </p:txBody>
      </p:sp>
      <p:sp>
        <p:nvSpPr>
          <p:cNvPr id="33" name="Text 31"/>
          <p:cNvSpPr/>
          <p:nvPr/>
        </p:nvSpPr>
        <p:spPr>
          <a:xfrm>
            <a:off x="8065008" y="3630168"/>
            <a:ext cx="1463040" cy="164592"/>
          </a:xfrm>
          <a:prstGeom prst="rect">
            <a:avLst/>
          </a:prstGeom>
          <a:noFill/>
          <a:ln/>
        </p:spPr>
        <p:txBody>
          <a:bodyPr wrap="square" lIns="0" tIns="0" rIns="0" bIns="0" rtlCol="0" anchor="ctr"/>
          <a:lstStyle/>
          <a:p>
            <a:pPr marL="0" indent="0">
              <a:buNone/>
            </a:pPr>
            <a:r>
              <a:rPr lang="en-US" sz="780" b="1" dirty="0">
                <a:solidFill>
                  <a:srgbClr val="64748B"/>
                </a:solidFill>
                <a:latin typeface="Segoe UI" pitchFamily="34" charset="0"/>
                <a:ea typeface="Segoe UI" pitchFamily="34" charset="-122"/>
                <a:cs typeface="Segoe UI" pitchFamily="34" charset="-120"/>
              </a:rPr>
              <a:t>Permission Scope</a:t>
            </a:r>
            <a:endParaRPr lang="en-US" sz="780" dirty="0"/>
          </a:p>
        </p:txBody>
      </p:sp>
      <p:sp>
        <p:nvSpPr>
          <p:cNvPr id="34" name="Text 32"/>
          <p:cNvSpPr/>
          <p:nvPr/>
        </p:nvSpPr>
        <p:spPr>
          <a:xfrm>
            <a:off x="8065008" y="3794760"/>
            <a:ext cx="2103120" cy="182880"/>
          </a:xfrm>
          <a:prstGeom prst="rect">
            <a:avLst/>
          </a:prstGeom>
          <a:noFill/>
          <a:ln/>
        </p:spPr>
        <p:txBody>
          <a:bodyPr wrap="square" lIns="0" tIns="0" rIns="0" bIns="0" rtlCol="0" anchor="ctr"/>
          <a:lstStyle/>
          <a:p>
            <a:pPr marL="0" indent="0">
              <a:buNone/>
            </a:pPr>
            <a:r>
              <a:rPr lang="en-US" sz="820" dirty="0">
                <a:solidFill>
                  <a:srgbClr val="0F172A"/>
                </a:solidFill>
                <a:latin typeface="Segoe UI" pitchFamily="34" charset="0"/>
                <a:ea typeface="Segoe UI" pitchFamily="34" charset="-122"/>
                <a:cs typeface="Segoe UI" pitchFamily="34" charset="-120"/>
              </a:rPr>
              <a:t>ERC-20 approvals, ERC-721/1155, permits</a:t>
            </a:r>
            <a:endParaRPr lang="en-US" sz="820" dirty="0"/>
          </a:p>
        </p:txBody>
      </p:sp>
      <p:sp>
        <p:nvSpPr>
          <p:cNvPr id="35" name="Text 33"/>
          <p:cNvSpPr/>
          <p:nvPr/>
        </p:nvSpPr>
        <p:spPr>
          <a:xfrm>
            <a:off x="10332720" y="3694176"/>
            <a:ext cx="868680" cy="201168"/>
          </a:xfrm>
          <a:prstGeom prst="rect">
            <a:avLst/>
          </a:prstGeom>
          <a:noFill/>
          <a:ln/>
        </p:spPr>
        <p:txBody>
          <a:bodyPr wrap="square" lIns="0" tIns="0" rIns="0" bIns="0" rtlCol="0" anchor="ctr"/>
          <a:lstStyle/>
          <a:p>
            <a:pPr marL="0" indent="0" algn="r">
              <a:buNone/>
            </a:pPr>
            <a:r>
              <a:rPr lang="en-US" sz="780" b="1" dirty="0">
                <a:solidFill>
                  <a:srgbClr val="065F46"/>
                </a:solidFill>
                <a:latin typeface="Segoe UI" pitchFamily="34" charset="0"/>
                <a:ea typeface="Segoe UI" pitchFamily="34" charset="-122"/>
                <a:cs typeface="Segoe UI" pitchFamily="34" charset="-120"/>
              </a:rPr>
              <a:t>✓ ACTIVE</a:t>
            </a:r>
            <a:endParaRPr lang="en-US" sz="780" dirty="0"/>
          </a:p>
        </p:txBody>
      </p:sp>
      <p:sp>
        <p:nvSpPr>
          <p:cNvPr id="36" name="Shape 34"/>
          <p:cNvSpPr/>
          <p:nvPr/>
        </p:nvSpPr>
        <p:spPr>
          <a:xfrm>
            <a:off x="7973568" y="4059936"/>
            <a:ext cx="3300984" cy="420624"/>
          </a:xfrm>
          <a:prstGeom prst="roundRect">
            <a:avLst>
              <a:gd name="adj" fmla="val 13043"/>
            </a:avLst>
          </a:prstGeom>
          <a:solidFill>
            <a:srgbClr val="F8FAFC"/>
          </a:solidFill>
          <a:ln w="10160">
            <a:solidFill>
              <a:srgbClr val="E2E8F0"/>
            </a:solidFill>
            <a:prstDash val="solid"/>
          </a:ln>
        </p:spPr>
        <p:txBody>
          <a:bodyPr/>
          <a:lstStyle/>
          <a:p>
            <a:endParaRPr lang="en-US"/>
          </a:p>
        </p:txBody>
      </p:sp>
      <p:sp>
        <p:nvSpPr>
          <p:cNvPr id="37" name="Text 35"/>
          <p:cNvSpPr/>
          <p:nvPr/>
        </p:nvSpPr>
        <p:spPr>
          <a:xfrm>
            <a:off x="8065008" y="4105656"/>
            <a:ext cx="1463040" cy="164592"/>
          </a:xfrm>
          <a:prstGeom prst="rect">
            <a:avLst/>
          </a:prstGeom>
          <a:noFill/>
          <a:ln/>
        </p:spPr>
        <p:txBody>
          <a:bodyPr wrap="square" lIns="0" tIns="0" rIns="0" bIns="0" rtlCol="0" anchor="ctr"/>
          <a:lstStyle/>
          <a:p>
            <a:pPr marL="0" indent="0">
              <a:buNone/>
            </a:pPr>
            <a:r>
              <a:rPr lang="en-US" sz="780" b="1" dirty="0">
                <a:solidFill>
                  <a:srgbClr val="64748B"/>
                </a:solidFill>
                <a:latin typeface="Segoe UI" pitchFamily="34" charset="0"/>
                <a:ea typeface="Segoe UI" pitchFamily="34" charset="-122"/>
                <a:cs typeface="Segoe UI" pitchFamily="34" charset="-120"/>
              </a:rPr>
              <a:t>Contract Types</a:t>
            </a:r>
            <a:endParaRPr lang="en-US" sz="780" dirty="0"/>
          </a:p>
        </p:txBody>
      </p:sp>
      <p:sp>
        <p:nvSpPr>
          <p:cNvPr id="38" name="Text 36"/>
          <p:cNvSpPr/>
          <p:nvPr/>
        </p:nvSpPr>
        <p:spPr>
          <a:xfrm>
            <a:off x="8065008" y="4270248"/>
            <a:ext cx="2103120" cy="182880"/>
          </a:xfrm>
          <a:prstGeom prst="rect">
            <a:avLst/>
          </a:prstGeom>
          <a:noFill/>
          <a:ln/>
        </p:spPr>
        <p:txBody>
          <a:bodyPr wrap="square" lIns="0" tIns="0" rIns="0" bIns="0" rtlCol="0" anchor="ctr"/>
          <a:lstStyle/>
          <a:p>
            <a:pPr marL="0" indent="0">
              <a:buNone/>
            </a:pPr>
            <a:r>
              <a:rPr lang="en-US" sz="820" dirty="0">
                <a:solidFill>
                  <a:srgbClr val="0F172A"/>
                </a:solidFill>
                <a:latin typeface="Segoe UI" pitchFamily="34" charset="0"/>
                <a:ea typeface="Segoe UI" pitchFamily="34" charset="-122"/>
                <a:cs typeface="Segoe UI" pitchFamily="34" charset="-120"/>
              </a:rPr>
              <a:t>ERC-1967, UUPS, Transparent proxies</a:t>
            </a:r>
            <a:endParaRPr lang="en-US" sz="820" dirty="0"/>
          </a:p>
        </p:txBody>
      </p:sp>
      <p:sp>
        <p:nvSpPr>
          <p:cNvPr id="39" name="Text 37"/>
          <p:cNvSpPr/>
          <p:nvPr/>
        </p:nvSpPr>
        <p:spPr>
          <a:xfrm>
            <a:off x="10332720" y="4169664"/>
            <a:ext cx="868680" cy="201168"/>
          </a:xfrm>
          <a:prstGeom prst="rect">
            <a:avLst/>
          </a:prstGeom>
          <a:noFill/>
          <a:ln/>
        </p:spPr>
        <p:txBody>
          <a:bodyPr wrap="square" lIns="0" tIns="0" rIns="0" bIns="0" rtlCol="0" anchor="ctr"/>
          <a:lstStyle/>
          <a:p>
            <a:pPr marL="0" indent="0" algn="r">
              <a:buNone/>
            </a:pPr>
            <a:r>
              <a:rPr lang="en-US" sz="780" b="1" dirty="0">
                <a:solidFill>
                  <a:srgbClr val="065F46"/>
                </a:solidFill>
                <a:latin typeface="Segoe UI" pitchFamily="34" charset="0"/>
                <a:ea typeface="Segoe UI" pitchFamily="34" charset="-122"/>
                <a:cs typeface="Segoe UI" pitchFamily="34" charset="-120"/>
              </a:rPr>
              <a:t>✓ VERIFIED</a:t>
            </a:r>
            <a:endParaRPr lang="en-US" sz="780" dirty="0"/>
          </a:p>
        </p:txBody>
      </p:sp>
      <p:sp>
        <p:nvSpPr>
          <p:cNvPr id="40" name="Shape 38"/>
          <p:cNvSpPr/>
          <p:nvPr/>
        </p:nvSpPr>
        <p:spPr>
          <a:xfrm>
            <a:off x="7973568" y="4535424"/>
            <a:ext cx="3300984" cy="420624"/>
          </a:xfrm>
          <a:prstGeom prst="roundRect">
            <a:avLst>
              <a:gd name="adj" fmla="val 13043"/>
            </a:avLst>
          </a:prstGeom>
          <a:solidFill>
            <a:srgbClr val="F8FAFC"/>
          </a:solidFill>
          <a:ln w="10160">
            <a:solidFill>
              <a:srgbClr val="E2E8F0"/>
            </a:solidFill>
            <a:prstDash val="solid"/>
          </a:ln>
        </p:spPr>
        <p:txBody>
          <a:bodyPr/>
          <a:lstStyle/>
          <a:p>
            <a:endParaRPr lang="en-US"/>
          </a:p>
        </p:txBody>
      </p:sp>
      <p:sp>
        <p:nvSpPr>
          <p:cNvPr id="41" name="Text 39"/>
          <p:cNvSpPr/>
          <p:nvPr/>
        </p:nvSpPr>
        <p:spPr>
          <a:xfrm>
            <a:off x="8065008" y="4581144"/>
            <a:ext cx="1463040" cy="164592"/>
          </a:xfrm>
          <a:prstGeom prst="rect">
            <a:avLst/>
          </a:prstGeom>
          <a:noFill/>
          <a:ln/>
        </p:spPr>
        <p:txBody>
          <a:bodyPr wrap="square" lIns="0" tIns="0" rIns="0" bIns="0" rtlCol="0" anchor="ctr"/>
          <a:lstStyle/>
          <a:p>
            <a:pPr marL="0" indent="0">
              <a:buNone/>
            </a:pPr>
            <a:r>
              <a:rPr lang="en-US" sz="780" b="1" dirty="0">
                <a:solidFill>
                  <a:srgbClr val="64748B"/>
                </a:solidFill>
                <a:latin typeface="Segoe UI" pitchFamily="34" charset="0"/>
                <a:ea typeface="Segoe UI" pitchFamily="34" charset="-122"/>
                <a:cs typeface="Segoe UI" pitchFamily="34" charset="-120"/>
              </a:rPr>
              <a:t>Time Horizon</a:t>
            </a:r>
            <a:endParaRPr lang="en-US" sz="780" dirty="0"/>
          </a:p>
        </p:txBody>
      </p:sp>
      <p:sp>
        <p:nvSpPr>
          <p:cNvPr id="42" name="Text 40"/>
          <p:cNvSpPr/>
          <p:nvPr/>
        </p:nvSpPr>
        <p:spPr>
          <a:xfrm>
            <a:off x="8065008" y="4745736"/>
            <a:ext cx="2103120" cy="182880"/>
          </a:xfrm>
          <a:prstGeom prst="rect">
            <a:avLst/>
          </a:prstGeom>
          <a:noFill/>
          <a:ln/>
        </p:spPr>
        <p:txBody>
          <a:bodyPr wrap="square" lIns="0" tIns="0" rIns="0" bIns="0" rtlCol="0" anchor="ctr"/>
          <a:lstStyle/>
          <a:p>
            <a:pPr marL="0" indent="0">
              <a:buNone/>
            </a:pPr>
            <a:r>
              <a:rPr lang="en-US" sz="820" dirty="0">
                <a:solidFill>
                  <a:srgbClr val="0F172A"/>
                </a:solidFill>
                <a:latin typeface="Segoe UI" pitchFamily="34" charset="0"/>
                <a:ea typeface="Segoe UI" pitchFamily="34" charset="-122"/>
                <a:cs typeface="Segoe UI" pitchFamily="34" charset="-120"/>
              </a:rPr>
              <a:t>Last 500,000 blocks (real-time RPC)</a:t>
            </a:r>
            <a:endParaRPr lang="en-US" sz="820" dirty="0"/>
          </a:p>
        </p:txBody>
      </p:sp>
      <p:sp>
        <p:nvSpPr>
          <p:cNvPr id="43" name="Text 41"/>
          <p:cNvSpPr/>
          <p:nvPr/>
        </p:nvSpPr>
        <p:spPr>
          <a:xfrm>
            <a:off x="10332720" y="4645152"/>
            <a:ext cx="868680" cy="201168"/>
          </a:xfrm>
          <a:prstGeom prst="rect">
            <a:avLst/>
          </a:prstGeom>
          <a:noFill/>
          <a:ln/>
        </p:spPr>
        <p:txBody>
          <a:bodyPr wrap="square" lIns="0" tIns="0" rIns="0" bIns="0" rtlCol="0" anchor="ctr"/>
          <a:lstStyle/>
          <a:p>
            <a:pPr marL="0" indent="0" algn="r">
              <a:buNone/>
            </a:pPr>
            <a:r>
              <a:rPr lang="en-US" sz="780" b="1" dirty="0">
                <a:solidFill>
                  <a:srgbClr val="065F46"/>
                </a:solidFill>
                <a:latin typeface="Segoe UI" pitchFamily="34" charset="0"/>
                <a:ea typeface="Segoe UI" pitchFamily="34" charset="-122"/>
                <a:cs typeface="Segoe UI" pitchFamily="34" charset="-120"/>
              </a:rPr>
              <a:t>✓ SYNCED</a:t>
            </a:r>
            <a:endParaRPr lang="en-US" sz="780" dirty="0"/>
          </a:p>
        </p:txBody>
      </p:sp>
      <p:sp>
        <p:nvSpPr>
          <p:cNvPr id="44" name="Shape 42"/>
          <p:cNvSpPr/>
          <p:nvPr/>
        </p:nvSpPr>
        <p:spPr>
          <a:xfrm>
            <a:off x="7973568" y="5010912"/>
            <a:ext cx="3300984" cy="420624"/>
          </a:xfrm>
          <a:prstGeom prst="roundRect">
            <a:avLst>
              <a:gd name="adj" fmla="val 13043"/>
            </a:avLst>
          </a:prstGeom>
          <a:solidFill>
            <a:srgbClr val="F8FAFC"/>
          </a:solidFill>
          <a:ln w="10160">
            <a:solidFill>
              <a:srgbClr val="E2E8F0"/>
            </a:solidFill>
            <a:prstDash val="solid"/>
          </a:ln>
        </p:spPr>
        <p:txBody>
          <a:bodyPr/>
          <a:lstStyle/>
          <a:p>
            <a:endParaRPr lang="en-US"/>
          </a:p>
        </p:txBody>
      </p:sp>
      <p:sp>
        <p:nvSpPr>
          <p:cNvPr id="45" name="Text 43"/>
          <p:cNvSpPr/>
          <p:nvPr/>
        </p:nvSpPr>
        <p:spPr>
          <a:xfrm>
            <a:off x="8065008" y="5056632"/>
            <a:ext cx="1463040" cy="164592"/>
          </a:xfrm>
          <a:prstGeom prst="rect">
            <a:avLst/>
          </a:prstGeom>
          <a:noFill/>
          <a:ln/>
        </p:spPr>
        <p:txBody>
          <a:bodyPr wrap="square" lIns="0" tIns="0" rIns="0" bIns="0" rtlCol="0" anchor="ctr"/>
          <a:lstStyle/>
          <a:p>
            <a:pPr marL="0" indent="0">
              <a:buNone/>
            </a:pPr>
            <a:r>
              <a:rPr lang="en-US" sz="780" b="1" dirty="0">
                <a:solidFill>
                  <a:srgbClr val="64748B"/>
                </a:solidFill>
                <a:latin typeface="Segoe UI" pitchFamily="34" charset="0"/>
                <a:ea typeface="Segoe UI" pitchFamily="34" charset="-122"/>
                <a:cs typeface="Segoe UI" pitchFamily="34" charset="-120"/>
              </a:rPr>
              <a:t>Scope Limitation</a:t>
            </a:r>
            <a:endParaRPr lang="en-US" sz="780" dirty="0"/>
          </a:p>
        </p:txBody>
      </p:sp>
      <p:sp>
        <p:nvSpPr>
          <p:cNvPr id="46" name="Text 44"/>
          <p:cNvSpPr/>
          <p:nvPr/>
        </p:nvSpPr>
        <p:spPr>
          <a:xfrm>
            <a:off x="8065008" y="5221224"/>
            <a:ext cx="2103120" cy="182880"/>
          </a:xfrm>
          <a:prstGeom prst="rect">
            <a:avLst/>
          </a:prstGeom>
          <a:noFill/>
          <a:ln/>
        </p:spPr>
        <p:txBody>
          <a:bodyPr wrap="square" lIns="0" tIns="0" rIns="0" bIns="0" rtlCol="0" anchor="ctr"/>
          <a:lstStyle/>
          <a:p>
            <a:pPr marL="0" indent="0">
              <a:buNone/>
            </a:pPr>
            <a:r>
              <a:rPr lang="en-US" sz="820" dirty="0">
                <a:solidFill>
                  <a:srgbClr val="0F172A"/>
                </a:solidFill>
                <a:latin typeface="Segoe UI" pitchFamily="34" charset="0"/>
                <a:ea typeface="Segoe UI" pitchFamily="34" charset="-122"/>
                <a:cs typeface="Segoe UI" pitchFamily="34" charset="-120"/>
              </a:rPr>
              <a:t>Historical bytecode prior to block #18.5M</a:t>
            </a:r>
            <a:endParaRPr lang="en-US" sz="820" dirty="0"/>
          </a:p>
        </p:txBody>
      </p:sp>
      <p:sp>
        <p:nvSpPr>
          <p:cNvPr id="47" name="Text 45"/>
          <p:cNvSpPr/>
          <p:nvPr/>
        </p:nvSpPr>
        <p:spPr>
          <a:xfrm>
            <a:off x="10332720" y="5120640"/>
            <a:ext cx="868680" cy="201168"/>
          </a:xfrm>
          <a:prstGeom prst="rect">
            <a:avLst/>
          </a:prstGeom>
          <a:noFill/>
          <a:ln/>
        </p:spPr>
        <p:txBody>
          <a:bodyPr wrap="square" lIns="0" tIns="0" rIns="0" bIns="0" rtlCol="0" anchor="ctr"/>
          <a:lstStyle/>
          <a:p>
            <a:pPr marL="0" indent="0" algn="r">
              <a:buNone/>
            </a:pPr>
            <a:r>
              <a:rPr lang="en-US" sz="780" b="1" dirty="0">
                <a:solidFill>
                  <a:srgbClr val="92400E"/>
                </a:solidFill>
                <a:latin typeface="Segoe UI" pitchFamily="34" charset="0"/>
                <a:ea typeface="Segoe UI" pitchFamily="34" charset="-122"/>
                <a:cs typeface="Segoe UI" pitchFamily="34" charset="-120"/>
              </a:rPr>
              <a:t>⚠ LIMITED</a:t>
            </a:r>
            <a:endParaRPr lang="en-US" sz="780" dirty="0"/>
          </a:p>
        </p:txBody>
      </p:sp>
      <p:sp>
        <p:nvSpPr>
          <p:cNvPr id="48" name="Shape 46"/>
          <p:cNvSpPr/>
          <p:nvPr/>
        </p:nvSpPr>
        <p:spPr>
          <a:xfrm>
            <a:off x="7973568" y="5577840"/>
            <a:ext cx="3300984" cy="475488"/>
          </a:xfrm>
          <a:prstGeom prst="roundRect">
            <a:avLst>
              <a:gd name="adj" fmla="val 11538"/>
            </a:avLst>
          </a:prstGeom>
          <a:solidFill>
            <a:srgbClr val="EEF2FF"/>
          </a:solidFill>
          <a:ln w="10160">
            <a:solidFill>
              <a:srgbClr val="C7D2FE"/>
            </a:solidFill>
            <a:prstDash val="solid"/>
          </a:ln>
        </p:spPr>
        <p:txBody>
          <a:bodyPr/>
          <a:lstStyle/>
          <a:p>
            <a:endParaRPr lang="en-US"/>
          </a:p>
        </p:txBody>
      </p:sp>
      <p:sp>
        <p:nvSpPr>
          <p:cNvPr id="49" name="Text 47"/>
          <p:cNvSpPr/>
          <p:nvPr/>
        </p:nvSpPr>
        <p:spPr>
          <a:xfrm>
            <a:off x="8028432" y="5605272"/>
            <a:ext cx="3191256" cy="420624"/>
          </a:xfrm>
          <a:prstGeom prst="rect">
            <a:avLst/>
          </a:prstGeom>
          <a:noFill/>
          <a:ln/>
        </p:spPr>
        <p:txBody>
          <a:bodyPr wrap="square" lIns="0" tIns="0" rIns="0" bIns="0" rtlCol="0" anchor="ctr"/>
          <a:lstStyle/>
          <a:p>
            <a:pPr marL="0" indent="0">
              <a:lnSpc>
                <a:spcPts val="1100"/>
              </a:lnSpc>
              <a:buNone/>
            </a:pPr>
            <a:r>
              <a:rPr lang="en-US" sz="800" b="1" i="1" dirty="0">
                <a:solidFill>
                  <a:srgbClr val="4338CA"/>
                </a:solidFill>
                <a:latin typeface="Segoe UI" pitchFamily="34" charset="0"/>
                <a:ea typeface="Segoe UI" pitchFamily="34" charset="-122"/>
                <a:cs typeface="Segoe UI" pitchFamily="34" charset="-120"/>
              </a:rPr>
              <a:t>“No matching risk indicators detected within the analyzed coverage scope.” (Never a generic 'Safe')</a:t>
            </a:r>
            <a:endParaRPr lang="en-US" sz="800" dirty="0"/>
          </a:p>
        </p:txBody>
      </p:sp>
      <p:sp>
        <p:nvSpPr>
          <p:cNvPr id="50" name="Shape 48"/>
          <p:cNvSpPr/>
          <p:nvPr/>
        </p:nvSpPr>
        <p:spPr>
          <a:xfrm>
            <a:off x="731520" y="4983480"/>
            <a:ext cx="6858000" cy="1188720"/>
          </a:xfrm>
          <a:prstGeom prst="roundRect">
            <a:avLst>
              <a:gd name="adj" fmla="val 6154"/>
            </a:avLst>
          </a:prstGeom>
          <a:solidFill>
            <a:srgbClr val="FFFFFF"/>
          </a:solidFill>
          <a:ln w="12700">
            <a:solidFill>
              <a:srgbClr val="E2E8F0"/>
            </a:solidFill>
            <a:prstDash val="solid"/>
          </a:ln>
        </p:spPr>
        <p:txBody>
          <a:bodyPr/>
          <a:lstStyle/>
          <a:p>
            <a:endParaRPr lang="en-US"/>
          </a:p>
        </p:txBody>
      </p:sp>
      <p:sp>
        <p:nvSpPr>
          <p:cNvPr id="51" name="Shape 49"/>
          <p:cNvSpPr/>
          <p:nvPr/>
        </p:nvSpPr>
        <p:spPr>
          <a:xfrm>
            <a:off x="749808" y="5001768"/>
            <a:ext cx="682142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52" name="Text 50"/>
          <p:cNvSpPr/>
          <p:nvPr/>
        </p:nvSpPr>
        <p:spPr>
          <a:xfrm>
            <a:off x="914400" y="5102352"/>
            <a:ext cx="6492240" cy="201168"/>
          </a:xfrm>
          <a:prstGeom prst="rect">
            <a:avLst/>
          </a:prstGeom>
          <a:noFill/>
          <a:ln/>
        </p:spPr>
        <p:txBody>
          <a:bodyPr wrap="square" lIns="0" tIns="0" rIns="0" bIns="0" rtlCol="0" anchor="ctr"/>
          <a:lstStyle/>
          <a:p>
            <a:pPr marL="0" indent="0">
              <a:buNone/>
            </a:pPr>
            <a:r>
              <a:rPr lang="en-US" sz="900" b="1" dirty="0">
                <a:solidFill>
                  <a:srgbClr val="4338CA"/>
                </a:solidFill>
                <a:latin typeface="Segoe UI" pitchFamily="34" charset="0"/>
                <a:ea typeface="Segoe UI" pitchFamily="34" charset="-122"/>
                <a:cs typeface="Segoe UI" pitchFamily="34" charset="-120"/>
              </a:rPr>
              <a:t>THE CORE TAKEAWAY: SEPARATE THE AXES</a:t>
            </a:r>
            <a:endParaRPr lang="en-US" sz="900" dirty="0"/>
          </a:p>
        </p:txBody>
      </p:sp>
      <p:sp>
        <p:nvSpPr>
          <p:cNvPr id="53" name="Text 51"/>
          <p:cNvSpPr/>
          <p:nvPr/>
        </p:nvSpPr>
        <p:spPr>
          <a:xfrm>
            <a:off x="914400" y="5321808"/>
            <a:ext cx="6492240" cy="731520"/>
          </a:xfrm>
          <a:prstGeom prst="rect">
            <a:avLst/>
          </a:prstGeom>
          <a:noFill/>
          <a:ln/>
        </p:spPr>
        <p:txBody>
          <a:bodyPr wrap="square" lIns="0" tIns="0" rIns="0" bIns="0" rtlCol="0" anchor="t"/>
          <a:lstStyle/>
          <a:p>
            <a:pPr marL="0" indent="0">
              <a:lnSpc>
                <a:spcPts val="1350"/>
              </a:lnSpc>
              <a:buNone/>
            </a:pPr>
            <a:r>
              <a:rPr lang="en-US" sz="900" dirty="0">
                <a:solidFill>
                  <a:srgbClr val="334155"/>
                </a:solidFill>
                <a:latin typeface="Segoe UI" pitchFamily="34" charset="0"/>
                <a:ea typeface="Segoe UI" pitchFamily="34" charset="-122"/>
                <a:cs typeface="Segoe UI" pitchFamily="34" charset="-120"/>
              </a:rPr>
              <a:t>Historical reputation answers who you are dealing with; Exposure answers what they can take right now. A high-reputation protocol with an unverified upgradeable proxy has high exposure. Sentinel reports both dimensions independently.</a:t>
            </a:r>
            <a:endParaRPr lang="en-US" sz="900" dirty="0"/>
          </a:p>
        </p:txBody>
      </p:sp>
      <p:sp>
        <p:nvSpPr>
          <p:cNvPr id="54" name="Shape 52"/>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55" name="Text 53"/>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56" name="Text 54"/>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05 of 16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3470148" cy="256032"/>
          </a:xfrm>
          <a:prstGeom prst="roundRect">
            <a:avLst>
              <a:gd name="adj" fmla="val 50000"/>
            </a:avLst>
          </a:prstGeom>
          <a:solidFill>
            <a:srgbClr val="FFF1F2"/>
          </a:solidFill>
          <a:ln w="12700">
            <a:solidFill>
              <a:srgbClr val="FECDD3"/>
            </a:solidFill>
            <a:prstDash val="solid"/>
          </a:ln>
        </p:spPr>
        <p:txBody>
          <a:bodyPr/>
          <a:lstStyle/>
          <a:p>
            <a:endParaRPr lang="en-US"/>
          </a:p>
        </p:txBody>
      </p:sp>
      <p:sp>
        <p:nvSpPr>
          <p:cNvPr id="3" name="Text 1"/>
          <p:cNvSpPr/>
          <p:nvPr/>
        </p:nvSpPr>
        <p:spPr>
          <a:xfrm>
            <a:off x="731520" y="384048"/>
            <a:ext cx="3470148" cy="256032"/>
          </a:xfrm>
          <a:prstGeom prst="rect">
            <a:avLst/>
          </a:prstGeom>
          <a:noFill/>
          <a:ln/>
        </p:spPr>
        <p:txBody>
          <a:bodyPr wrap="square" lIns="0" tIns="0" rIns="0" bIns="0" rtlCol="0" anchor="ctr"/>
          <a:lstStyle/>
          <a:p>
            <a:pPr marL="0" indent="0" algn="ctr">
              <a:buNone/>
            </a:pPr>
            <a:r>
              <a:rPr lang="en-US" sz="850" b="1" dirty="0">
                <a:solidFill>
                  <a:srgbClr val="9F1239"/>
                </a:solidFill>
                <a:latin typeface="Segoe UI" pitchFamily="34" charset="0"/>
                <a:ea typeface="Segoe UI" pitchFamily="34" charset="-122"/>
                <a:cs typeface="Segoe UI" pitchFamily="34" charset="-120"/>
              </a:rPr>
              <a:t>USER EXPERIENCE // EVIDENCE GRAPH</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Investigable alerts: relationships make warnings inspectable</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Moving away from panic-inducing red popups to an actionable, decompressed evidence graph.</a:t>
            </a:r>
            <a:endParaRPr lang="en-US" sz="1150" dirty="0"/>
          </a:p>
        </p:txBody>
      </p:sp>
      <p:sp>
        <p:nvSpPr>
          <p:cNvPr id="6" name="Shape 4"/>
          <p:cNvSpPr/>
          <p:nvPr/>
        </p:nvSpPr>
        <p:spPr>
          <a:xfrm>
            <a:off x="731520" y="1691640"/>
            <a:ext cx="4754880" cy="4480560"/>
          </a:xfrm>
          <a:prstGeom prst="roundRect">
            <a:avLst>
              <a:gd name="adj" fmla="val 1633"/>
            </a:avLst>
          </a:prstGeom>
          <a:solidFill>
            <a:srgbClr val="FFFFFF"/>
          </a:solidFill>
          <a:ln w="15240">
            <a:solidFill>
              <a:srgbClr val="FECDD3"/>
            </a:solidFill>
            <a:prstDash val="solid"/>
          </a:ln>
        </p:spPr>
        <p:txBody>
          <a:bodyPr/>
          <a:lstStyle/>
          <a:p>
            <a:endParaRPr lang="en-US"/>
          </a:p>
        </p:txBody>
      </p:sp>
      <p:sp>
        <p:nvSpPr>
          <p:cNvPr id="7" name="Shape 5"/>
          <p:cNvSpPr/>
          <p:nvPr/>
        </p:nvSpPr>
        <p:spPr>
          <a:xfrm>
            <a:off x="749808" y="1709928"/>
            <a:ext cx="4718304" cy="45720"/>
          </a:xfrm>
          <a:prstGeom prst="roundRect">
            <a:avLst>
              <a:gd name="adj" fmla="val 40000"/>
            </a:avLst>
          </a:prstGeom>
          <a:solidFill>
            <a:srgbClr val="F43F5E"/>
          </a:solidFill>
          <a:ln w="12700">
            <a:solidFill>
              <a:srgbClr val="F43F5E"/>
            </a:solidFill>
            <a:prstDash val="solid"/>
          </a:ln>
        </p:spPr>
        <p:txBody>
          <a:bodyPr/>
          <a:lstStyle/>
          <a:p>
            <a:endParaRPr lang="en-US"/>
          </a:p>
        </p:txBody>
      </p:sp>
      <p:sp>
        <p:nvSpPr>
          <p:cNvPr id="8" name="Shape 6"/>
          <p:cNvSpPr/>
          <p:nvPr/>
        </p:nvSpPr>
        <p:spPr>
          <a:xfrm>
            <a:off x="960120" y="1920240"/>
            <a:ext cx="3488436" cy="219456"/>
          </a:xfrm>
          <a:prstGeom prst="roundRect">
            <a:avLst>
              <a:gd name="adj" fmla="val 50000"/>
            </a:avLst>
          </a:prstGeom>
          <a:solidFill>
            <a:srgbClr val="FFF1F2"/>
          </a:solidFill>
          <a:ln w="10160">
            <a:solidFill>
              <a:srgbClr val="FECDD3"/>
            </a:solidFill>
            <a:prstDash val="solid"/>
          </a:ln>
        </p:spPr>
        <p:txBody>
          <a:bodyPr/>
          <a:lstStyle/>
          <a:p>
            <a:endParaRPr lang="en-US"/>
          </a:p>
        </p:txBody>
      </p:sp>
      <p:sp>
        <p:nvSpPr>
          <p:cNvPr id="9" name="Text 7"/>
          <p:cNvSpPr/>
          <p:nvPr/>
        </p:nvSpPr>
        <p:spPr>
          <a:xfrm>
            <a:off x="960120" y="1920240"/>
            <a:ext cx="3488436" cy="219456"/>
          </a:xfrm>
          <a:prstGeom prst="rect">
            <a:avLst/>
          </a:prstGeom>
          <a:noFill/>
          <a:ln/>
        </p:spPr>
        <p:txBody>
          <a:bodyPr wrap="square" lIns="0" tIns="0" rIns="0" bIns="0" rtlCol="0" anchor="ctr"/>
          <a:lstStyle/>
          <a:p>
            <a:pPr marL="0" indent="0" algn="ctr">
              <a:buNone/>
            </a:pPr>
            <a:r>
              <a:rPr lang="en-US" sz="800" b="1" dirty="0">
                <a:solidFill>
                  <a:srgbClr val="9F1239"/>
                </a:solidFill>
                <a:latin typeface="Segoe UI" pitchFamily="34" charset="0"/>
                <a:ea typeface="Segoe UI" pitchFamily="34" charset="-122"/>
                <a:cs typeface="Segoe UI" pitchFamily="34" charset="-120"/>
              </a:rPr>
              <a:t>INVESTIGABLE ALERT // ACTION REQUIRED</a:t>
            </a:r>
            <a:endParaRPr lang="en-US" sz="800" dirty="0"/>
          </a:p>
        </p:txBody>
      </p:sp>
      <p:sp>
        <p:nvSpPr>
          <p:cNvPr id="10" name="Text 8"/>
          <p:cNvSpPr/>
          <p:nvPr/>
        </p:nvSpPr>
        <p:spPr>
          <a:xfrm>
            <a:off x="960120" y="2240280"/>
            <a:ext cx="4297680" cy="320040"/>
          </a:xfrm>
          <a:prstGeom prst="rect">
            <a:avLst/>
          </a:prstGeom>
          <a:noFill/>
          <a:ln/>
        </p:spPr>
        <p:txBody>
          <a:bodyPr wrap="square" lIns="0" tIns="0" rIns="0" bIns="0" rtlCol="0" anchor="ctr"/>
          <a:lstStyle/>
          <a:p>
            <a:pPr marL="0" indent="0">
              <a:buNone/>
            </a:pPr>
            <a:r>
              <a:rPr lang="en-US" sz="1600" b="1" dirty="0">
                <a:solidFill>
                  <a:srgbClr val="0F172A"/>
                </a:solidFill>
                <a:latin typeface="Segoe UI" pitchFamily="34" charset="0"/>
                <a:ea typeface="Segoe UI" pitchFamily="34" charset="-122"/>
                <a:cs typeface="Segoe UI" pitchFamily="34" charset="-120"/>
              </a:rPr>
              <a:t>Active Unlimited Token Allowance</a:t>
            </a:r>
            <a:endParaRPr lang="en-US" sz="1600" dirty="0"/>
          </a:p>
        </p:txBody>
      </p:sp>
      <p:sp>
        <p:nvSpPr>
          <p:cNvPr id="11" name="Shape 9"/>
          <p:cNvSpPr/>
          <p:nvPr/>
        </p:nvSpPr>
        <p:spPr>
          <a:xfrm>
            <a:off x="960120" y="2651760"/>
            <a:ext cx="4297680" cy="749808"/>
          </a:xfrm>
          <a:prstGeom prst="roundRect">
            <a:avLst>
              <a:gd name="adj" fmla="val 9756"/>
            </a:avLst>
          </a:prstGeom>
          <a:solidFill>
            <a:srgbClr val="FFF1F2"/>
          </a:solidFill>
          <a:ln w="12700">
            <a:solidFill>
              <a:srgbClr val="FECDD3"/>
            </a:solidFill>
            <a:prstDash val="solid"/>
          </a:ln>
        </p:spPr>
        <p:txBody>
          <a:bodyPr/>
          <a:lstStyle/>
          <a:p>
            <a:endParaRPr lang="en-US"/>
          </a:p>
        </p:txBody>
      </p:sp>
      <p:sp>
        <p:nvSpPr>
          <p:cNvPr id="12" name="Text 10"/>
          <p:cNvSpPr/>
          <p:nvPr/>
        </p:nvSpPr>
        <p:spPr>
          <a:xfrm>
            <a:off x="1143000" y="2743200"/>
            <a:ext cx="2011680" cy="182880"/>
          </a:xfrm>
          <a:prstGeom prst="rect">
            <a:avLst/>
          </a:prstGeom>
          <a:noFill/>
          <a:ln/>
        </p:spPr>
        <p:txBody>
          <a:bodyPr wrap="square" lIns="0" tIns="0" rIns="0" bIns="0" rtlCol="0" anchor="ctr"/>
          <a:lstStyle/>
          <a:p>
            <a:pPr marL="0" indent="0">
              <a:buNone/>
            </a:pPr>
            <a:r>
              <a:rPr lang="en-US" sz="800" b="1" dirty="0">
                <a:solidFill>
                  <a:srgbClr val="9F1239"/>
                </a:solidFill>
                <a:latin typeface="Segoe UI" pitchFamily="34" charset="0"/>
                <a:ea typeface="Segoe UI" pitchFamily="34" charset="-122"/>
                <a:cs typeface="Segoe UI" pitchFamily="34" charset="-120"/>
              </a:rPr>
              <a:t>EXPOSED LIQUID BALANCE</a:t>
            </a:r>
            <a:endParaRPr lang="en-US" sz="800" dirty="0"/>
          </a:p>
        </p:txBody>
      </p:sp>
      <p:sp>
        <p:nvSpPr>
          <p:cNvPr id="13" name="Text 11"/>
          <p:cNvSpPr/>
          <p:nvPr/>
        </p:nvSpPr>
        <p:spPr>
          <a:xfrm>
            <a:off x="1143000" y="2926080"/>
            <a:ext cx="2286000" cy="384048"/>
          </a:xfrm>
          <a:prstGeom prst="rect">
            <a:avLst/>
          </a:prstGeom>
          <a:noFill/>
          <a:ln/>
        </p:spPr>
        <p:txBody>
          <a:bodyPr wrap="square" lIns="0" tIns="0" rIns="0" bIns="0" rtlCol="0" anchor="ctr"/>
          <a:lstStyle/>
          <a:p>
            <a:pPr marL="0" indent="0">
              <a:buNone/>
            </a:pPr>
            <a:r>
              <a:rPr lang="en-US" sz="2000" b="1" dirty="0">
                <a:solidFill>
                  <a:srgbClr val="9F1239"/>
                </a:solidFill>
                <a:latin typeface="Segoe UI" pitchFamily="34" charset="0"/>
                <a:ea typeface="Segoe UI" pitchFamily="34" charset="-122"/>
                <a:cs typeface="Segoe UI" pitchFamily="34" charset="-120"/>
              </a:rPr>
              <a:t>$2,840.00 USDC</a:t>
            </a:r>
            <a:endParaRPr lang="en-US" sz="2000" dirty="0"/>
          </a:p>
        </p:txBody>
      </p:sp>
      <p:sp>
        <p:nvSpPr>
          <p:cNvPr id="14" name="Text 12"/>
          <p:cNvSpPr/>
          <p:nvPr/>
        </p:nvSpPr>
        <p:spPr>
          <a:xfrm>
            <a:off x="3291840" y="2834640"/>
            <a:ext cx="1828800" cy="411480"/>
          </a:xfrm>
          <a:prstGeom prst="rect">
            <a:avLst/>
          </a:prstGeom>
          <a:noFill/>
          <a:ln/>
        </p:spPr>
        <p:txBody>
          <a:bodyPr wrap="square" lIns="0" tIns="0" rIns="0" bIns="0" rtlCol="0" anchor="ctr"/>
          <a:lstStyle/>
          <a:p>
            <a:pPr marL="0" indent="0">
              <a:lnSpc>
                <a:spcPts val="1100"/>
              </a:lnSpc>
              <a:buNone/>
            </a:pPr>
            <a:r>
              <a:rPr lang="en-US" sz="850" dirty="0">
                <a:solidFill>
                  <a:srgbClr val="9F1239"/>
                </a:solidFill>
                <a:latin typeface="Segoe UI" pitchFamily="34" charset="0"/>
                <a:ea typeface="Segoe UI" pitchFamily="34" charset="-122"/>
                <a:cs typeface="Segoe UI" pitchFamily="34" charset="-120"/>
              </a:rPr>
              <a:t>100% of wallet USDC is</a:t>
            </a:r>
            <a:endParaRPr lang="en-US" sz="850" dirty="0"/>
          </a:p>
          <a:p>
            <a:pPr marL="0" indent="0">
              <a:lnSpc>
                <a:spcPts val="1100"/>
              </a:lnSpc>
              <a:buNone/>
            </a:pPr>
            <a:r>
              <a:rPr lang="en-US" sz="850" dirty="0">
                <a:solidFill>
                  <a:srgbClr val="9F1239"/>
                </a:solidFill>
                <a:latin typeface="Segoe UI" pitchFamily="34" charset="0"/>
                <a:ea typeface="Segoe UI" pitchFamily="34" charset="-122"/>
                <a:cs typeface="Segoe UI" pitchFamily="34" charset="-120"/>
              </a:rPr>
              <a:t>exposed to spender contract</a:t>
            </a:r>
            <a:endParaRPr lang="en-US" sz="850" dirty="0"/>
          </a:p>
        </p:txBody>
      </p:sp>
      <p:sp>
        <p:nvSpPr>
          <p:cNvPr id="15" name="Text 13"/>
          <p:cNvSpPr/>
          <p:nvPr/>
        </p:nvSpPr>
        <p:spPr>
          <a:xfrm>
            <a:off x="960120" y="3538728"/>
            <a:ext cx="4297680" cy="201168"/>
          </a:xfrm>
          <a:prstGeom prst="rect">
            <a:avLst/>
          </a:prstGeom>
          <a:noFill/>
          <a:ln/>
        </p:spPr>
        <p:txBody>
          <a:bodyPr wrap="square" lIns="0" tIns="0" rIns="0" bIns="0" rtlCol="0" anchor="ctr"/>
          <a:lstStyle/>
          <a:p>
            <a:pPr marL="0" indent="0">
              <a:buNone/>
            </a:pPr>
            <a:r>
              <a:rPr lang="en-US" sz="850" b="1" dirty="0">
                <a:solidFill>
                  <a:srgbClr val="64748B"/>
                </a:solidFill>
                <a:latin typeface="Segoe UI" pitchFamily="34" charset="0"/>
                <a:ea typeface="Segoe UI" pitchFamily="34" charset="-122"/>
                <a:cs typeface="Segoe UI" pitchFamily="34" charset="-120"/>
              </a:rPr>
              <a:t>DECOMPOSED REASON CHAIN:</a:t>
            </a:r>
            <a:endParaRPr lang="en-US" sz="850" dirty="0"/>
          </a:p>
        </p:txBody>
      </p:sp>
      <p:sp>
        <p:nvSpPr>
          <p:cNvPr id="16" name="Shape 14"/>
          <p:cNvSpPr/>
          <p:nvPr/>
        </p:nvSpPr>
        <p:spPr>
          <a:xfrm>
            <a:off x="960120" y="3794760"/>
            <a:ext cx="4297680" cy="347472"/>
          </a:xfrm>
          <a:prstGeom prst="roundRect">
            <a:avLst>
              <a:gd name="adj" fmla="val 13158"/>
            </a:avLst>
          </a:prstGeom>
          <a:solidFill>
            <a:srgbClr val="F8FAFC"/>
          </a:solidFill>
          <a:ln w="7620">
            <a:solidFill>
              <a:srgbClr val="E2E8F0"/>
            </a:solidFill>
            <a:prstDash val="solid"/>
          </a:ln>
        </p:spPr>
        <p:txBody>
          <a:bodyPr/>
          <a:lstStyle/>
          <a:p>
            <a:endParaRPr lang="en-US"/>
          </a:p>
        </p:txBody>
      </p:sp>
      <p:sp>
        <p:nvSpPr>
          <p:cNvPr id="17" name="Text 15"/>
          <p:cNvSpPr/>
          <p:nvPr/>
        </p:nvSpPr>
        <p:spPr>
          <a:xfrm>
            <a:off x="1051560" y="3867912"/>
            <a:ext cx="228600" cy="201168"/>
          </a:xfrm>
          <a:prstGeom prst="rect">
            <a:avLst/>
          </a:prstGeom>
          <a:noFill/>
          <a:ln/>
        </p:spPr>
        <p:txBody>
          <a:bodyPr wrap="square" lIns="0" tIns="0" rIns="0" bIns="0" rtlCol="0" anchor="ctr"/>
          <a:lstStyle/>
          <a:p>
            <a:pPr marL="0" indent="0">
              <a:buNone/>
            </a:pPr>
            <a:r>
              <a:rPr lang="en-US" sz="900" b="1" dirty="0">
                <a:solidFill>
                  <a:srgbClr val="4338CA"/>
                </a:solidFill>
                <a:latin typeface="Segoe UI" pitchFamily="34" charset="0"/>
                <a:ea typeface="Segoe UI" pitchFamily="34" charset="-122"/>
                <a:cs typeface="Segoe UI" pitchFamily="34" charset="-120"/>
              </a:rPr>
              <a:t>1</a:t>
            </a:r>
            <a:endParaRPr lang="en-US" sz="900" dirty="0"/>
          </a:p>
        </p:txBody>
      </p:sp>
      <p:sp>
        <p:nvSpPr>
          <p:cNvPr id="18" name="Text 16"/>
          <p:cNvSpPr/>
          <p:nvPr/>
        </p:nvSpPr>
        <p:spPr>
          <a:xfrm>
            <a:off x="1325880" y="3867912"/>
            <a:ext cx="3291840" cy="201168"/>
          </a:xfrm>
          <a:prstGeom prst="rect">
            <a:avLst/>
          </a:prstGeom>
          <a:noFill/>
          <a:ln/>
        </p:spPr>
        <p:txBody>
          <a:bodyPr wrap="square" lIns="0" tIns="0" rIns="0" bIns="0" rtlCol="0" anchor="ctr"/>
          <a:lstStyle/>
          <a:p>
            <a:pPr marL="0" indent="0">
              <a:buNone/>
            </a:pPr>
            <a:r>
              <a:rPr lang="en-US" sz="850" dirty="0">
                <a:solidFill>
                  <a:srgbClr val="334155"/>
                </a:solidFill>
                <a:latin typeface="Segoe UI" pitchFamily="34" charset="0"/>
                <a:ea typeface="Segoe UI" pitchFamily="34" charset="-122"/>
                <a:cs typeface="Segoe UI" pitchFamily="34" charset="-120"/>
              </a:rPr>
              <a:t>Unlimited spending allowance granted at tx 0x4e8b...</a:t>
            </a:r>
            <a:endParaRPr lang="en-US" sz="850" dirty="0"/>
          </a:p>
        </p:txBody>
      </p:sp>
      <p:sp>
        <p:nvSpPr>
          <p:cNvPr id="19" name="Text 17"/>
          <p:cNvSpPr/>
          <p:nvPr/>
        </p:nvSpPr>
        <p:spPr>
          <a:xfrm>
            <a:off x="4617720" y="3867912"/>
            <a:ext cx="548640" cy="201168"/>
          </a:xfrm>
          <a:prstGeom prst="rect">
            <a:avLst/>
          </a:prstGeom>
          <a:noFill/>
          <a:ln/>
        </p:spPr>
        <p:txBody>
          <a:bodyPr wrap="square" lIns="0" tIns="0" rIns="0" bIns="0" rtlCol="0" anchor="ctr"/>
          <a:lstStyle/>
          <a:p>
            <a:pPr marL="0" indent="0" algn="r">
              <a:buNone/>
            </a:pPr>
            <a:r>
              <a:rPr lang="en-US" sz="750" b="1" dirty="0">
                <a:solidFill>
                  <a:srgbClr val="065F46"/>
                </a:solidFill>
                <a:latin typeface="Segoe UI" pitchFamily="34" charset="0"/>
                <a:ea typeface="Segoe UI" pitchFamily="34" charset="-122"/>
                <a:cs typeface="Segoe UI" pitchFamily="34" charset="-120"/>
              </a:rPr>
              <a:t>FACT</a:t>
            </a:r>
            <a:endParaRPr lang="en-US" sz="750" dirty="0"/>
          </a:p>
        </p:txBody>
      </p:sp>
      <p:sp>
        <p:nvSpPr>
          <p:cNvPr id="20" name="Shape 18"/>
          <p:cNvSpPr/>
          <p:nvPr/>
        </p:nvSpPr>
        <p:spPr>
          <a:xfrm>
            <a:off x="960120" y="4206240"/>
            <a:ext cx="4297680" cy="347472"/>
          </a:xfrm>
          <a:prstGeom prst="roundRect">
            <a:avLst>
              <a:gd name="adj" fmla="val 13158"/>
            </a:avLst>
          </a:prstGeom>
          <a:solidFill>
            <a:srgbClr val="F8FAFC"/>
          </a:solidFill>
          <a:ln w="7620">
            <a:solidFill>
              <a:srgbClr val="E2E8F0"/>
            </a:solidFill>
            <a:prstDash val="solid"/>
          </a:ln>
        </p:spPr>
        <p:txBody>
          <a:bodyPr/>
          <a:lstStyle/>
          <a:p>
            <a:endParaRPr lang="en-US"/>
          </a:p>
        </p:txBody>
      </p:sp>
      <p:sp>
        <p:nvSpPr>
          <p:cNvPr id="21" name="Text 19"/>
          <p:cNvSpPr/>
          <p:nvPr/>
        </p:nvSpPr>
        <p:spPr>
          <a:xfrm>
            <a:off x="1051560" y="4279392"/>
            <a:ext cx="228600" cy="201168"/>
          </a:xfrm>
          <a:prstGeom prst="rect">
            <a:avLst/>
          </a:prstGeom>
          <a:noFill/>
          <a:ln/>
        </p:spPr>
        <p:txBody>
          <a:bodyPr wrap="square" lIns="0" tIns="0" rIns="0" bIns="0" rtlCol="0" anchor="ctr"/>
          <a:lstStyle/>
          <a:p>
            <a:pPr marL="0" indent="0">
              <a:buNone/>
            </a:pPr>
            <a:r>
              <a:rPr lang="en-US" sz="900" b="1" dirty="0">
                <a:solidFill>
                  <a:srgbClr val="4338CA"/>
                </a:solidFill>
                <a:latin typeface="Segoe UI" pitchFamily="34" charset="0"/>
                <a:ea typeface="Segoe UI" pitchFamily="34" charset="-122"/>
                <a:cs typeface="Segoe UI" pitchFamily="34" charset="-120"/>
              </a:rPr>
              <a:t>2</a:t>
            </a:r>
            <a:endParaRPr lang="en-US" sz="900" dirty="0"/>
          </a:p>
        </p:txBody>
      </p:sp>
      <p:sp>
        <p:nvSpPr>
          <p:cNvPr id="22" name="Text 20"/>
          <p:cNvSpPr/>
          <p:nvPr/>
        </p:nvSpPr>
        <p:spPr>
          <a:xfrm>
            <a:off x="1325880" y="4279392"/>
            <a:ext cx="3291840" cy="201168"/>
          </a:xfrm>
          <a:prstGeom prst="rect">
            <a:avLst/>
          </a:prstGeom>
          <a:noFill/>
          <a:ln/>
        </p:spPr>
        <p:txBody>
          <a:bodyPr wrap="square" lIns="0" tIns="0" rIns="0" bIns="0" rtlCol="0" anchor="ctr"/>
          <a:lstStyle/>
          <a:p>
            <a:pPr marL="0" indent="0">
              <a:buNone/>
            </a:pPr>
            <a:r>
              <a:rPr lang="en-US" sz="850" dirty="0">
                <a:solidFill>
                  <a:srgbClr val="334155"/>
                </a:solidFill>
                <a:latin typeface="Segoe UI" pitchFamily="34" charset="0"/>
                <a:ea typeface="Segoe UI" pitchFamily="34" charset="-122"/>
                <a:cs typeface="Segoe UI" pitchFamily="34" charset="-120"/>
              </a:rPr>
              <a:t>Spender 0x7A21... is an ERC-1967 upgradeable proxy</a:t>
            </a:r>
            <a:endParaRPr lang="en-US" sz="850" dirty="0"/>
          </a:p>
        </p:txBody>
      </p:sp>
      <p:sp>
        <p:nvSpPr>
          <p:cNvPr id="23" name="Text 21"/>
          <p:cNvSpPr/>
          <p:nvPr/>
        </p:nvSpPr>
        <p:spPr>
          <a:xfrm>
            <a:off x="4617720" y="4279392"/>
            <a:ext cx="548640" cy="201168"/>
          </a:xfrm>
          <a:prstGeom prst="rect">
            <a:avLst/>
          </a:prstGeom>
          <a:noFill/>
          <a:ln/>
        </p:spPr>
        <p:txBody>
          <a:bodyPr wrap="square" lIns="0" tIns="0" rIns="0" bIns="0" rtlCol="0" anchor="ctr"/>
          <a:lstStyle/>
          <a:p>
            <a:pPr marL="0" indent="0" algn="r">
              <a:buNone/>
            </a:pPr>
            <a:r>
              <a:rPr lang="en-US" sz="750" b="1" dirty="0">
                <a:solidFill>
                  <a:srgbClr val="065F46"/>
                </a:solidFill>
                <a:latin typeface="Segoe UI" pitchFamily="34" charset="0"/>
                <a:ea typeface="Segoe UI" pitchFamily="34" charset="-122"/>
                <a:cs typeface="Segoe UI" pitchFamily="34" charset="-120"/>
              </a:rPr>
              <a:t>FACT</a:t>
            </a:r>
            <a:endParaRPr lang="en-US" sz="750" dirty="0"/>
          </a:p>
        </p:txBody>
      </p:sp>
      <p:sp>
        <p:nvSpPr>
          <p:cNvPr id="24" name="Shape 22"/>
          <p:cNvSpPr/>
          <p:nvPr/>
        </p:nvSpPr>
        <p:spPr>
          <a:xfrm>
            <a:off x="960120" y="4617720"/>
            <a:ext cx="4297680" cy="347472"/>
          </a:xfrm>
          <a:prstGeom prst="roundRect">
            <a:avLst>
              <a:gd name="adj" fmla="val 13158"/>
            </a:avLst>
          </a:prstGeom>
          <a:solidFill>
            <a:srgbClr val="F8FAFC"/>
          </a:solidFill>
          <a:ln w="7620">
            <a:solidFill>
              <a:srgbClr val="E2E8F0"/>
            </a:solidFill>
            <a:prstDash val="solid"/>
          </a:ln>
        </p:spPr>
        <p:txBody>
          <a:bodyPr/>
          <a:lstStyle/>
          <a:p>
            <a:endParaRPr lang="en-US"/>
          </a:p>
        </p:txBody>
      </p:sp>
      <p:sp>
        <p:nvSpPr>
          <p:cNvPr id="25" name="Text 23"/>
          <p:cNvSpPr/>
          <p:nvPr/>
        </p:nvSpPr>
        <p:spPr>
          <a:xfrm>
            <a:off x="1051560" y="4690872"/>
            <a:ext cx="228600" cy="201168"/>
          </a:xfrm>
          <a:prstGeom prst="rect">
            <a:avLst/>
          </a:prstGeom>
          <a:noFill/>
          <a:ln/>
        </p:spPr>
        <p:txBody>
          <a:bodyPr wrap="square" lIns="0" tIns="0" rIns="0" bIns="0" rtlCol="0" anchor="ctr"/>
          <a:lstStyle/>
          <a:p>
            <a:pPr marL="0" indent="0">
              <a:buNone/>
            </a:pPr>
            <a:r>
              <a:rPr lang="en-US" sz="900" b="1" dirty="0">
                <a:solidFill>
                  <a:srgbClr val="4338CA"/>
                </a:solidFill>
                <a:latin typeface="Segoe UI" pitchFamily="34" charset="0"/>
                <a:ea typeface="Segoe UI" pitchFamily="34" charset="-122"/>
                <a:cs typeface="Segoe UI" pitchFamily="34" charset="-120"/>
              </a:rPr>
              <a:t>3</a:t>
            </a:r>
            <a:endParaRPr lang="en-US" sz="900" dirty="0"/>
          </a:p>
        </p:txBody>
      </p:sp>
      <p:sp>
        <p:nvSpPr>
          <p:cNvPr id="26" name="Text 24"/>
          <p:cNvSpPr/>
          <p:nvPr/>
        </p:nvSpPr>
        <p:spPr>
          <a:xfrm>
            <a:off x="1325880" y="4690872"/>
            <a:ext cx="3291840" cy="201168"/>
          </a:xfrm>
          <a:prstGeom prst="rect">
            <a:avLst/>
          </a:prstGeom>
          <a:noFill/>
          <a:ln/>
        </p:spPr>
        <p:txBody>
          <a:bodyPr wrap="square" lIns="0" tIns="0" rIns="0" bIns="0" rtlCol="0" anchor="ctr"/>
          <a:lstStyle/>
          <a:p>
            <a:pPr marL="0" indent="0">
              <a:buNone/>
            </a:pPr>
            <a:r>
              <a:rPr lang="en-US" sz="850" dirty="0">
                <a:solidFill>
                  <a:srgbClr val="334155"/>
                </a:solidFill>
                <a:latin typeface="Segoe UI" pitchFamily="34" charset="0"/>
                <a:ea typeface="Segoe UI" pitchFamily="34" charset="-122"/>
                <a:cs typeface="Segoe UI" pitchFamily="34" charset="-120"/>
              </a:rPr>
              <a:t>Admin key updated 48h ago to single EOA 0xABC9...</a:t>
            </a:r>
            <a:endParaRPr lang="en-US" sz="850" dirty="0"/>
          </a:p>
        </p:txBody>
      </p:sp>
      <p:sp>
        <p:nvSpPr>
          <p:cNvPr id="27" name="Text 25"/>
          <p:cNvSpPr/>
          <p:nvPr/>
        </p:nvSpPr>
        <p:spPr>
          <a:xfrm>
            <a:off x="4617720" y="4690872"/>
            <a:ext cx="548640" cy="201168"/>
          </a:xfrm>
          <a:prstGeom prst="rect">
            <a:avLst/>
          </a:prstGeom>
          <a:noFill/>
          <a:ln/>
        </p:spPr>
        <p:txBody>
          <a:bodyPr wrap="square" lIns="0" tIns="0" rIns="0" bIns="0" rtlCol="0" anchor="ctr"/>
          <a:lstStyle/>
          <a:p>
            <a:pPr marL="0" indent="0" algn="r">
              <a:buNone/>
            </a:pPr>
            <a:r>
              <a:rPr lang="en-US" sz="750" b="1" dirty="0">
                <a:solidFill>
                  <a:srgbClr val="065F46"/>
                </a:solidFill>
                <a:latin typeface="Segoe UI" pitchFamily="34" charset="0"/>
                <a:ea typeface="Segoe UI" pitchFamily="34" charset="-122"/>
                <a:cs typeface="Segoe UI" pitchFamily="34" charset="-120"/>
              </a:rPr>
              <a:t>FACT</a:t>
            </a:r>
            <a:endParaRPr lang="en-US" sz="750" dirty="0"/>
          </a:p>
        </p:txBody>
      </p:sp>
      <p:sp>
        <p:nvSpPr>
          <p:cNvPr id="28" name="Shape 26"/>
          <p:cNvSpPr/>
          <p:nvPr/>
        </p:nvSpPr>
        <p:spPr>
          <a:xfrm>
            <a:off x="960120" y="5029200"/>
            <a:ext cx="4297680" cy="347472"/>
          </a:xfrm>
          <a:prstGeom prst="roundRect">
            <a:avLst>
              <a:gd name="adj" fmla="val 13158"/>
            </a:avLst>
          </a:prstGeom>
          <a:solidFill>
            <a:srgbClr val="F8FAFC"/>
          </a:solidFill>
          <a:ln w="7620">
            <a:solidFill>
              <a:srgbClr val="E2E8F0"/>
            </a:solidFill>
            <a:prstDash val="solid"/>
          </a:ln>
        </p:spPr>
        <p:txBody>
          <a:bodyPr/>
          <a:lstStyle/>
          <a:p>
            <a:endParaRPr lang="en-US"/>
          </a:p>
        </p:txBody>
      </p:sp>
      <p:sp>
        <p:nvSpPr>
          <p:cNvPr id="29" name="Text 27"/>
          <p:cNvSpPr/>
          <p:nvPr/>
        </p:nvSpPr>
        <p:spPr>
          <a:xfrm>
            <a:off x="1051560" y="5102352"/>
            <a:ext cx="228600" cy="201168"/>
          </a:xfrm>
          <a:prstGeom prst="rect">
            <a:avLst/>
          </a:prstGeom>
          <a:noFill/>
          <a:ln/>
        </p:spPr>
        <p:txBody>
          <a:bodyPr wrap="square" lIns="0" tIns="0" rIns="0" bIns="0" rtlCol="0" anchor="ctr"/>
          <a:lstStyle/>
          <a:p>
            <a:pPr marL="0" indent="0">
              <a:buNone/>
            </a:pPr>
            <a:r>
              <a:rPr lang="en-US" sz="900" b="1" dirty="0">
                <a:solidFill>
                  <a:srgbClr val="4338CA"/>
                </a:solidFill>
                <a:latin typeface="Segoe UI" pitchFamily="34" charset="0"/>
                <a:ea typeface="Segoe UI" pitchFamily="34" charset="-122"/>
                <a:cs typeface="Segoe UI" pitchFamily="34" charset="-120"/>
              </a:rPr>
              <a:t>4</a:t>
            </a:r>
            <a:endParaRPr lang="en-US" sz="900" dirty="0"/>
          </a:p>
        </p:txBody>
      </p:sp>
      <p:sp>
        <p:nvSpPr>
          <p:cNvPr id="30" name="Text 28"/>
          <p:cNvSpPr/>
          <p:nvPr/>
        </p:nvSpPr>
        <p:spPr>
          <a:xfrm>
            <a:off x="1325880" y="5102352"/>
            <a:ext cx="3291840" cy="201168"/>
          </a:xfrm>
          <a:prstGeom prst="rect">
            <a:avLst/>
          </a:prstGeom>
          <a:noFill/>
          <a:ln/>
        </p:spPr>
        <p:txBody>
          <a:bodyPr wrap="square" lIns="0" tIns="0" rIns="0" bIns="0" rtlCol="0" anchor="ctr"/>
          <a:lstStyle/>
          <a:p>
            <a:pPr marL="0" indent="0">
              <a:buNone/>
            </a:pPr>
            <a:r>
              <a:rPr lang="en-US" sz="850" dirty="0">
                <a:solidFill>
                  <a:srgbClr val="334155"/>
                </a:solidFill>
                <a:latin typeface="Segoe UI" pitchFamily="34" charset="0"/>
                <a:ea typeface="Segoe UI" pitchFamily="34" charset="-122"/>
                <a:cs typeface="Segoe UI" pitchFamily="34" charset="-120"/>
              </a:rPr>
              <a:t>Zero timelock delay on proxy contract upgrades</a:t>
            </a:r>
            <a:endParaRPr lang="en-US" sz="850" dirty="0"/>
          </a:p>
        </p:txBody>
      </p:sp>
      <p:sp>
        <p:nvSpPr>
          <p:cNvPr id="31" name="Text 29"/>
          <p:cNvSpPr/>
          <p:nvPr/>
        </p:nvSpPr>
        <p:spPr>
          <a:xfrm>
            <a:off x="4617720" y="5102352"/>
            <a:ext cx="548640" cy="201168"/>
          </a:xfrm>
          <a:prstGeom prst="rect">
            <a:avLst/>
          </a:prstGeom>
          <a:noFill/>
          <a:ln/>
        </p:spPr>
        <p:txBody>
          <a:bodyPr wrap="square" lIns="0" tIns="0" rIns="0" bIns="0" rtlCol="0" anchor="ctr"/>
          <a:lstStyle/>
          <a:p>
            <a:pPr marL="0" indent="0" algn="r">
              <a:buNone/>
            </a:pPr>
            <a:r>
              <a:rPr lang="en-US" sz="750" b="1" dirty="0">
                <a:solidFill>
                  <a:srgbClr val="92400E"/>
                </a:solidFill>
                <a:latin typeface="Segoe UI" pitchFamily="34" charset="0"/>
                <a:ea typeface="Segoe UI" pitchFamily="34" charset="-122"/>
                <a:cs typeface="Segoe UI" pitchFamily="34" charset="-120"/>
              </a:rPr>
              <a:t>RISK</a:t>
            </a:r>
            <a:endParaRPr lang="en-US" sz="750" dirty="0"/>
          </a:p>
        </p:txBody>
      </p:sp>
      <p:sp>
        <p:nvSpPr>
          <p:cNvPr id="32" name="Shape 30"/>
          <p:cNvSpPr/>
          <p:nvPr/>
        </p:nvSpPr>
        <p:spPr>
          <a:xfrm>
            <a:off x="960120" y="5577840"/>
            <a:ext cx="1325880" cy="384048"/>
          </a:xfrm>
          <a:prstGeom prst="roundRect">
            <a:avLst>
              <a:gd name="adj" fmla="val 19048"/>
            </a:avLst>
          </a:prstGeom>
          <a:solidFill>
            <a:srgbClr val="EEF2FF"/>
          </a:solidFill>
          <a:ln w="12700">
            <a:solidFill>
              <a:srgbClr val="C7D2FE"/>
            </a:solidFill>
            <a:prstDash val="solid"/>
          </a:ln>
        </p:spPr>
        <p:txBody>
          <a:bodyPr/>
          <a:lstStyle/>
          <a:p>
            <a:endParaRPr lang="en-US"/>
          </a:p>
        </p:txBody>
      </p:sp>
      <p:sp>
        <p:nvSpPr>
          <p:cNvPr id="33" name="Text 31"/>
          <p:cNvSpPr/>
          <p:nvPr/>
        </p:nvSpPr>
        <p:spPr>
          <a:xfrm>
            <a:off x="960120" y="5577840"/>
            <a:ext cx="1325880" cy="384048"/>
          </a:xfrm>
          <a:prstGeom prst="rect">
            <a:avLst/>
          </a:prstGeom>
          <a:noFill/>
          <a:ln/>
        </p:spPr>
        <p:txBody>
          <a:bodyPr wrap="square" lIns="0" tIns="0" rIns="0" bIns="0" rtlCol="0" anchor="ctr"/>
          <a:lstStyle/>
          <a:p>
            <a:pPr marL="0" indent="0" algn="ctr">
              <a:buNone/>
            </a:pPr>
            <a:r>
              <a:rPr lang="en-US" sz="900" b="1" dirty="0">
                <a:solidFill>
                  <a:srgbClr val="4338CA"/>
                </a:solidFill>
                <a:latin typeface="Segoe UI" pitchFamily="34" charset="0"/>
                <a:ea typeface="Segoe UI" pitchFamily="34" charset="-122"/>
                <a:cs typeface="Segoe UI" pitchFamily="34" charset="-120"/>
              </a:rPr>
              <a:t>Inspect Proof</a:t>
            </a:r>
            <a:endParaRPr lang="en-US" sz="900" dirty="0"/>
          </a:p>
        </p:txBody>
      </p:sp>
      <p:sp>
        <p:nvSpPr>
          <p:cNvPr id="34" name="Shape 32"/>
          <p:cNvSpPr/>
          <p:nvPr/>
        </p:nvSpPr>
        <p:spPr>
          <a:xfrm>
            <a:off x="2423160" y="5577840"/>
            <a:ext cx="1325880" cy="384048"/>
          </a:xfrm>
          <a:prstGeom prst="roundRect">
            <a:avLst>
              <a:gd name="adj" fmla="val 19048"/>
            </a:avLst>
          </a:prstGeom>
          <a:solidFill>
            <a:srgbClr val="FFF1F2"/>
          </a:solidFill>
          <a:ln w="12700">
            <a:solidFill>
              <a:srgbClr val="FECDD3"/>
            </a:solidFill>
            <a:prstDash val="solid"/>
          </a:ln>
        </p:spPr>
        <p:txBody>
          <a:bodyPr/>
          <a:lstStyle/>
          <a:p>
            <a:endParaRPr lang="en-US"/>
          </a:p>
        </p:txBody>
      </p:sp>
      <p:sp>
        <p:nvSpPr>
          <p:cNvPr id="35" name="Text 33"/>
          <p:cNvSpPr/>
          <p:nvPr/>
        </p:nvSpPr>
        <p:spPr>
          <a:xfrm>
            <a:off x="2423160" y="5577840"/>
            <a:ext cx="1325880" cy="384048"/>
          </a:xfrm>
          <a:prstGeom prst="rect">
            <a:avLst/>
          </a:prstGeom>
          <a:noFill/>
          <a:ln/>
        </p:spPr>
        <p:txBody>
          <a:bodyPr wrap="square" lIns="0" tIns="0" rIns="0" bIns="0" rtlCol="0" anchor="ctr"/>
          <a:lstStyle/>
          <a:p>
            <a:pPr marL="0" indent="0" algn="ctr">
              <a:buNone/>
            </a:pPr>
            <a:r>
              <a:rPr lang="en-US" sz="900" b="1" dirty="0">
                <a:solidFill>
                  <a:srgbClr val="9F1239"/>
                </a:solidFill>
                <a:latin typeface="Segoe UI" pitchFamily="34" charset="0"/>
                <a:ea typeface="Segoe UI" pitchFamily="34" charset="-122"/>
                <a:cs typeface="Segoe UI" pitchFamily="34" charset="-120"/>
              </a:rPr>
              <a:t>Revoke Cap</a:t>
            </a:r>
            <a:endParaRPr lang="en-US" sz="900" dirty="0"/>
          </a:p>
        </p:txBody>
      </p:sp>
      <p:sp>
        <p:nvSpPr>
          <p:cNvPr id="36" name="Shape 34"/>
          <p:cNvSpPr/>
          <p:nvPr/>
        </p:nvSpPr>
        <p:spPr>
          <a:xfrm>
            <a:off x="3886200" y="5577840"/>
            <a:ext cx="1325880" cy="384048"/>
          </a:xfrm>
          <a:prstGeom prst="roundRect">
            <a:avLst>
              <a:gd name="adj" fmla="val 19048"/>
            </a:avLst>
          </a:prstGeom>
          <a:solidFill>
            <a:srgbClr val="F1F5F9"/>
          </a:solidFill>
          <a:ln w="12700">
            <a:solidFill>
              <a:srgbClr val="CBD5E1"/>
            </a:solidFill>
            <a:prstDash val="solid"/>
          </a:ln>
        </p:spPr>
        <p:txBody>
          <a:bodyPr/>
          <a:lstStyle/>
          <a:p>
            <a:endParaRPr lang="en-US"/>
          </a:p>
        </p:txBody>
      </p:sp>
      <p:sp>
        <p:nvSpPr>
          <p:cNvPr id="37" name="Text 35"/>
          <p:cNvSpPr/>
          <p:nvPr/>
        </p:nvSpPr>
        <p:spPr>
          <a:xfrm>
            <a:off x="3886200" y="5577840"/>
            <a:ext cx="1325880" cy="384048"/>
          </a:xfrm>
          <a:prstGeom prst="rect">
            <a:avLst/>
          </a:prstGeom>
          <a:noFill/>
          <a:ln/>
        </p:spPr>
        <p:txBody>
          <a:bodyPr wrap="square" lIns="0" tIns="0" rIns="0" bIns="0" rtlCol="0" anchor="ctr"/>
          <a:lstStyle/>
          <a:p>
            <a:pPr marL="0" indent="0" algn="ctr">
              <a:buNone/>
            </a:pPr>
            <a:r>
              <a:rPr lang="en-US" sz="900" b="1" dirty="0">
                <a:solidFill>
                  <a:srgbClr val="64748B"/>
                </a:solidFill>
                <a:latin typeface="Segoe UI" pitchFamily="34" charset="0"/>
                <a:ea typeface="Segoe UI" pitchFamily="34" charset="-122"/>
                <a:cs typeface="Segoe UI" pitchFamily="34" charset="-120"/>
              </a:rPr>
              <a:t>Keep Active</a:t>
            </a:r>
            <a:endParaRPr lang="en-US" sz="900" dirty="0"/>
          </a:p>
        </p:txBody>
      </p:sp>
      <p:sp>
        <p:nvSpPr>
          <p:cNvPr id="38" name="Shape 36"/>
          <p:cNvSpPr/>
          <p:nvPr/>
        </p:nvSpPr>
        <p:spPr>
          <a:xfrm>
            <a:off x="5806440" y="1691640"/>
            <a:ext cx="5669280" cy="4480560"/>
          </a:xfrm>
          <a:prstGeom prst="roundRect">
            <a:avLst>
              <a:gd name="adj" fmla="val 1633"/>
            </a:avLst>
          </a:prstGeom>
          <a:solidFill>
            <a:srgbClr val="FFFFFF"/>
          </a:solidFill>
          <a:ln w="12700">
            <a:solidFill>
              <a:srgbClr val="E2E8F0"/>
            </a:solidFill>
            <a:prstDash val="solid"/>
          </a:ln>
        </p:spPr>
        <p:txBody>
          <a:bodyPr/>
          <a:lstStyle/>
          <a:p>
            <a:endParaRPr lang="en-US"/>
          </a:p>
        </p:txBody>
      </p:sp>
      <p:sp>
        <p:nvSpPr>
          <p:cNvPr id="39" name="Shape 37"/>
          <p:cNvSpPr/>
          <p:nvPr/>
        </p:nvSpPr>
        <p:spPr>
          <a:xfrm>
            <a:off x="5824728" y="1709928"/>
            <a:ext cx="563270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40" name="Shape 38"/>
          <p:cNvSpPr/>
          <p:nvPr/>
        </p:nvSpPr>
        <p:spPr>
          <a:xfrm>
            <a:off x="6035040" y="1920240"/>
            <a:ext cx="2619756"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41" name="Text 39"/>
          <p:cNvSpPr/>
          <p:nvPr/>
        </p:nvSpPr>
        <p:spPr>
          <a:xfrm>
            <a:off x="6035040" y="1920240"/>
            <a:ext cx="2619756"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EVIDENCE RELATIONSHIP GRAPH</a:t>
            </a:r>
            <a:endParaRPr lang="en-US" sz="800" dirty="0"/>
          </a:p>
        </p:txBody>
      </p:sp>
      <p:sp>
        <p:nvSpPr>
          <p:cNvPr id="42" name="Text 40"/>
          <p:cNvSpPr/>
          <p:nvPr/>
        </p:nvSpPr>
        <p:spPr>
          <a:xfrm>
            <a:off x="6035040" y="2240280"/>
            <a:ext cx="5212080" cy="274320"/>
          </a:xfrm>
          <a:prstGeom prst="rect">
            <a:avLst/>
          </a:prstGeom>
          <a:noFill/>
          <a:ln/>
        </p:spPr>
        <p:txBody>
          <a:bodyPr wrap="square" lIns="0" tIns="0" rIns="0" bIns="0"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Every Edge Anchored to On-Chain Cryptographic Proof</a:t>
            </a:r>
            <a:endParaRPr lang="en-US" sz="1300" dirty="0"/>
          </a:p>
        </p:txBody>
      </p:sp>
      <p:sp>
        <p:nvSpPr>
          <p:cNvPr id="43" name="Shape 41"/>
          <p:cNvSpPr/>
          <p:nvPr/>
        </p:nvSpPr>
        <p:spPr>
          <a:xfrm>
            <a:off x="6263640" y="2971800"/>
            <a:ext cx="1828800" cy="685800"/>
          </a:xfrm>
          <a:prstGeom prst="roundRect">
            <a:avLst>
              <a:gd name="adj" fmla="val 10667"/>
            </a:avLst>
          </a:prstGeom>
          <a:solidFill>
            <a:srgbClr val="EEF2FF"/>
          </a:solidFill>
          <a:ln w="15240">
            <a:solidFill>
              <a:srgbClr val="C7D2FE"/>
            </a:solidFill>
            <a:prstDash val="solid"/>
          </a:ln>
        </p:spPr>
        <p:txBody>
          <a:bodyPr/>
          <a:lstStyle/>
          <a:p>
            <a:endParaRPr lang="en-US"/>
          </a:p>
        </p:txBody>
      </p:sp>
      <p:sp>
        <p:nvSpPr>
          <p:cNvPr id="44" name="Text 42"/>
          <p:cNvSpPr/>
          <p:nvPr/>
        </p:nvSpPr>
        <p:spPr>
          <a:xfrm>
            <a:off x="6263640" y="3081528"/>
            <a:ext cx="1828800" cy="228600"/>
          </a:xfrm>
          <a:prstGeom prst="rect">
            <a:avLst/>
          </a:prstGeom>
          <a:noFill/>
          <a:ln/>
        </p:spPr>
        <p:txBody>
          <a:bodyPr wrap="square" lIns="0" tIns="0" rIns="0" bIns="0" rtlCol="0" anchor="ctr"/>
          <a:lstStyle/>
          <a:p>
            <a:pPr marL="0" indent="0" algn="ctr">
              <a:buNone/>
            </a:pPr>
            <a:r>
              <a:rPr lang="en-US" sz="950" b="1" dirty="0">
                <a:solidFill>
                  <a:srgbClr val="0F172A"/>
                </a:solidFill>
                <a:latin typeface="Segoe UI" pitchFamily="34" charset="0"/>
                <a:ea typeface="Segoe UI" pitchFamily="34" charset="-122"/>
                <a:cs typeface="Segoe UI" pitchFamily="34" charset="-120"/>
              </a:rPr>
              <a:t>USER WALLET</a:t>
            </a:r>
            <a:endParaRPr lang="en-US" sz="950" dirty="0"/>
          </a:p>
        </p:txBody>
      </p:sp>
      <p:sp>
        <p:nvSpPr>
          <p:cNvPr id="45" name="Text 43"/>
          <p:cNvSpPr/>
          <p:nvPr/>
        </p:nvSpPr>
        <p:spPr>
          <a:xfrm>
            <a:off x="6263640" y="3319272"/>
            <a:ext cx="1828800" cy="228600"/>
          </a:xfrm>
          <a:prstGeom prst="rect">
            <a:avLst/>
          </a:prstGeom>
          <a:noFill/>
          <a:ln/>
        </p:spPr>
        <p:txBody>
          <a:bodyPr wrap="square" lIns="0" tIns="0" rIns="0" bIns="0" rtlCol="0" anchor="ctr"/>
          <a:lstStyle/>
          <a:p>
            <a:pPr marL="0" indent="0" algn="ctr">
              <a:buNone/>
            </a:pPr>
            <a:r>
              <a:rPr lang="en-US" sz="800" dirty="0">
                <a:solidFill>
                  <a:srgbClr val="4338CA"/>
                </a:solidFill>
                <a:latin typeface="Consolas" pitchFamily="34" charset="0"/>
                <a:ea typeface="Consolas" pitchFamily="34" charset="-122"/>
                <a:cs typeface="Consolas" pitchFamily="34" charset="-120"/>
              </a:rPr>
              <a:t>0x3B19...4A02</a:t>
            </a:r>
            <a:endParaRPr lang="en-US" sz="800" dirty="0"/>
          </a:p>
        </p:txBody>
      </p:sp>
      <p:sp>
        <p:nvSpPr>
          <p:cNvPr id="46" name="Shape 44"/>
          <p:cNvSpPr/>
          <p:nvPr/>
        </p:nvSpPr>
        <p:spPr>
          <a:xfrm>
            <a:off x="9189720" y="2971800"/>
            <a:ext cx="1828800" cy="685800"/>
          </a:xfrm>
          <a:prstGeom prst="roundRect">
            <a:avLst>
              <a:gd name="adj" fmla="val 10667"/>
            </a:avLst>
          </a:prstGeom>
          <a:solidFill>
            <a:srgbClr val="ECFDF5"/>
          </a:solidFill>
          <a:ln w="15240">
            <a:solidFill>
              <a:srgbClr val="A7F3D0"/>
            </a:solidFill>
            <a:prstDash val="solid"/>
          </a:ln>
        </p:spPr>
        <p:txBody>
          <a:bodyPr/>
          <a:lstStyle/>
          <a:p>
            <a:endParaRPr lang="en-US"/>
          </a:p>
        </p:txBody>
      </p:sp>
      <p:sp>
        <p:nvSpPr>
          <p:cNvPr id="47" name="Text 45"/>
          <p:cNvSpPr/>
          <p:nvPr/>
        </p:nvSpPr>
        <p:spPr>
          <a:xfrm>
            <a:off x="9189720" y="3081528"/>
            <a:ext cx="1828800" cy="228600"/>
          </a:xfrm>
          <a:prstGeom prst="rect">
            <a:avLst/>
          </a:prstGeom>
          <a:noFill/>
          <a:ln/>
        </p:spPr>
        <p:txBody>
          <a:bodyPr wrap="square" lIns="0" tIns="0" rIns="0" bIns="0" rtlCol="0" anchor="ctr"/>
          <a:lstStyle/>
          <a:p>
            <a:pPr marL="0" indent="0" algn="ctr">
              <a:buNone/>
            </a:pPr>
            <a:r>
              <a:rPr lang="en-US" sz="950" b="1" dirty="0">
                <a:solidFill>
                  <a:srgbClr val="0F172A"/>
                </a:solidFill>
                <a:latin typeface="Segoe UI" pitchFamily="34" charset="0"/>
                <a:ea typeface="Segoe UI" pitchFamily="34" charset="-122"/>
                <a:cs typeface="Segoe UI" pitchFamily="34" charset="-120"/>
              </a:rPr>
              <a:t>USDC TOKEN</a:t>
            </a:r>
            <a:endParaRPr lang="en-US" sz="950" dirty="0"/>
          </a:p>
        </p:txBody>
      </p:sp>
      <p:sp>
        <p:nvSpPr>
          <p:cNvPr id="48" name="Text 46"/>
          <p:cNvSpPr/>
          <p:nvPr/>
        </p:nvSpPr>
        <p:spPr>
          <a:xfrm>
            <a:off x="9189720" y="3319272"/>
            <a:ext cx="1828800" cy="228600"/>
          </a:xfrm>
          <a:prstGeom prst="rect">
            <a:avLst/>
          </a:prstGeom>
          <a:noFill/>
          <a:ln/>
        </p:spPr>
        <p:txBody>
          <a:bodyPr wrap="square" lIns="0" tIns="0" rIns="0" bIns="0" rtlCol="0" anchor="ctr"/>
          <a:lstStyle/>
          <a:p>
            <a:pPr marL="0" indent="0" algn="ctr">
              <a:buNone/>
            </a:pPr>
            <a:r>
              <a:rPr lang="en-US" sz="800" dirty="0">
                <a:solidFill>
                  <a:srgbClr val="065F46"/>
                </a:solidFill>
                <a:latin typeface="Consolas" pitchFamily="34" charset="0"/>
                <a:ea typeface="Consolas" pitchFamily="34" charset="-122"/>
                <a:cs typeface="Consolas" pitchFamily="34" charset="-120"/>
              </a:rPr>
              <a:t>ERC-20 Contract</a:t>
            </a:r>
            <a:endParaRPr lang="en-US" sz="800" dirty="0"/>
          </a:p>
        </p:txBody>
      </p:sp>
      <p:sp>
        <p:nvSpPr>
          <p:cNvPr id="49" name="Shape 47"/>
          <p:cNvSpPr/>
          <p:nvPr/>
        </p:nvSpPr>
        <p:spPr>
          <a:xfrm>
            <a:off x="9189720" y="4160520"/>
            <a:ext cx="1828800" cy="685800"/>
          </a:xfrm>
          <a:prstGeom prst="roundRect">
            <a:avLst>
              <a:gd name="adj" fmla="val 10667"/>
            </a:avLst>
          </a:prstGeom>
          <a:solidFill>
            <a:srgbClr val="FFF1F2"/>
          </a:solidFill>
          <a:ln w="15240">
            <a:solidFill>
              <a:srgbClr val="FECDD3"/>
            </a:solidFill>
            <a:prstDash val="solid"/>
          </a:ln>
        </p:spPr>
        <p:txBody>
          <a:bodyPr/>
          <a:lstStyle/>
          <a:p>
            <a:endParaRPr lang="en-US"/>
          </a:p>
        </p:txBody>
      </p:sp>
      <p:sp>
        <p:nvSpPr>
          <p:cNvPr id="50" name="Text 48"/>
          <p:cNvSpPr/>
          <p:nvPr/>
        </p:nvSpPr>
        <p:spPr>
          <a:xfrm>
            <a:off x="9189720" y="4270248"/>
            <a:ext cx="1828800" cy="228600"/>
          </a:xfrm>
          <a:prstGeom prst="rect">
            <a:avLst/>
          </a:prstGeom>
          <a:noFill/>
          <a:ln/>
        </p:spPr>
        <p:txBody>
          <a:bodyPr wrap="square" lIns="0" tIns="0" rIns="0" bIns="0" rtlCol="0" anchor="ctr"/>
          <a:lstStyle/>
          <a:p>
            <a:pPr marL="0" indent="0" algn="ctr">
              <a:buNone/>
            </a:pPr>
            <a:r>
              <a:rPr lang="en-US" sz="950" b="1" dirty="0">
                <a:solidFill>
                  <a:srgbClr val="0F172A"/>
                </a:solidFill>
                <a:latin typeface="Segoe UI" pitchFamily="34" charset="0"/>
                <a:ea typeface="Segoe UI" pitchFamily="34" charset="-122"/>
                <a:cs typeface="Segoe UI" pitchFamily="34" charset="-120"/>
              </a:rPr>
              <a:t>SPENDER PROXY</a:t>
            </a:r>
            <a:endParaRPr lang="en-US" sz="950" dirty="0"/>
          </a:p>
        </p:txBody>
      </p:sp>
      <p:sp>
        <p:nvSpPr>
          <p:cNvPr id="51" name="Text 49"/>
          <p:cNvSpPr/>
          <p:nvPr/>
        </p:nvSpPr>
        <p:spPr>
          <a:xfrm>
            <a:off x="9189720" y="4507992"/>
            <a:ext cx="1828800" cy="228600"/>
          </a:xfrm>
          <a:prstGeom prst="rect">
            <a:avLst/>
          </a:prstGeom>
          <a:noFill/>
          <a:ln/>
        </p:spPr>
        <p:txBody>
          <a:bodyPr wrap="square" lIns="0" tIns="0" rIns="0" bIns="0" rtlCol="0" anchor="ctr"/>
          <a:lstStyle/>
          <a:p>
            <a:pPr marL="0" indent="0" algn="ctr">
              <a:buNone/>
            </a:pPr>
            <a:r>
              <a:rPr lang="en-US" sz="800" dirty="0">
                <a:solidFill>
                  <a:srgbClr val="9F1239"/>
                </a:solidFill>
                <a:latin typeface="Consolas" pitchFamily="34" charset="0"/>
                <a:ea typeface="Consolas" pitchFamily="34" charset="-122"/>
                <a:cs typeface="Consolas" pitchFamily="34" charset="-120"/>
              </a:rPr>
              <a:t>0x7A21...D942</a:t>
            </a:r>
            <a:endParaRPr lang="en-US" sz="800" dirty="0"/>
          </a:p>
        </p:txBody>
      </p:sp>
      <p:sp>
        <p:nvSpPr>
          <p:cNvPr id="52" name="Shape 50"/>
          <p:cNvSpPr/>
          <p:nvPr/>
        </p:nvSpPr>
        <p:spPr>
          <a:xfrm>
            <a:off x="6263640" y="4160520"/>
            <a:ext cx="1828800" cy="685800"/>
          </a:xfrm>
          <a:prstGeom prst="roundRect">
            <a:avLst>
              <a:gd name="adj" fmla="val 10667"/>
            </a:avLst>
          </a:prstGeom>
          <a:solidFill>
            <a:srgbClr val="FFFBEB"/>
          </a:solidFill>
          <a:ln w="15240">
            <a:solidFill>
              <a:srgbClr val="FDE68A"/>
            </a:solidFill>
            <a:prstDash val="solid"/>
          </a:ln>
        </p:spPr>
        <p:txBody>
          <a:bodyPr/>
          <a:lstStyle/>
          <a:p>
            <a:endParaRPr lang="en-US"/>
          </a:p>
        </p:txBody>
      </p:sp>
      <p:sp>
        <p:nvSpPr>
          <p:cNvPr id="53" name="Text 51"/>
          <p:cNvSpPr/>
          <p:nvPr/>
        </p:nvSpPr>
        <p:spPr>
          <a:xfrm>
            <a:off x="6263640" y="4270248"/>
            <a:ext cx="1828800" cy="228600"/>
          </a:xfrm>
          <a:prstGeom prst="rect">
            <a:avLst/>
          </a:prstGeom>
          <a:noFill/>
          <a:ln/>
        </p:spPr>
        <p:txBody>
          <a:bodyPr wrap="square" lIns="0" tIns="0" rIns="0" bIns="0" rtlCol="0" anchor="ctr"/>
          <a:lstStyle/>
          <a:p>
            <a:pPr marL="0" indent="0" algn="ctr">
              <a:buNone/>
            </a:pPr>
            <a:r>
              <a:rPr lang="en-US" sz="950" b="1" dirty="0">
                <a:solidFill>
                  <a:srgbClr val="0F172A"/>
                </a:solidFill>
                <a:latin typeface="Segoe UI" pitchFamily="34" charset="0"/>
                <a:ea typeface="Segoe UI" pitchFamily="34" charset="-122"/>
                <a:cs typeface="Segoe UI" pitchFamily="34" charset="-120"/>
              </a:rPr>
              <a:t>ADMIN EOA</a:t>
            </a:r>
            <a:endParaRPr lang="en-US" sz="950" dirty="0"/>
          </a:p>
        </p:txBody>
      </p:sp>
      <p:sp>
        <p:nvSpPr>
          <p:cNvPr id="54" name="Text 52"/>
          <p:cNvSpPr/>
          <p:nvPr/>
        </p:nvSpPr>
        <p:spPr>
          <a:xfrm>
            <a:off x="6263640" y="4507992"/>
            <a:ext cx="1828800" cy="228600"/>
          </a:xfrm>
          <a:prstGeom prst="rect">
            <a:avLst/>
          </a:prstGeom>
          <a:noFill/>
          <a:ln/>
        </p:spPr>
        <p:txBody>
          <a:bodyPr wrap="square" lIns="0" tIns="0" rIns="0" bIns="0" rtlCol="0" anchor="ctr"/>
          <a:lstStyle/>
          <a:p>
            <a:pPr marL="0" indent="0" algn="ctr">
              <a:buNone/>
            </a:pPr>
            <a:r>
              <a:rPr lang="en-US" sz="800" dirty="0">
                <a:solidFill>
                  <a:srgbClr val="92400E"/>
                </a:solidFill>
                <a:latin typeface="Consolas" pitchFamily="34" charset="0"/>
                <a:ea typeface="Consolas" pitchFamily="34" charset="-122"/>
                <a:cs typeface="Consolas" pitchFamily="34" charset="-120"/>
              </a:rPr>
              <a:t>0xABC9...91F4</a:t>
            </a:r>
            <a:endParaRPr lang="en-US" sz="800" dirty="0"/>
          </a:p>
        </p:txBody>
      </p:sp>
      <p:sp>
        <p:nvSpPr>
          <p:cNvPr id="55" name="Shape 53"/>
          <p:cNvSpPr/>
          <p:nvPr/>
        </p:nvSpPr>
        <p:spPr>
          <a:xfrm>
            <a:off x="7726680" y="5257800"/>
            <a:ext cx="2011680" cy="685800"/>
          </a:xfrm>
          <a:prstGeom prst="roundRect">
            <a:avLst>
              <a:gd name="adj" fmla="val 10667"/>
            </a:avLst>
          </a:prstGeom>
          <a:solidFill>
            <a:srgbClr val="F1F5F9"/>
          </a:solidFill>
          <a:ln w="15240">
            <a:solidFill>
              <a:srgbClr val="CBD5E1"/>
            </a:solidFill>
            <a:prstDash val="solid"/>
          </a:ln>
        </p:spPr>
        <p:txBody>
          <a:bodyPr/>
          <a:lstStyle/>
          <a:p>
            <a:endParaRPr lang="en-US"/>
          </a:p>
        </p:txBody>
      </p:sp>
      <p:sp>
        <p:nvSpPr>
          <p:cNvPr id="56" name="Text 54"/>
          <p:cNvSpPr/>
          <p:nvPr/>
        </p:nvSpPr>
        <p:spPr>
          <a:xfrm>
            <a:off x="7726680" y="5367528"/>
            <a:ext cx="2011680" cy="228600"/>
          </a:xfrm>
          <a:prstGeom prst="rect">
            <a:avLst/>
          </a:prstGeom>
          <a:noFill/>
          <a:ln/>
        </p:spPr>
        <p:txBody>
          <a:bodyPr wrap="square" lIns="0" tIns="0" rIns="0" bIns="0" rtlCol="0" anchor="ctr"/>
          <a:lstStyle/>
          <a:p>
            <a:pPr marL="0" indent="0" algn="ctr">
              <a:buNone/>
            </a:pPr>
            <a:r>
              <a:rPr lang="en-US" sz="950" b="1" dirty="0">
                <a:solidFill>
                  <a:srgbClr val="0F172A"/>
                </a:solidFill>
                <a:latin typeface="Segoe UI" pitchFamily="34" charset="0"/>
                <a:ea typeface="Segoe UI" pitchFamily="34" charset="-122"/>
                <a:cs typeface="Segoe UI" pitchFamily="34" charset="-120"/>
              </a:rPr>
              <a:t>IMPLEMENTATION</a:t>
            </a:r>
            <a:endParaRPr lang="en-US" sz="950" dirty="0"/>
          </a:p>
        </p:txBody>
      </p:sp>
      <p:sp>
        <p:nvSpPr>
          <p:cNvPr id="57" name="Text 55"/>
          <p:cNvSpPr/>
          <p:nvPr/>
        </p:nvSpPr>
        <p:spPr>
          <a:xfrm>
            <a:off x="7726680" y="5605272"/>
            <a:ext cx="2011680" cy="228600"/>
          </a:xfrm>
          <a:prstGeom prst="rect">
            <a:avLst/>
          </a:prstGeom>
          <a:noFill/>
          <a:ln/>
        </p:spPr>
        <p:txBody>
          <a:bodyPr wrap="square" lIns="0" tIns="0" rIns="0" bIns="0" rtlCol="0" anchor="ctr"/>
          <a:lstStyle/>
          <a:p>
            <a:pPr marL="0" indent="0" algn="ctr">
              <a:buNone/>
            </a:pPr>
            <a:r>
              <a:rPr lang="en-US" sz="800" dirty="0">
                <a:solidFill>
                  <a:srgbClr val="64748B"/>
                </a:solidFill>
                <a:latin typeface="Consolas" pitchFamily="34" charset="0"/>
                <a:ea typeface="Consolas" pitchFamily="34" charset="-122"/>
                <a:cs typeface="Consolas" pitchFamily="34" charset="-120"/>
              </a:rPr>
              <a:t>0x91F4...3B08</a:t>
            </a:r>
            <a:endParaRPr lang="en-US" sz="800" dirty="0"/>
          </a:p>
        </p:txBody>
      </p:sp>
      <p:sp>
        <p:nvSpPr>
          <p:cNvPr id="58" name="Text 56"/>
          <p:cNvSpPr/>
          <p:nvPr/>
        </p:nvSpPr>
        <p:spPr>
          <a:xfrm>
            <a:off x="7818120" y="2834640"/>
            <a:ext cx="1645920" cy="201168"/>
          </a:xfrm>
          <a:prstGeom prst="rect">
            <a:avLst/>
          </a:prstGeom>
          <a:noFill/>
          <a:ln/>
        </p:spPr>
        <p:txBody>
          <a:bodyPr wrap="square" lIns="0" tIns="0" rIns="0" bIns="0" rtlCol="0" anchor="ctr"/>
          <a:lstStyle/>
          <a:p>
            <a:pPr marL="0" indent="0" algn="ctr">
              <a:buNone/>
            </a:pPr>
            <a:r>
              <a:rPr lang="en-US" sz="750" b="1" dirty="0">
                <a:solidFill>
                  <a:srgbClr val="065F46"/>
                </a:solidFill>
                <a:latin typeface="Consolas" pitchFamily="34" charset="0"/>
                <a:ea typeface="Consolas" pitchFamily="34" charset="-122"/>
                <a:cs typeface="Consolas" pitchFamily="34" charset="-120"/>
              </a:rPr>
              <a:t>approved [unlimited] →</a:t>
            </a:r>
            <a:endParaRPr lang="en-US" sz="750" dirty="0"/>
          </a:p>
        </p:txBody>
      </p:sp>
      <p:sp>
        <p:nvSpPr>
          <p:cNvPr id="59" name="Text 57"/>
          <p:cNvSpPr/>
          <p:nvPr/>
        </p:nvSpPr>
        <p:spPr>
          <a:xfrm>
            <a:off x="9189720" y="3749040"/>
            <a:ext cx="1828800" cy="201168"/>
          </a:xfrm>
          <a:prstGeom prst="rect">
            <a:avLst/>
          </a:prstGeom>
          <a:noFill/>
          <a:ln/>
        </p:spPr>
        <p:txBody>
          <a:bodyPr wrap="square" lIns="0" tIns="0" rIns="0" bIns="0" rtlCol="0" anchor="ctr"/>
          <a:lstStyle/>
          <a:p>
            <a:pPr marL="0" indent="0" algn="ctr">
              <a:buNone/>
            </a:pPr>
            <a:r>
              <a:rPr lang="en-US" sz="750" b="1" dirty="0">
                <a:solidFill>
                  <a:srgbClr val="9F1239"/>
                </a:solidFill>
                <a:latin typeface="Consolas" pitchFamily="34" charset="0"/>
                <a:ea typeface="Consolas" pitchFamily="34" charset="-122"/>
                <a:cs typeface="Consolas" pitchFamily="34" charset="-120"/>
              </a:rPr>
              <a:t>↓ spender allowance</a:t>
            </a:r>
            <a:endParaRPr lang="en-US" sz="750" dirty="0"/>
          </a:p>
        </p:txBody>
      </p:sp>
      <p:sp>
        <p:nvSpPr>
          <p:cNvPr id="60" name="Text 58"/>
          <p:cNvSpPr/>
          <p:nvPr/>
        </p:nvSpPr>
        <p:spPr>
          <a:xfrm>
            <a:off x="7452360" y="4297680"/>
            <a:ext cx="2011680" cy="201168"/>
          </a:xfrm>
          <a:prstGeom prst="rect">
            <a:avLst/>
          </a:prstGeom>
          <a:noFill/>
          <a:ln/>
        </p:spPr>
        <p:txBody>
          <a:bodyPr wrap="square" lIns="0" tIns="0" rIns="0" bIns="0" rtlCol="0" anchor="ctr"/>
          <a:lstStyle/>
          <a:p>
            <a:pPr marL="0" indent="0" algn="ctr">
              <a:buNone/>
            </a:pPr>
            <a:r>
              <a:rPr lang="en-US" sz="750" b="1" dirty="0">
                <a:solidFill>
                  <a:srgbClr val="92400E"/>
                </a:solidFill>
                <a:latin typeface="Consolas" pitchFamily="34" charset="0"/>
                <a:ea typeface="Consolas" pitchFamily="34" charset="-122"/>
                <a:cs typeface="Consolas" pitchFamily="34" charset="-120"/>
              </a:rPr>
              <a:t>controls proxy admin rights →</a:t>
            </a:r>
            <a:endParaRPr lang="en-US" sz="750" dirty="0"/>
          </a:p>
        </p:txBody>
      </p:sp>
      <p:sp>
        <p:nvSpPr>
          <p:cNvPr id="61" name="Text 59"/>
          <p:cNvSpPr/>
          <p:nvPr/>
        </p:nvSpPr>
        <p:spPr>
          <a:xfrm>
            <a:off x="7635240" y="4937760"/>
            <a:ext cx="2194560" cy="201168"/>
          </a:xfrm>
          <a:prstGeom prst="rect">
            <a:avLst/>
          </a:prstGeom>
          <a:noFill/>
          <a:ln/>
        </p:spPr>
        <p:txBody>
          <a:bodyPr wrap="square" lIns="0" tIns="0" rIns="0" bIns="0" rtlCol="0" anchor="ctr"/>
          <a:lstStyle/>
          <a:p>
            <a:pPr marL="0" indent="0" algn="ctr">
              <a:buNone/>
            </a:pPr>
            <a:r>
              <a:rPr lang="en-US" sz="750" b="1" dirty="0">
                <a:solidFill>
                  <a:srgbClr val="64748B"/>
                </a:solidFill>
                <a:latin typeface="Consolas" pitchFamily="34" charset="0"/>
                <a:ea typeface="Consolas" pitchFamily="34" charset="-122"/>
                <a:cs typeface="Consolas" pitchFamily="34" charset="-120"/>
              </a:rPr>
              <a:t>↓ delegates execution to logic</a:t>
            </a:r>
            <a:endParaRPr lang="en-US" sz="750" dirty="0"/>
          </a:p>
        </p:txBody>
      </p:sp>
      <p:sp>
        <p:nvSpPr>
          <p:cNvPr id="62" name="Shape 60"/>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63" name="Text 61"/>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64" name="Text 62"/>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06 of 16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4101084" cy="256032"/>
          </a:xfrm>
          <a:prstGeom prst="roundRect">
            <a:avLst>
              <a:gd name="adj" fmla="val 50000"/>
            </a:avLst>
          </a:prstGeom>
          <a:solidFill>
            <a:srgbClr val="EEF2FF"/>
          </a:solidFill>
          <a:ln w="12700">
            <a:solidFill>
              <a:srgbClr val="C7D2FE"/>
            </a:solidFill>
            <a:prstDash val="solid"/>
          </a:ln>
        </p:spPr>
        <p:txBody>
          <a:bodyPr/>
          <a:lstStyle/>
          <a:p>
            <a:endParaRPr lang="en-US"/>
          </a:p>
        </p:txBody>
      </p:sp>
      <p:sp>
        <p:nvSpPr>
          <p:cNvPr id="3" name="Text 1"/>
          <p:cNvSpPr/>
          <p:nvPr/>
        </p:nvSpPr>
        <p:spPr>
          <a:xfrm>
            <a:off x="731520" y="384048"/>
            <a:ext cx="4101084" cy="256032"/>
          </a:xfrm>
          <a:prstGeom prst="rect">
            <a:avLst/>
          </a:prstGeom>
          <a:noFill/>
          <a:ln/>
        </p:spPr>
        <p:txBody>
          <a:bodyPr wrap="square" lIns="0" tIns="0" rIns="0" bIns="0" rtlCol="0" anchor="ctr"/>
          <a:lstStyle/>
          <a:p>
            <a:pPr marL="0" indent="0" algn="ctr">
              <a:buNone/>
            </a:pPr>
            <a:r>
              <a:rPr lang="en-US" sz="850" b="1" dirty="0">
                <a:solidFill>
                  <a:srgbClr val="4338CA"/>
                </a:solidFill>
                <a:latin typeface="Segoe UI" pitchFamily="34" charset="0"/>
                <a:ea typeface="Segoe UI" pitchFamily="34" charset="-122"/>
                <a:cs typeface="Segoe UI" pitchFamily="34" charset="-120"/>
              </a:rPr>
              <a:t>PROTECTION INTERFACE // AI ARCHITECTURE</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Pre-signing explanation: AI as narrator, not witness</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Explain the permission before the user signs it — with zero tolerance for AI hallucinations.</a:t>
            </a:r>
            <a:endParaRPr lang="en-US" sz="1150" dirty="0"/>
          </a:p>
        </p:txBody>
      </p:sp>
      <p:sp>
        <p:nvSpPr>
          <p:cNvPr id="6" name="Shape 4"/>
          <p:cNvSpPr/>
          <p:nvPr/>
        </p:nvSpPr>
        <p:spPr>
          <a:xfrm>
            <a:off x="731520" y="1691640"/>
            <a:ext cx="4937760" cy="4480560"/>
          </a:xfrm>
          <a:prstGeom prst="roundRect">
            <a:avLst>
              <a:gd name="adj" fmla="val 1633"/>
            </a:avLst>
          </a:prstGeom>
          <a:solidFill>
            <a:srgbClr val="FFFFFF"/>
          </a:solidFill>
          <a:ln w="15240">
            <a:solidFill>
              <a:srgbClr val="E2E8F0"/>
            </a:solidFill>
            <a:prstDash val="solid"/>
          </a:ln>
        </p:spPr>
        <p:txBody>
          <a:bodyPr/>
          <a:lstStyle/>
          <a:p>
            <a:endParaRPr lang="en-US"/>
          </a:p>
        </p:txBody>
      </p:sp>
      <p:sp>
        <p:nvSpPr>
          <p:cNvPr id="7" name="Shape 5"/>
          <p:cNvSpPr/>
          <p:nvPr/>
        </p:nvSpPr>
        <p:spPr>
          <a:xfrm>
            <a:off x="749808" y="1709928"/>
            <a:ext cx="490118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8" name="Shape 6"/>
          <p:cNvSpPr/>
          <p:nvPr/>
        </p:nvSpPr>
        <p:spPr>
          <a:xfrm>
            <a:off x="731520" y="1691640"/>
            <a:ext cx="4937760" cy="347472"/>
          </a:xfrm>
          <a:prstGeom prst="rect">
            <a:avLst/>
          </a:prstGeom>
          <a:solidFill>
            <a:srgbClr val="F8FAFC"/>
          </a:solidFill>
          <a:ln w="12700">
            <a:solidFill>
              <a:srgbClr val="E2E8F0"/>
            </a:solidFill>
            <a:prstDash val="solid"/>
          </a:ln>
        </p:spPr>
        <p:txBody>
          <a:bodyPr/>
          <a:lstStyle/>
          <a:p>
            <a:endParaRPr lang="en-US"/>
          </a:p>
        </p:txBody>
      </p:sp>
      <p:sp>
        <p:nvSpPr>
          <p:cNvPr id="9" name="Text 7"/>
          <p:cNvSpPr/>
          <p:nvPr/>
        </p:nvSpPr>
        <p:spPr>
          <a:xfrm>
            <a:off x="914400" y="1764792"/>
            <a:ext cx="4572000" cy="219456"/>
          </a:xfrm>
          <a:prstGeom prst="rect">
            <a:avLst/>
          </a:prstGeom>
          <a:noFill/>
          <a:ln/>
        </p:spPr>
        <p:txBody>
          <a:bodyPr wrap="square" lIns="0" tIns="0" rIns="0" bIns="0" rtlCol="0" anchor="ctr"/>
          <a:lstStyle/>
          <a:p>
            <a:pPr marL="0" indent="0">
              <a:buNone/>
            </a:pPr>
            <a:r>
              <a:rPr lang="en-US" sz="850" b="1" dirty="0">
                <a:solidFill>
                  <a:srgbClr val="4338CA"/>
                </a:solidFill>
                <a:latin typeface="Segoe UI" pitchFamily="34" charset="0"/>
                <a:ea typeface="Segoe UI" pitchFamily="34" charset="-122"/>
                <a:cs typeface="Segoe UI" pitchFamily="34" charset="-120"/>
              </a:rPr>
              <a:t>SENTINEL WALLET GUARD  //  PRE-SIGNING REVIEW</a:t>
            </a:r>
            <a:endParaRPr lang="en-US" sz="850" dirty="0"/>
          </a:p>
        </p:txBody>
      </p:sp>
      <p:sp>
        <p:nvSpPr>
          <p:cNvPr id="10" name="Text 8"/>
          <p:cNvSpPr/>
          <p:nvPr/>
        </p:nvSpPr>
        <p:spPr>
          <a:xfrm>
            <a:off x="1005840" y="2194560"/>
            <a:ext cx="4389120" cy="292608"/>
          </a:xfrm>
          <a:prstGeom prst="rect">
            <a:avLst/>
          </a:prstGeom>
          <a:noFill/>
          <a:ln/>
        </p:spPr>
        <p:txBody>
          <a:bodyPr wrap="square" lIns="0" tIns="0" rIns="0" bIns="0" rtlCol="0" anchor="ctr"/>
          <a:lstStyle/>
          <a:p>
            <a:pPr marL="0" indent="0">
              <a:buNone/>
            </a:pPr>
            <a:r>
              <a:rPr lang="en-US" sz="1500" b="1" dirty="0">
                <a:solidFill>
                  <a:srgbClr val="0F172A"/>
                </a:solidFill>
                <a:latin typeface="Segoe UI" pitchFamily="34" charset="0"/>
                <a:ea typeface="Segoe UI" pitchFamily="34" charset="-122"/>
                <a:cs typeface="Segoe UI" pitchFamily="34" charset="-120"/>
              </a:rPr>
              <a:t>Review Token Spending Permission</a:t>
            </a:r>
            <a:endParaRPr lang="en-US" sz="1500" dirty="0"/>
          </a:p>
        </p:txBody>
      </p:sp>
      <p:sp>
        <p:nvSpPr>
          <p:cNvPr id="11" name="Text 9"/>
          <p:cNvSpPr/>
          <p:nvPr/>
        </p:nvSpPr>
        <p:spPr>
          <a:xfrm>
            <a:off x="1005840" y="2496312"/>
            <a:ext cx="4389120" cy="256032"/>
          </a:xfrm>
          <a:prstGeom prst="rect">
            <a:avLst/>
          </a:prstGeom>
          <a:noFill/>
          <a:ln/>
        </p:spPr>
        <p:txBody>
          <a:bodyPr wrap="square" lIns="0" tIns="0" rIns="0" bIns="0" rtlCol="0" anchor="ctr"/>
          <a:lstStyle/>
          <a:p>
            <a:pPr marL="0" indent="0">
              <a:buNone/>
            </a:pPr>
            <a:r>
              <a:rPr lang="en-US" sz="880" dirty="0">
                <a:solidFill>
                  <a:srgbClr val="64748B"/>
                </a:solidFill>
                <a:latin typeface="Segoe UI" pitchFamily="34" charset="0"/>
                <a:ea typeface="Segoe UI" pitchFamily="34" charset="-122"/>
                <a:cs typeface="Segoe UI" pitchFamily="34" charset="-120"/>
              </a:rPr>
              <a:t>The dApp is requesting permission to spend tokens from your wallet.</a:t>
            </a:r>
            <a:endParaRPr lang="en-US" sz="880" dirty="0"/>
          </a:p>
        </p:txBody>
      </p:sp>
      <p:sp>
        <p:nvSpPr>
          <p:cNvPr id="12" name="Shape 10"/>
          <p:cNvSpPr/>
          <p:nvPr/>
        </p:nvSpPr>
        <p:spPr>
          <a:xfrm>
            <a:off x="960120" y="2834640"/>
            <a:ext cx="4480560" cy="384048"/>
          </a:xfrm>
          <a:prstGeom prst="roundRect">
            <a:avLst>
              <a:gd name="adj" fmla="val 11905"/>
            </a:avLst>
          </a:prstGeom>
          <a:solidFill>
            <a:srgbClr val="F8FAFC"/>
          </a:solidFill>
          <a:ln w="7620">
            <a:solidFill>
              <a:srgbClr val="E2E8F0"/>
            </a:solidFill>
            <a:prstDash val="solid"/>
          </a:ln>
        </p:spPr>
        <p:txBody>
          <a:bodyPr/>
          <a:lstStyle/>
          <a:p>
            <a:endParaRPr lang="en-US"/>
          </a:p>
        </p:txBody>
      </p:sp>
      <p:sp>
        <p:nvSpPr>
          <p:cNvPr id="13" name="Text 11"/>
          <p:cNvSpPr/>
          <p:nvPr/>
        </p:nvSpPr>
        <p:spPr>
          <a:xfrm>
            <a:off x="1078992" y="2880360"/>
            <a:ext cx="1463040" cy="146304"/>
          </a:xfrm>
          <a:prstGeom prst="rect">
            <a:avLst/>
          </a:prstGeom>
          <a:noFill/>
          <a:ln/>
        </p:spPr>
        <p:txBody>
          <a:bodyPr wrap="square" lIns="0" tIns="0" rIns="0" bIns="0" rtlCol="0" anchor="ctr"/>
          <a:lstStyle/>
          <a:p>
            <a:pPr marL="0" indent="0">
              <a:buNone/>
            </a:pPr>
            <a:r>
              <a:rPr lang="en-US" sz="750" b="1" dirty="0">
                <a:solidFill>
                  <a:srgbClr val="64748B"/>
                </a:solidFill>
                <a:latin typeface="Segoe UI" pitchFamily="34" charset="0"/>
                <a:ea typeface="Segoe UI" pitchFamily="34" charset="-122"/>
                <a:cs typeface="Segoe UI" pitchFamily="34" charset="-120"/>
              </a:rPr>
              <a:t>Token Requested</a:t>
            </a:r>
            <a:endParaRPr lang="en-US" sz="750" dirty="0"/>
          </a:p>
        </p:txBody>
      </p:sp>
      <p:sp>
        <p:nvSpPr>
          <p:cNvPr id="14" name="Text 12"/>
          <p:cNvSpPr/>
          <p:nvPr/>
        </p:nvSpPr>
        <p:spPr>
          <a:xfrm>
            <a:off x="1078992" y="3026664"/>
            <a:ext cx="2560320" cy="164592"/>
          </a:xfrm>
          <a:prstGeom prst="rect">
            <a:avLst/>
          </a:prstGeom>
          <a:noFill/>
          <a:ln/>
        </p:spPr>
        <p:txBody>
          <a:bodyPr wrap="square" lIns="0" tIns="0" rIns="0" bIns="0" rtlCol="0" anchor="ctr"/>
          <a:lstStyle/>
          <a:p>
            <a:pPr marL="0" indent="0">
              <a:buNone/>
            </a:pPr>
            <a:r>
              <a:rPr lang="en-US" sz="820" b="1" dirty="0">
                <a:solidFill>
                  <a:srgbClr val="0F172A"/>
                </a:solidFill>
                <a:latin typeface="Segoe UI" pitchFamily="34" charset="0"/>
                <a:ea typeface="Segoe UI" pitchFamily="34" charset="-122"/>
                <a:cs typeface="Segoe UI" pitchFamily="34" charset="-120"/>
              </a:rPr>
              <a:t>USDC (USD Coin) on Ethereum</a:t>
            </a:r>
            <a:endParaRPr lang="en-US" sz="820" dirty="0"/>
          </a:p>
        </p:txBody>
      </p:sp>
      <p:sp>
        <p:nvSpPr>
          <p:cNvPr id="15" name="Text 13"/>
          <p:cNvSpPr/>
          <p:nvPr/>
        </p:nvSpPr>
        <p:spPr>
          <a:xfrm>
            <a:off x="4206240" y="2944368"/>
            <a:ext cx="1143000" cy="164592"/>
          </a:xfrm>
          <a:prstGeom prst="rect">
            <a:avLst/>
          </a:prstGeom>
          <a:noFill/>
          <a:ln/>
        </p:spPr>
        <p:txBody>
          <a:bodyPr wrap="square" lIns="0" tIns="0" rIns="0" bIns="0" rtlCol="0" anchor="ctr"/>
          <a:lstStyle/>
          <a:p>
            <a:pPr marL="0" indent="0" algn="r">
              <a:buNone/>
            </a:pPr>
            <a:r>
              <a:rPr lang="en-US" sz="720" b="1" dirty="0">
                <a:solidFill>
                  <a:srgbClr val="065F46"/>
                </a:solidFill>
                <a:latin typeface="Segoe UI" pitchFamily="34" charset="0"/>
                <a:ea typeface="Segoe UI" pitchFamily="34" charset="-122"/>
                <a:cs typeface="Segoe UI" pitchFamily="34" charset="-120"/>
              </a:rPr>
              <a:t>VERIFIED TOKEN</a:t>
            </a:r>
            <a:endParaRPr lang="en-US" sz="720" dirty="0"/>
          </a:p>
        </p:txBody>
      </p:sp>
      <p:sp>
        <p:nvSpPr>
          <p:cNvPr id="16" name="Shape 14"/>
          <p:cNvSpPr/>
          <p:nvPr/>
        </p:nvSpPr>
        <p:spPr>
          <a:xfrm>
            <a:off x="960120" y="3273552"/>
            <a:ext cx="4480560" cy="384048"/>
          </a:xfrm>
          <a:prstGeom prst="roundRect">
            <a:avLst>
              <a:gd name="adj" fmla="val 11905"/>
            </a:avLst>
          </a:prstGeom>
          <a:solidFill>
            <a:srgbClr val="F8FAFC"/>
          </a:solidFill>
          <a:ln w="7620">
            <a:solidFill>
              <a:srgbClr val="E2E8F0"/>
            </a:solidFill>
            <a:prstDash val="solid"/>
          </a:ln>
        </p:spPr>
        <p:txBody>
          <a:bodyPr/>
          <a:lstStyle/>
          <a:p>
            <a:endParaRPr lang="en-US"/>
          </a:p>
        </p:txBody>
      </p:sp>
      <p:sp>
        <p:nvSpPr>
          <p:cNvPr id="17" name="Text 15"/>
          <p:cNvSpPr/>
          <p:nvPr/>
        </p:nvSpPr>
        <p:spPr>
          <a:xfrm>
            <a:off x="1078992" y="3319272"/>
            <a:ext cx="1463040" cy="146304"/>
          </a:xfrm>
          <a:prstGeom prst="rect">
            <a:avLst/>
          </a:prstGeom>
          <a:noFill/>
          <a:ln/>
        </p:spPr>
        <p:txBody>
          <a:bodyPr wrap="square" lIns="0" tIns="0" rIns="0" bIns="0" rtlCol="0" anchor="ctr"/>
          <a:lstStyle/>
          <a:p>
            <a:pPr marL="0" indent="0">
              <a:buNone/>
            </a:pPr>
            <a:r>
              <a:rPr lang="en-US" sz="750" b="1" dirty="0">
                <a:solidFill>
                  <a:srgbClr val="64748B"/>
                </a:solidFill>
                <a:latin typeface="Segoe UI" pitchFamily="34" charset="0"/>
                <a:ea typeface="Segoe UI" pitchFamily="34" charset="-122"/>
                <a:cs typeface="Segoe UI" pitchFamily="34" charset="-120"/>
              </a:rPr>
              <a:t>Spender Contract</a:t>
            </a:r>
            <a:endParaRPr lang="en-US" sz="750" dirty="0"/>
          </a:p>
        </p:txBody>
      </p:sp>
      <p:sp>
        <p:nvSpPr>
          <p:cNvPr id="18" name="Text 16"/>
          <p:cNvSpPr/>
          <p:nvPr/>
        </p:nvSpPr>
        <p:spPr>
          <a:xfrm>
            <a:off x="1078992" y="3465576"/>
            <a:ext cx="2560320" cy="164592"/>
          </a:xfrm>
          <a:prstGeom prst="rect">
            <a:avLst/>
          </a:prstGeom>
          <a:noFill/>
          <a:ln/>
        </p:spPr>
        <p:txBody>
          <a:bodyPr wrap="square" lIns="0" tIns="0" rIns="0" bIns="0" rtlCol="0" anchor="ctr"/>
          <a:lstStyle/>
          <a:p>
            <a:pPr marL="0" indent="0">
              <a:buNone/>
            </a:pPr>
            <a:r>
              <a:rPr lang="en-US" sz="820" b="1" dirty="0">
                <a:solidFill>
                  <a:srgbClr val="0F172A"/>
                </a:solidFill>
                <a:latin typeface="Segoe UI" pitchFamily="34" charset="0"/>
                <a:ea typeface="Segoe UI" pitchFamily="34" charset="-122"/>
                <a:cs typeface="Segoe UI" pitchFamily="34" charset="-120"/>
              </a:rPr>
              <a:t>0x7A21...D942 (DEX Router Proxy)</a:t>
            </a:r>
            <a:endParaRPr lang="en-US" sz="820" dirty="0"/>
          </a:p>
        </p:txBody>
      </p:sp>
      <p:sp>
        <p:nvSpPr>
          <p:cNvPr id="19" name="Text 17"/>
          <p:cNvSpPr/>
          <p:nvPr/>
        </p:nvSpPr>
        <p:spPr>
          <a:xfrm>
            <a:off x="4206240" y="3383280"/>
            <a:ext cx="1143000" cy="164592"/>
          </a:xfrm>
          <a:prstGeom prst="rect">
            <a:avLst/>
          </a:prstGeom>
          <a:noFill/>
          <a:ln/>
        </p:spPr>
        <p:txBody>
          <a:bodyPr wrap="square" lIns="0" tIns="0" rIns="0" bIns="0" rtlCol="0" anchor="ctr"/>
          <a:lstStyle/>
          <a:p>
            <a:pPr marL="0" indent="0" algn="r">
              <a:buNone/>
            </a:pPr>
            <a:r>
              <a:rPr lang="en-US" sz="720" b="1" dirty="0">
                <a:solidFill>
                  <a:srgbClr val="065F46"/>
                </a:solidFill>
                <a:latin typeface="Segoe UI" pitchFamily="34" charset="0"/>
                <a:ea typeface="Segoe UI" pitchFamily="34" charset="-122"/>
                <a:cs typeface="Segoe UI" pitchFamily="34" charset="-120"/>
              </a:rPr>
              <a:t>UPGRADEABLE PROXY</a:t>
            </a:r>
            <a:endParaRPr lang="en-US" sz="720" dirty="0"/>
          </a:p>
        </p:txBody>
      </p:sp>
      <p:sp>
        <p:nvSpPr>
          <p:cNvPr id="20" name="Shape 18"/>
          <p:cNvSpPr/>
          <p:nvPr/>
        </p:nvSpPr>
        <p:spPr>
          <a:xfrm>
            <a:off x="960120" y="3712464"/>
            <a:ext cx="4480560" cy="384048"/>
          </a:xfrm>
          <a:prstGeom prst="roundRect">
            <a:avLst>
              <a:gd name="adj" fmla="val 11905"/>
            </a:avLst>
          </a:prstGeom>
          <a:solidFill>
            <a:srgbClr val="F8FAFC"/>
          </a:solidFill>
          <a:ln w="7620">
            <a:solidFill>
              <a:srgbClr val="E2E8F0"/>
            </a:solidFill>
            <a:prstDash val="solid"/>
          </a:ln>
        </p:spPr>
        <p:txBody>
          <a:bodyPr/>
          <a:lstStyle/>
          <a:p>
            <a:endParaRPr lang="en-US"/>
          </a:p>
        </p:txBody>
      </p:sp>
      <p:sp>
        <p:nvSpPr>
          <p:cNvPr id="21" name="Text 19"/>
          <p:cNvSpPr/>
          <p:nvPr/>
        </p:nvSpPr>
        <p:spPr>
          <a:xfrm>
            <a:off x="1078992" y="3758184"/>
            <a:ext cx="1463040" cy="146304"/>
          </a:xfrm>
          <a:prstGeom prst="rect">
            <a:avLst/>
          </a:prstGeom>
          <a:noFill/>
          <a:ln/>
        </p:spPr>
        <p:txBody>
          <a:bodyPr wrap="square" lIns="0" tIns="0" rIns="0" bIns="0" rtlCol="0" anchor="ctr"/>
          <a:lstStyle/>
          <a:p>
            <a:pPr marL="0" indent="0">
              <a:buNone/>
            </a:pPr>
            <a:r>
              <a:rPr lang="en-US" sz="750" b="1" dirty="0">
                <a:solidFill>
                  <a:srgbClr val="64748B"/>
                </a:solidFill>
                <a:latin typeface="Segoe UI" pitchFamily="34" charset="0"/>
                <a:ea typeface="Segoe UI" pitchFamily="34" charset="-122"/>
                <a:cs typeface="Segoe UI" pitchFamily="34" charset="-120"/>
              </a:rPr>
              <a:t>Allowance Scope</a:t>
            </a:r>
            <a:endParaRPr lang="en-US" sz="750" dirty="0"/>
          </a:p>
        </p:txBody>
      </p:sp>
      <p:sp>
        <p:nvSpPr>
          <p:cNvPr id="22" name="Text 20"/>
          <p:cNvSpPr/>
          <p:nvPr/>
        </p:nvSpPr>
        <p:spPr>
          <a:xfrm>
            <a:off x="1078992" y="3904488"/>
            <a:ext cx="2560320" cy="164592"/>
          </a:xfrm>
          <a:prstGeom prst="rect">
            <a:avLst/>
          </a:prstGeom>
          <a:noFill/>
          <a:ln/>
        </p:spPr>
        <p:txBody>
          <a:bodyPr wrap="square" lIns="0" tIns="0" rIns="0" bIns="0" rtlCol="0" anchor="ctr"/>
          <a:lstStyle/>
          <a:p>
            <a:pPr marL="0" indent="0">
              <a:buNone/>
            </a:pPr>
            <a:r>
              <a:rPr lang="en-US" sz="820" b="1" dirty="0">
                <a:solidFill>
                  <a:srgbClr val="0F172A"/>
                </a:solidFill>
                <a:latin typeface="Segoe UI" pitchFamily="34" charset="0"/>
                <a:ea typeface="Segoe UI" pitchFamily="34" charset="-122"/>
                <a:cs typeface="Segoe UI" pitchFamily="34" charset="-120"/>
              </a:rPr>
              <a:t>UNLIMITED (Max Uint256)</a:t>
            </a:r>
            <a:endParaRPr lang="en-US" sz="820" dirty="0"/>
          </a:p>
        </p:txBody>
      </p:sp>
      <p:sp>
        <p:nvSpPr>
          <p:cNvPr id="23" name="Text 21"/>
          <p:cNvSpPr/>
          <p:nvPr/>
        </p:nvSpPr>
        <p:spPr>
          <a:xfrm>
            <a:off x="4206240" y="3822192"/>
            <a:ext cx="1143000" cy="164592"/>
          </a:xfrm>
          <a:prstGeom prst="rect">
            <a:avLst/>
          </a:prstGeom>
          <a:noFill/>
          <a:ln/>
        </p:spPr>
        <p:txBody>
          <a:bodyPr wrap="square" lIns="0" tIns="0" rIns="0" bIns="0" rtlCol="0" anchor="ctr"/>
          <a:lstStyle/>
          <a:p>
            <a:pPr marL="0" indent="0" algn="r">
              <a:buNone/>
            </a:pPr>
            <a:r>
              <a:rPr lang="en-US" sz="720" b="1" dirty="0">
                <a:solidFill>
                  <a:srgbClr val="92400E"/>
                </a:solidFill>
                <a:latin typeface="Segoe UI" pitchFamily="34" charset="0"/>
                <a:ea typeface="Segoe UI" pitchFamily="34" charset="-122"/>
                <a:cs typeface="Segoe UI" pitchFamily="34" charset="-120"/>
              </a:rPr>
              <a:t>HIGH EXPOSURE</a:t>
            </a:r>
            <a:endParaRPr lang="en-US" sz="720" dirty="0"/>
          </a:p>
        </p:txBody>
      </p:sp>
      <p:sp>
        <p:nvSpPr>
          <p:cNvPr id="24" name="Shape 22"/>
          <p:cNvSpPr/>
          <p:nvPr/>
        </p:nvSpPr>
        <p:spPr>
          <a:xfrm>
            <a:off x="960120" y="4151376"/>
            <a:ext cx="4480560" cy="384048"/>
          </a:xfrm>
          <a:prstGeom prst="roundRect">
            <a:avLst>
              <a:gd name="adj" fmla="val 11905"/>
            </a:avLst>
          </a:prstGeom>
          <a:solidFill>
            <a:srgbClr val="F8FAFC"/>
          </a:solidFill>
          <a:ln w="7620">
            <a:solidFill>
              <a:srgbClr val="E2E8F0"/>
            </a:solidFill>
            <a:prstDash val="solid"/>
          </a:ln>
        </p:spPr>
        <p:txBody>
          <a:bodyPr/>
          <a:lstStyle/>
          <a:p>
            <a:endParaRPr lang="en-US"/>
          </a:p>
        </p:txBody>
      </p:sp>
      <p:sp>
        <p:nvSpPr>
          <p:cNvPr id="25" name="Text 23"/>
          <p:cNvSpPr/>
          <p:nvPr/>
        </p:nvSpPr>
        <p:spPr>
          <a:xfrm>
            <a:off x="1078992" y="4197096"/>
            <a:ext cx="1463040" cy="146304"/>
          </a:xfrm>
          <a:prstGeom prst="rect">
            <a:avLst/>
          </a:prstGeom>
          <a:noFill/>
          <a:ln/>
        </p:spPr>
        <p:txBody>
          <a:bodyPr wrap="square" lIns="0" tIns="0" rIns="0" bIns="0" rtlCol="0" anchor="ctr"/>
          <a:lstStyle/>
          <a:p>
            <a:pPr marL="0" indent="0">
              <a:buNone/>
            </a:pPr>
            <a:r>
              <a:rPr lang="en-US" sz="750" b="1" dirty="0">
                <a:solidFill>
                  <a:srgbClr val="64748B"/>
                </a:solidFill>
                <a:latin typeface="Segoe UI" pitchFamily="34" charset="0"/>
                <a:ea typeface="Segoe UI" pitchFamily="34" charset="-122"/>
                <a:cs typeface="Segoe UI" pitchFamily="34" charset="-120"/>
              </a:rPr>
              <a:t>Current Balance at Risk</a:t>
            </a:r>
            <a:endParaRPr lang="en-US" sz="750" dirty="0"/>
          </a:p>
        </p:txBody>
      </p:sp>
      <p:sp>
        <p:nvSpPr>
          <p:cNvPr id="26" name="Text 24"/>
          <p:cNvSpPr/>
          <p:nvPr/>
        </p:nvSpPr>
        <p:spPr>
          <a:xfrm>
            <a:off x="1078992" y="4343400"/>
            <a:ext cx="2560320" cy="164592"/>
          </a:xfrm>
          <a:prstGeom prst="rect">
            <a:avLst/>
          </a:prstGeom>
          <a:noFill/>
          <a:ln/>
        </p:spPr>
        <p:txBody>
          <a:bodyPr wrap="square" lIns="0" tIns="0" rIns="0" bIns="0" rtlCol="0" anchor="ctr"/>
          <a:lstStyle/>
          <a:p>
            <a:pPr marL="0" indent="0">
              <a:buNone/>
            </a:pPr>
            <a:r>
              <a:rPr lang="en-US" sz="820" b="1" dirty="0">
                <a:solidFill>
                  <a:srgbClr val="0F172A"/>
                </a:solidFill>
                <a:latin typeface="Segoe UI" pitchFamily="34" charset="0"/>
                <a:ea typeface="Segoe UI" pitchFamily="34" charset="-122"/>
                <a:cs typeface="Segoe UI" pitchFamily="34" charset="-120"/>
              </a:rPr>
              <a:t>$2,840.00 USDC</a:t>
            </a:r>
            <a:endParaRPr lang="en-US" sz="820" dirty="0"/>
          </a:p>
        </p:txBody>
      </p:sp>
      <p:sp>
        <p:nvSpPr>
          <p:cNvPr id="27" name="Text 25"/>
          <p:cNvSpPr/>
          <p:nvPr/>
        </p:nvSpPr>
        <p:spPr>
          <a:xfrm>
            <a:off x="4206240" y="4261104"/>
            <a:ext cx="1143000" cy="164592"/>
          </a:xfrm>
          <a:prstGeom prst="rect">
            <a:avLst/>
          </a:prstGeom>
          <a:noFill/>
          <a:ln/>
        </p:spPr>
        <p:txBody>
          <a:bodyPr wrap="square" lIns="0" tIns="0" rIns="0" bIns="0" rtlCol="0" anchor="ctr"/>
          <a:lstStyle/>
          <a:p>
            <a:pPr marL="0" indent="0" algn="r">
              <a:buNone/>
            </a:pPr>
            <a:r>
              <a:rPr lang="en-US" sz="720" b="1" dirty="0">
                <a:solidFill>
                  <a:srgbClr val="065F46"/>
                </a:solidFill>
                <a:latin typeface="Segoe UI" pitchFamily="34" charset="0"/>
                <a:ea typeface="Segoe UI" pitchFamily="34" charset="-122"/>
                <a:cs typeface="Segoe UI" pitchFamily="34" charset="-120"/>
              </a:rPr>
              <a:t>100% OF BALANCE</a:t>
            </a:r>
            <a:endParaRPr lang="en-US" sz="720" dirty="0"/>
          </a:p>
        </p:txBody>
      </p:sp>
      <p:sp>
        <p:nvSpPr>
          <p:cNvPr id="28" name="Shape 26"/>
          <p:cNvSpPr/>
          <p:nvPr/>
        </p:nvSpPr>
        <p:spPr>
          <a:xfrm>
            <a:off x="960120" y="4590288"/>
            <a:ext cx="4480560" cy="384048"/>
          </a:xfrm>
          <a:prstGeom prst="roundRect">
            <a:avLst>
              <a:gd name="adj" fmla="val 11905"/>
            </a:avLst>
          </a:prstGeom>
          <a:solidFill>
            <a:srgbClr val="F8FAFC"/>
          </a:solidFill>
          <a:ln w="7620">
            <a:solidFill>
              <a:srgbClr val="E2E8F0"/>
            </a:solidFill>
            <a:prstDash val="solid"/>
          </a:ln>
        </p:spPr>
        <p:txBody>
          <a:bodyPr/>
          <a:lstStyle/>
          <a:p>
            <a:endParaRPr lang="en-US"/>
          </a:p>
        </p:txBody>
      </p:sp>
      <p:sp>
        <p:nvSpPr>
          <p:cNvPr id="29" name="Text 27"/>
          <p:cNvSpPr/>
          <p:nvPr/>
        </p:nvSpPr>
        <p:spPr>
          <a:xfrm>
            <a:off x="1078992" y="4636008"/>
            <a:ext cx="1463040" cy="146304"/>
          </a:xfrm>
          <a:prstGeom prst="rect">
            <a:avLst/>
          </a:prstGeom>
          <a:noFill/>
          <a:ln/>
        </p:spPr>
        <p:txBody>
          <a:bodyPr wrap="square" lIns="0" tIns="0" rIns="0" bIns="0" rtlCol="0" anchor="ctr"/>
          <a:lstStyle/>
          <a:p>
            <a:pPr marL="0" indent="0">
              <a:buNone/>
            </a:pPr>
            <a:r>
              <a:rPr lang="en-US" sz="750" b="1" dirty="0">
                <a:solidFill>
                  <a:srgbClr val="64748B"/>
                </a:solidFill>
                <a:latin typeface="Segoe UI" pitchFamily="34" charset="0"/>
                <a:ea typeface="Segoe UI" pitchFamily="34" charset="-122"/>
                <a:cs typeface="Segoe UI" pitchFamily="34" charset="-120"/>
              </a:rPr>
              <a:t>Admin Key Control</a:t>
            </a:r>
            <a:endParaRPr lang="en-US" sz="750" dirty="0"/>
          </a:p>
        </p:txBody>
      </p:sp>
      <p:sp>
        <p:nvSpPr>
          <p:cNvPr id="30" name="Text 28"/>
          <p:cNvSpPr/>
          <p:nvPr/>
        </p:nvSpPr>
        <p:spPr>
          <a:xfrm>
            <a:off x="1078992" y="4782312"/>
            <a:ext cx="2560320" cy="164592"/>
          </a:xfrm>
          <a:prstGeom prst="rect">
            <a:avLst/>
          </a:prstGeom>
          <a:noFill/>
          <a:ln/>
        </p:spPr>
        <p:txBody>
          <a:bodyPr wrap="square" lIns="0" tIns="0" rIns="0" bIns="0" rtlCol="0" anchor="ctr"/>
          <a:lstStyle/>
          <a:p>
            <a:pPr marL="0" indent="0">
              <a:buNone/>
            </a:pPr>
            <a:r>
              <a:rPr lang="en-US" sz="820" b="1" dirty="0">
                <a:solidFill>
                  <a:srgbClr val="0F172A"/>
                </a:solidFill>
                <a:latin typeface="Segoe UI" pitchFamily="34" charset="0"/>
                <a:ea typeface="Segoe UI" pitchFamily="34" charset="-122"/>
                <a:cs typeface="Segoe UI" pitchFamily="34" charset="-120"/>
              </a:rPr>
              <a:t>Single EOA 0xABC9... (No Timelock)</a:t>
            </a:r>
            <a:endParaRPr lang="en-US" sz="820" dirty="0"/>
          </a:p>
        </p:txBody>
      </p:sp>
      <p:sp>
        <p:nvSpPr>
          <p:cNvPr id="31" name="Text 29"/>
          <p:cNvSpPr/>
          <p:nvPr/>
        </p:nvSpPr>
        <p:spPr>
          <a:xfrm>
            <a:off x="4206240" y="4700016"/>
            <a:ext cx="1143000" cy="164592"/>
          </a:xfrm>
          <a:prstGeom prst="rect">
            <a:avLst/>
          </a:prstGeom>
          <a:noFill/>
          <a:ln/>
        </p:spPr>
        <p:txBody>
          <a:bodyPr wrap="square" lIns="0" tIns="0" rIns="0" bIns="0" rtlCol="0" anchor="ctr"/>
          <a:lstStyle/>
          <a:p>
            <a:pPr marL="0" indent="0" algn="r">
              <a:buNone/>
            </a:pPr>
            <a:r>
              <a:rPr lang="en-US" sz="720" b="1" dirty="0">
                <a:solidFill>
                  <a:srgbClr val="92400E"/>
                </a:solidFill>
                <a:latin typeface="Segoe UI" pitchFamily="34" charset="0"/>
                <a:ea typeface="Segoe UI" pitchFamily="34" charset="-122"/>
                <a:cs typeface="Segoe UI" pitchFamily="34" charset="-120"/>
              </a:rPr>
              <a:t>RECENTLY ROTATED</a:t>
            </a:r>
            <a:endParaRPr lang="en-US" sz="720" dirty="0"/>
          </a:p>
        </p:txBody>
      </p:sp>
      <p:sp>
        <p:nvSpPr>
          <p:cNvPr id="32" name="Shape 30"/>
          <p:cNvSpPr/>
          <p:nvPr/>
        </p:nvSpPr>
        <p:spPr>
          <a:xfrm>
            <a:off x="960120" y="5120640"/>
            <a:ext cx="4480560" cy="530352"/>
          </a:xfrm>
          <a:prstGeom prst="roundRect">
            <a:avLst>
              <a:gd name="adj" fmla="val 10345"/>
            </a:avLst>
          </a:prstGeom>
          <a:solidFill>
            <a:srgbClr val="EEF2FF"/>
          </a:solidFill>
          <a:ln w="10160">
            <a:solidFill>
              <a:srgbClr val="C7D2FE"/>
            </a:solidFill>
            <a:prstDash val="solid"/>
          </a:ln>
        </p:spPr>
        <p:txBody>
          <a:bodyPr/>
          <a:lstStyle/>
          <a:p>
            <a:endParaRPr lang="en-US"/>
          </a:p>
        </p:txBody>
      </p:sp>
      <p:sp>
        <p:nvSpPr>
          <p:cNvPr id="33" name="Text 31"/>
          <p:cNvSpPr/>
          <p:nvPr/>
        </p:nvSpPr>
        <p:spPr>
          <a:xfrm>
            <a:off x="1051560" y="5166360"/>
            <a:ext cx="4297680" cy="438912"/>
          </a:xfrm>
          <a:prstGeom prst="rect">
            <a:avLst/>
          </a:prstGeom>
          <a:noFill/>
          <a:ln/>
        </p:spPr>
        <p:txBody>
          <a:bodyPr wrap="square" lIns="0" tIns="0" rIns="0" bIns="0" rtlCol="0" anchor="ctr"/>
          <a:lstStyle/>
          <a:p>
            <a:pPr marL="0" indent="0">
              <a:lnSpc>
                <a:spcPts val="1100"/>
              </a:lnSpc>
              <a:buNone/>
            </a:pPr>
            <a:r>
              <a:rPr lang="en-US" sz="800" dirty="0">
                <a:solidFill>
                  <a:srgbClr val="4338CA"/>
                </a:solidFill>
                <a:latin typeface="Segoe UI" pitchFamily="34" charset="0"/>
                <a:ea typeface="Segoe UI" pitchFamily="34" charset="-122"/>
                <a:cs typeface="Segoe UI" pitchFamily="34" charset="-120"/>
              </a:rPr>
              <a:t>Sentinel Explanation: Approving allows this contract to withdraw up to your full $2,840 USDC balance at any future time. The contract's code can be replaced without delay by admin 0xABC9...</a:t>
            </a:r>
            <a:endParaRPr lang="en-US" sz="800" dirty="0"/>
          </a:p>
        </p:txBody>
      </p:sp>
      <p:sp>
        <p:nvSpPr>
          <p:cNvPr id="34" name="Shape 32"/>
          <p:cNvSpPr/>
          <p:nvPr/>
        </p:nvSpPr>
        <p:spPr>
          <a:xfrm>
            <a:off x="960120" y="5715000"/>
            <a:ext cx="1371600" cy="347472"/>
          </a:xfrm>
          <a:prstGeom prst="roundRect">
            <a:avLst>
              <a:gd name="adj" fmla="val 15789"/>
            </a:avLst>
          </a:prstGeom>
          <a:solidFill>
            <a:srgbClr val="FFF1F2"/>
          </a:solidFill>
          <a:ln w="12700">
            <a:solidFill>
              <a:srgbClr val="FECDD3"/>
            </a:solidFill>
            <a:prstDash val="solid"/>
          </a:ln>
        </p:spPr>
        <p:txBody>
          <a:bodyPr/>
          <a:lstStyle/>
          <a:p>
            <a:endParaRPr lang="en-US"/>
          </a:p>
        </p:txBody>
      </p:sp>
      <p:sp>
        <p:nvSpPr>
          <p:cNvPr id="35" name="Text 33"/>
          <p:cNvSpPr/>
          <p:nvPr/>
        </p:nvSpPr>
        <p:spPr>
          <a:xfrm>
            <a:off x="960120" y="5715000"/>
            <a:ext cx="1371600" cy="347472"/>
          </a:xfrm>
          <a:prstGeom prst="rect">
            <a:avLst/>
          </a:prstGeom>
          <a:noFill/>
          <a:ln/>
        </p:spPr>
        <p:txBody>
          <a:bodyPr wrap="square" lIns="0" tIns="0" rIns="0" bIns="0" rtlCol="0" anchor="ctr"/>
          <a:lstStyle/>
          <a:p>
            <a:pPr marL="0" indent="0" algn="ctr">
              <a:buNone/>
            </a:pPr>
            <a:r>
              <a:rPr lang="en-US" sz="850" b="1" dirty="0">
                <a:solidFill>
                  <a:srgbClr val="9F1239"/>
                </a:solidFill>
                <a:latin typeface="Segoe UI" pitchFamily="34" charset="0"/>
                <a:ea typeface="Segoe UI" pitchFamily="34" charset="-122"/>
                <a:cs typeface="Segoe UI" pitchFamily="34" charset="-120"/>
              </a:rPr>
              <a:t>Reject</a:t>
            </a:r>
            <a:endParaRPr lang="en-US" sz="850" dirty="0"/>
          </a:p>
        </p:txBody>
      </p:sp>
      <p:sp>
        <p:nvSpPr>
          <p:cNvPr id="36" name="Shape 34"/>
          <p:cNvSpPr/>
          <p:nvPr/>
        </p:nvSpPr>
        <p:spPr>
          <a:xfrm>
            <a:off x="2514600" y="5715000"/>
            <a:ext cx="1371600" cy="347472"/>
          </a:xfrm>
          <a:prstGeom prst="roundRect">
            <a:avLst>
              <a:gd name="adj" fmla="val 15789"/>
            </a:avLst>
          </a:prstGeom>
          <a:solidFill>
            <a:srgbClr val="EEF2FF"/>
          </a:solidFill>
          <a:ln w="12700">
            <a:solidFill>
              <a:srgbClr val="C7D2FE"/>
            </a:solidFill>
            <a:prstDash val="solid"/>
          </a:ln>
        </p:spPr>
        <p:txBody>
          <a:bodyPr/>
          <a:lstStyle/>
          <a:p>
            <a:endParaRPr lang="en-US"/>
          </a:p>
        </p:txBody>
      </p:sp>
      <p:sp>
        <p:nvSpPr>
          <p:cNvPr id="37" name="Text 35"/>
          <p:cNvSpPr/>
          <p:nvPr/>
        </p:nvSpPr>
        <p:spPr>
          <a:xfrm>
            <a:off x="2514600" y="5715000"/>
            <a:ext cx="1371600" cy="347472"/>
          </a:xfrm>
          <a:prstGeom prst="rect">
            <a:avLst/>
          </a:prstGeom>
          <a:noFill/>
          <a:ln/>
        </p:spPr>
        <p:txBody>
          <a:bodyPr wrap="square" lIns="0" tIns="0" rIns="0" bIns="0" rtlCol="0" anchor="ctr"/>
          <a:lstStyle/>
          <a:p>
            <a:pPr marL="0" indent="0" algn="ctr">
              <a:buNone/>
            </a:pPr>
            <a:r>
              <a:rPr lang="en-US" sz="850" b="1" dirty="0">
                <a:solidFill>
                  <a:srgbClr val="4338CA"/>
                </a:solidFill>
                <a:latin typeface="Segoe UI" pitchFamily="34" charset="0"/>
                <a:ea typeface="Segoe UI" pitchFamily="34" charset="-122"/>
                <a:cs typeface="Segoe UI" pitchFamily="34" charset="-120"/>
              </a:rPr>
              <a:t>Set $50 Cap</a:t>
            </a:r>
            <a:endParaRPr lang="en-US" sz="850" dirty="0"/>
          </a:p>
        </p:txBody>
      </p:sp>
      <p:sp>
        <p:nvSpPr>
          <p:cNvPr id="38" name="Shape 36"/>
          <p:cNvSpPr/>
          <p:nvPr/>
        </p:nvSpPr>
        <p:spPr>
          <a:xfrm>
            <a:off x="4069080" y="5715000"/>
            <a:ext cx="1371600" cy="347472"/>
          </a:xfrm>
          <a:prstGeom prst="roundRect">
            <a:avLst>
              <a:gd name="adj" fmla="val 15789"/>
            </a:avLst>
          </a:prstGeom>
          <a:solidFill>
            <a:srgbClr val="ECFDF5"/>
          </a:solidFill>
          <a:ln w="12700">
            <a:solidFill>
              <a:srgbClr val="A7F3D0"/>
            </a:solidFill>
            <a:prstDash val="solid"/>
          </a:ln>
        </p:spPr>
        <p:txBody>
          <a:bodyPr/>
          <a:lstStyle/>
          <a:p>
            <a:endParaRPr lang="en-US"/>
          </a:p>
        </p:txBody>
      </p:sp>
      <p:sp>
        <p:nvSpPr>
          <p:cNvPr id="39" name="Text 37"/>
          <p:cNvSpPr/>
          <p:nvPr/>
        </p:nvSpPr>
        <p:spPr>
          <a:xfrm>
            <a:off x="4069080" y="5715000"/>
            <a:ext cx="1371600" cy="347472"/>
          </a:xfrm>
          <a:prstGeom prst="rect">
            <a:avLst/>
          </a:prstGeom>
          <a:noFill/>
          <a:ln/>
        </p:spPr>
        <p:txBody>
          <a:bodyPr wrap="square" lIns="0" tIns="0" rIns="0" bIns="0" rtlCol="0" anchor="ctr"/>
          <a:lstStyle/>
          <a:p>
            <a:pPr marL="0" indent="0" algn="ctr">
              <a:buNone/>
            </a:pPr>
            <a:r>
              <a:rPr lang="en-US" sz="850" b="1" dirty="0">
                <a:solidFill>
                  <a:srgbClr val="065F46"/>
                </a:solidFill>
                <a:latin typeface="Segoe UI" pitchFamily="34" charset="0"/>
                <a:ea typeface="Segoe UI" pitchFamily="34" charset="-122"/>
                <a:cs typeface="Segoe UI" pitchFamily="34" charset="-120"/>
              </a:rPr>
              <a:t>Approve Unlimited</a:t>
            </a:r>
            <a:endParaRPr lang="en-US" sz="850" dirty="0"/>
          </a:p>
        </p:txBody>
      </p:sp>
      <p:sp>
        <p:nvSpPr>
          <p:cNvPr id="40" name="Shape 38"/>
          <p:cNvSpPr/>
          <p:nvPr/>
        </p:nvSpPr>
        <p:spPr>
          <a:xfrm>
            <a:off x="5989320" y="1691640"/>
            <a:ext cx="5486400" cy="4480560"/>
          </a:xfrm>
          <a:prstGeom prst="roundRect">
            <a:avLst>
              <a:gd name="adj" fmla="val 1633"/>
            </a:avLst>
          </a:prstGeom>
          <a:solidFill>
            <a:srgbClr val="FFFFFF"/>
          </a:solidFill>
          <a:ln w="12700">
            <a:solidFill>
              <a:srgbClr val="E2E8F0"/>
            </a:solidFill>
            <a:prstDash val="solid"/>
          </a:ln>
        </p:spPr>
        <p:txBody>
          <a:bodyPr/>
          <a:lstStyle/>
          <a:p>
            <a:endParaRPr lang="en-US"/>
          </a:p>
        </p:txBody>
      </p:sp>
      <p:sp>
        <p:nvSpPr>
          <p:cNvPr id="41" name="Shape 39"/>
          <p:cNvSpPr/>
          <p:nvPr/>
        </p:nvSpPr>
        <p:spPr>
          <a:xfrm>
            <a:off x="6007608" y="1709928"/>
            <a:ext cx="544982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42" name="Shape 40"/>
          <p:cNvSpPr/>
          <p:nvPr/>
        </p:nvSpPr>
        <p:spPr>
          <a:xfrm>
            <a:off x="6217920" y="1920240"/>
            <a:ext cx="4183380"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43" name="Text 41"/>
          <p:cNvSpPr/>
          <p:nvPr/>
        </p:nvSpPr>
        <p:spPr>
          <a:xfrm>
            <a:off x="6217920" y="1920240"/>
            <a:ext cx="4183380"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GROUNDING ARCHITECTURE // ZERO HALLUCINATIONS</a:t>
            </a:r>
            <a:endParaRPr lang="en-US" sz="800" dirty="0"/>
          </a:p>
        </p:txBody>
      </p:sp>
      <p:sp>
        <p:nvSpPr>
          <p:cNvPr id="44" name="Text 42"/>
          <p:cNvSpPr/>
          <p:nvPr/>
        </p:nvSpPr>
        <p:spPr>
          <a:xfrm>
            <a:off x="6217920" y="2240280"/>
            <a:ext cx="5029200" cy="292608"/>
          </a:xfrm>
          <a:prstGeom prst="rect">
            <a:avLst/>
          </a:prstGeom>
          <a:noFill/>
          <a:ln/>
        </p:spPr>
        <p:txBody>
          <a:bodyPr wrap="square" lIns="0" tIns="0" rIns="0" bIns="0"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The LLM is NOT the Detector — It is the Narrator</a:t>
            </a:r>
            <a:endParaRPr lang="en-US" sz="1300" dirty="0"/>
          </a:p>
        </p:txBody>
      </p:sp>
      <p:sp>
        <p:nvSpPr>
          <p:cNvPr id="45" name="Shape 43"/>
          <p:cNvSpPr/>
          <p:nvPr/>
        </p:nvSpPr>
        <p:spPr>
          <a:xfrm>
            <a:off x="6217920" y="2651760"/>
            <a:ext cx="5029200" cy="685800"/>
          </a:xfrm>
          <a:prstGeom prst="roundRect">
            <a:avLst>
              <a:gd name="adj" fmla="val 8000"/>
            </a:avLst>
          </a:prstGeom>
          <a:solidFill>
            <a:srgbClr val="F8FAFC"/>
          </a:solidFill>
          <a:ln w="10160">
            <a:solidFill>
              <a:srgbClr val="E2E8F0"/>
            </a:solidFill>
            <a:prstDash val="solid"/>
          </a:ln>
        </p:spPr>
        <p:txBody>
          <a:bodyPr/>
          <a:lstStyle/>
          <a:p>
            <a:endParaRPr lang="en-US"/>
          </a:p>
        </p:txBody>
      </p:sp>
      <p:sp>
        <p:nvSpPr>
          <p:cNvPr id="46" name="Text 44"/>
          <p:cNvSpPr/>
          <p:nvPr/>
        </p:nvSpPr>
        <p:spPr>
          <a:xfrm>
            <a:off x="6336792" y="2706624"/>
            <a:ext cx="4800600" cy="146304"/>
          </a:xfrm>
          <a:prstGeom prst="rect">
            <a:avLst/>
          </a:prstGeom>
          <a:noFill/>
          <a:ln/>
        </p:spPr>
        <p:txBody>
          <a:bodyPr wrap="square" lIns="0" tIns="0" rIns="0" bIns="0" rtlCol="0" anchor="ctr"/>
          <a:lstStyle/>
          <a:p>
            <a:pPr marL="0" indent="0">
              <a:buNone/>
            </a:pPr>
            <a:r>
              <a:rPr lang="en-US" sz="750" b="1" dirty="0">
                <a:solidFill>
                  <a:srgbClr val="065F46"/>
                </a:solidFill>
                <a:latin typeface="Segoe UI" pitchFamily="34" charset="0"/>
                <a:ea typeface="Segoe UI" pitchFamily="34" charset="-122"/>
                <a:cs typeface="Segoe UI" pitchFamily="34" charset="-120"/>
              </a:rPr>
              <a:t>LAYER 1: RAW BLOCKCHAIN DATA</a:t>
            </a:r>
            <a:endParaRPr lang="en-US" sz="750" dirty="0"/>
          </a:p>
        </p:txBody>
      </p:sp>
      <p:sp>
        <p:nvSpPr>
          <p:cNvPr id="47" name="Text 45"/>
          <p:cNvSpPr/>
          <p:nvPr/>
        </p:nvSpPr>
        <p:spPr>
          <a:xfrm>
            <a:off x="6336792" y="2852928"/>
            <a:ext cx="4800600" cy="182880"/>
          </a:xfrm>
          <a:prstGeom prst="rect">
            <a:avLst/>
          </a:prstGeom>
          <a:noFill/>
          <a:ln/>
        </p:spPr>
        <p:txBody>
          <a:bodyPr wrap="square" lIns="0" tIns="0" rIns="0" bIns="0" rtlCol="0" anchor="ctr"/>
          <a:lstStyle/>
          <a:p>
            <a:pPr marL="0" indent="0">
              <a:buNone/>
            </a:pPr>
            <a:r>
              <a:rPr lang="en-US" sz="880" b="1" dirty="0">
                <a:solidFill>
                  <a:srgbClr val="0F172A"/>
                </a:solidFill>
                <a:latin typeface="Segoe UI" pitchFamily="34" charset="0"/>
                <a:ea typeface="Segoe UI" pitchFamily="34" charset="-122"/>
                <a:cs typeface="Segoe UI" pitchFamily="34" charset="-120"/>
              </a:rPr>
              <a:t>EVM RPC Nodes, State Storage, &amp; Bytecode</a:t>
            </a:r>
            <a:endParaRPr lang="en-US" sz="880" dirty="0"/>
          </a:p>
        </p:txBody>
      </p:sp>
      <p:sp>
        <p:nvSpPr>
          <p:cNvPr id="48" name="Text 46"/>
          <p:cNvSpPr/>
          <p:nvPr/>
        </p:nvSpPr>
        <p:spPr>
          <a:xfrm>
            <a:off x="6336792" y="3035808"/>
            <a:ext cx="4800600" cy="256032"/>
          </a:xfrm>
          <a:prstGeom prst="rect">
            <a:avLst/>
          </a:prstGeom>
          <a:noFill/>
          <a:ln/>
        </p:spPr>
        <p:txBody>
          <a:bodyPr wrap="square" lIns="0" tIns="0" rIns="0" bIns="0" rtlCol="0" anchor="ctr"/>
          <a:lstStyle/>
          <a:p>
            <a:pPr marL="0" indent="0">
              <a:lnSpc>
                <a:spcPts val="1050"/>
              </a:lnSpc>
              <a:buNone/>
            </a:pPr>
            <a:r>
              <a:rPr lang="en-US" sz="780" dirty="0">
                <a:solidFill>
                  <a:srgbClr val="64748B"/>
                </a:solidFill>
                <a:latin typeface="Segoe UI" pitchFamily="34" charset="0"/>
                <a:ea typeface="Segoe UI" pitchFamily="34" charset="-122"/>
                <a:cs typeface="Segoe UI" pitchFamily="34" charset="-120"/>
              </a:rPr>
              <a:t>Pulls exact balance slots, allowance mappings, implementation addresses, and transaction calldata.</a:t>
            </a:r>
            <a:endParaRPr lang="en-US" sz="780" dirty="0"/>
          </a:p>
        </p:txBody>
      </p:sp>
      <p:sp>
        <p:nvSpPr>
          <p:cNvPr id="49" name="Shape 47"/>
          <p:cNvSpPr/>
          <p:nvPr/>
        </p:nvSpPr>
        <p:spPr>
          <a:xfrm>
            <a:off x="6217920" y="3429000"/>
            <a:ext cx="5029200" cy="685800"/>
          </a:xfrm>
          <a:prstGeom prst="roundRect">
            <a:avLst>
              <a:gd name="adj" fmla="val 8000"/>
            </a:avLst>
          </a:prstGeom>
          <a:solidFill>
            <a:srgbClr val="F8FAFC"/>
          </a:solidFill>
          <a:ln w="10160">
            <a:solidFill>
              <a:srgbClr val="E2E8F0"/>
            </a:solidFill>
            <a:prstDash val="solid"/>
          </a:ln>
        </p:spPr>
        <p:txBody>
          <a:bodyPr/>
          <a:lstStyle/>
          <a:p>
            <a:endParaRPr lang="en-US"/>
          </a:p>
        </p:txBody>
      </p:sp>
      <p:sp>
        <p:nvSpPr>
          <p:cNvPr id="50" name="Text 48"/>
          <p:cNvSpPr/>
          <p:nvPr/>
        </p:nvSpPr>
        <p:spPr>
          <a:xfrm>
            <a:off x="6336792" y="3483864"/>
            <a:ext cx="4800600" cy="146304"/>
          </a:xfrm>
          <a:prstGeom prst="rect">
            <a:avLst/>
          </a:prstGeom>
          <a:noFill/>
          <a:ln/>
        </p:spPr>
        <p:txBody>
          <a:bodyPr wrap="square" lIns="0" tIns="0" rIns="0" bIns="0" rtlCol="0" anchor="ctr"/>
          <a:lstStyle/>
          <a:p>
            <a:pPr marL="0" indent="0">
              <a:buNone/>
            </a:pPr>
            <a:r>
              <a:rPr lang="en-US" sz="750" b="1" dirty="0">
                <a:solidFill>
                  <a:srgbClr val="4338CA"/>
                </a:solidFill>
                <a:latin typeface="Segoe UI" pitchFamily="34" charset="0"/>
                <a:ea typeface="Segoe UI" pitchFamily="34" charset="-122"/>
                <a:cs typeface="Segoe UI" pitchFamily="34" charset="-120"/>
              </a:rPr>
              <a:t>LAYER 2: DETERMINISTIC ANALYSIS ENGINE</a:t>
            </a:r>
            <a:endParaRPr lang="en-US" sz="750" dirty="0"/>
          </a:p>
        </p:txBody>
      </p:sp>
      <p:sp>
        <p:nvSpPr>
          <p:cNvPr id="51" name="Text 49"/>
          <p:cNvSpPr/>
          <p:nvPr/>
        </p:nvSpPr>
        <p:spPr>
          <a:xfrm>
            <a:off x="6336792" y="3630168"/>
            <a:ext cx="4800600" cy="182880"/>
          </a:xfrm>
          <a:prstGeom prst="rect">
            <a:avLst/>
          </a:prstGeom>
          <a:noFill/>
          <a:ln/>
        </p:spPr>
        <p:txBody>
          <a:bodyPr wrap="square" lIns="0" tIns="0" rIns="0" bIns="0" rtlCol="0" anchor="ctr"/>
          <a:lstStyle/>
          <a:p>
            <a:pPr marL="0" indent="0">
              <a:buNone/>
            </a:pPr>
            <a:r>
              <a:rPr lang="en-US" sz="880" b="1" dirty="0">
                <a:solidFill>
                  <a:srgbClr val="0F172A"/>
                </a:solidFill>
                <a:latin typeface="Segoe UI" pitchFamily="34" charset="0"/>
                <a:ea typeface="Segoe UI" pitchFamily="34" charset="-122"/>
                <a:cs typeface="Segoe UI" pitchFamily="34" charset="-120"/>
              </a:rPr>
              <a:t>Mathematical Rules &amp; Graph Traversal</a:t>
            </a:r>
            <a:endParaRPr lang="en-US" sz="880" dirty="0"/>
          </a:p>
        </p:txBody>
      </p:sp>
      <p:sp>
        <p:nvSpPr>
          <p:cNvPr id="52" name="Text 50"/>
          <p:cNvSpPr/>
          <p:nvPr/>
        </p:nvSpPr>
        <p:spPr>
          <a:xfrm>
            <a:off x="6336792" y="3813048"/>
            <a:ext cx="4800600" cy="256032"/>
          </a:xfrm>
          <a:prstGeom prst="rect">
            <a:avLst/>
          </a:prstGeom>
          <a:noFill/>
          <a:ln/>
        </p:spPr>
        <p:txBody>
          <a:bodyPr wrap="square" lIns="0" tIns="0" rIns="0" bIns="0" rtlCol="0" anchor="ctr"/>
          <a:lstStyle/>
          <a:p>
            <a:pPr marL="0" indent="0">
              <a:lnSpc>
                <a:spcPts val="1050"/>
              </a:lnSpc>
              <a:buNone/>
            </a:pPr>
            <a:r>
              <a:rPr lang="en-US" sz="780" dirty="0">
                <a:solidFill>
                  <a:srgbClr val="64748B"/>
                </a:solidFill>
                <a:latin typeface="Segoe UI" pitchFamily="34" charset="0"/>
                <a:ea typeface="Segoe UI" pitchFamily="34" charset="-122"/>
                <a:cs typeface="Segoe UI" pitchFamily="34" charset="-120"/>
              </a:rPr>
              <a:t>Executes 100% reproducible algorithms: calculates exact $ blast radius, verifies proxy patterns, detects timelock lengths.</a:t>
            </a:r>
            <a:endParaRPr lang="en-US" sz="780" dirty="0"/>
          </a:p>
        </p:txBody>
      </p:sp>
      <p:sp>
        <p:nvSpPr>
          <p:cNvPr id="53" name="Shape 51"/>
          <p:cNvSpPr/>
          <p:nvPr/>
        </p:nvSpPr>
        <p:spPr>
          <a:xfrm>
            <a:off x="6217920" y="4206240"/>
            <a:ext cx="5029200" cy="685800"/>
          </a:xfrm>
          <a:prstGeom prst="roundRect">
            <a:avLst>
              <a:gd name="adj" fmla="val 8000"/>
            </a:avLst>
          </a:prstGeom>
          <a:solidFill>
            <a:srgbClr val="F8FAFC"/>
          </a:solidFill>
          <a:ln w="10160">
            <a:solidFill>
              <a:srgbClr val="E2E8F0"/>
            </a:solidFill>
            <a:prstDash val="solid"/>
          </a:ln>
        </p:spPr>
        <p:txBody>
          <a:bodyPr/>
          <a:lstStyle/>
          <a:p>
            <a:endParaRPr lang="en-US"/>
          </a:p>
        </p:txBody>
      </p:sp>
      <p:sp>
        <p:nvSpPr>
          <p:cNvPr id="54" name="Text 52"/>
          <p:cNvSpPr/>
          <p:nvPr/>
        </p:nvSpPr>
        <p:spPr>
          <a:xfrm>
            <a:off x="6336792" y="4261104"/>
            <a:ext cx="4800600" cy="146304"/>
          </a:xfrm>
          <a:prstGeom prst="rect">
            <a:avLst/>
          </a:prstGeom>
          <a:noFill/>
          <a:ln/>
        </p:spPr>
        <p:txBody>
          <a:bodyPr wrap="square" lIns="0" tIns="0" rIns="0" bIns="0" rtlCol="0" anchor="ctr"/>
          <a:lstStyle/>
          <a:p>
            <a:pPr marL="0" indent="0">
              <a:buNone/>
            </a:pPr>
            <a:r>
              <a:rPr lang="en-US" sz="750" b="1" dirty="0">
                <a:solidFill>
                  <a:srgbClr val="92400E"/>
                </a:solidFill>
                <a:latin typeface="Segoe UI" pitchFamily="34" charset="0"/>
                <a:ea typeface="Segoe UI" pitchFamily="34" charset="-122"/>
                <a:cs typeface="Segoe UI" pitchFamily="34" charset="-120"/>
              </a:rPr>
              <a:t>LAYER 3: STRUCTURED EVIDENCE GRAPH</a:t>
            </a:r>
            <a:endParaRPr lang="en-US" sz="750" dirty="0"/>
          </a:p>
        </p:txBody>
      </p:sp>
      <p:sp>
        <p:nvSpPr>
          <p:cNvPr id="55" name="Text 53"/>
          <p:cNvSpPr/>
          <p:nvPr/>
        </p:nvSpPr>
        <p:spPr>
          <a:xfrm>
            <a:off x="6336792" y="4407408"/>
            <a:ext cx="4800600" cy="182880"/>
          </a:xfrm>
          <a:prstGeom prst="rect">
            <a:avLst/>
          </a:prstGeom>
          <a:noFill/>
          <a:ln/>
        </p:spPr>
        <p:txBody>
          <a:bodyPr wrap="square" lIns="0" tIns="0" rIns="0" bIns="0" rtlCol="0" anchor="ctr"/>
          <a:lstStyle/>
          <a:p>
            <a:pPr marL="0" indent="0">
              <a:buNone/>
            </a:pPr>
            <a:r>
              <a:rPr lang="en-US" sz="880" b="1" dirty="0">
                <a:solidFill>
                  <a:srgbClr val="0F172A"/>
                </a:solidFill>
                <a:latin typeface="Segoe UI" pitchFamily="34" charset="0"/>
                <a:ea typeface="Segoe UI" pitchFamily="34" charset="-122"/>
                <a:cs typeface="Segoe UI" pitchFamily="34" charset="-120"/>
              </a:rPr>
              <a:t>Cryptographically Grounded JSON Facts</a:t>
            </a:r>
            <a:endParaRPr lang="en-US" sz="880" dirty="0"/>
          </a:p>
        </p:txBody>
      </p:sp>
      <p:sp>
        <p:nvSpPr>
          <p:cNvPr id="56" name="Text 54"/>
          <p:cNvSpPr/>
          <p:nvPr/>
        </p:nvSpPr>
        <p:spPr>
          <a:xfrm>
            <a:off x="6336792" y="4590288"/>
            <a:ext cx="4800600" cy="256032"/>
          </a:xfrm>
          <a:prstGeom prst="rect">
            <a:avLst/>
          </a:prstGeom>
          <a:noFill/>
          <a:ln/>
        </p:spPr>
        <p:txBody>
          <a:bodyPr wrap="square" lIns="0" tIns="0" rIns="0" bIns="0" rtlCol="0" anchor="ctr"/>
          <a:lstStyle/>
          <a:p>
            <a:pPr marL="0" indent="0">
              <a:lnSpc>
                <a:spcPts val="1050"/>
              </a:lnSpc>
              <a:buNone/>
            </a:pPr>
            <a:r>
              <a:rPr lang="en-US" sz="780" dirty="0">
                <a:solidFill>
                  <a:srgbClr val="64748B"/>
                </a:solidFill>
                <a:latin typeface="Segoe UI" pitchFamily="34" charset="0"/>
                <a:ea typeface="Segoe UI" pitchFamily="34" charset="-122"/>
                <a:cs typeface="Segoe UI" pitchFamily="34" charset="-120"/>
              </a:rPr>
              <a:t>Assembles observed facts into an immutable knowledge graph where every claim has a unique Evidence ID.</a:t>
            </a:r>
            <a:endParaRPr lang="en-US" sz="780" dirty="0"/>
          </a:p>
        </p:txBody>
      </p:sp>
      <p:sp>
        <p:nvSpPr>
          <p:cNvPr id="57" name="Shape 55"/>
          <p:cNvSpPr/>
          <p:nvPr/>
        </p:nvSpPr>
        <p:spPr>
          <a:xfrm>
            <a:off x="6217920" y="4983480"/>
            <a:ext cx="5029200" cy="685800"/>
          </a:xfrm>
          <a:prstGeom prst="roundRect">
            <a:avLst>
              <a:gd name="adj" fmla="val 8000"/>
            </a:avLst>
          </a:prstGeom>
          <a:solidFill>
            <a:srgbClr val="F8FAFC"/>
          </a:solidFill>
          <a:ln w="10160">
            <a:solidFill>
              <a:srgbClr val="E2E8F0"/>
            </a:solidFill>
            <a:prstDash val="solid"/>
          </a:ln>
        </p:spPr>
        <p:txBody>
          <a:bodyPr/>
          <a:lstStyle/>
          <a:p>
            <a:endParaRPr lang="en-US"/>
          </a:p>
        </p:txBody>
      </p:sp>
      <p:sp>
        <p:nvSpPr>
          <p:cNvPr id="58" name="Text 56"/>
          <p:cNvSpPr/>
          <p:nvPr/>
        </p:nvSpPr>
        <p:spPr>
          <a:xfrm>
            <a:off x="6336792" y="5038344"/>
            <a:ext cx="4800600" cy="146304"/>
          </a:xfrm>
          <a:prstGeom prst="rect">
            <a:avLst/>
          </a:prstGeom>
          <a:noFill/>
          <a:ln/>
        </p:spPr>
        <p:txBody>
          <a:bodyPr wrap="square" lIns="0" tIns="0" rIns="0" bIns="0" rtlCol="0" anchor="ctr"/>
          <a:lstStyle/>
          <a:p>
            <a:pPr marL="0" indent="0">
              <a:buNone/>
            </a:pPr>
            <a:r>
              <a:rPr lang="en-US" sz="750" b="1" dirty="0">
                <a:solidFill>
                  <a:srgbClr val="0F172A"/>
                </a:solidFill>
                <a:latin typeface="Segoe UI" pitchFamily="34" charset="0"/>
                <a:ea typeface="Segoe UI" pitchFamily="34" charset="-122"/>
                <a:cs typeface="Segoe UI" pitchFamily="34" charset="-120"/>
              </a:rPr>
              <a:t>LAYER 4: LLM NARRATION ENGINE (Gemini / Claude)</a:t>
            </a:r>
            <a:endParaRPr lang="en-US" sz="750" dirty="0"/>
          </a:p>
        </p:txBody>
      </p:sp>
      <p:sp>
        <p:nvSpPr>
          <p:cNvPr id="59" name="Text 57"/>
          <p:cNvSpPr/>
          <p:nvPr/>
        </p:nvSpPr>
        <p:spPr>
          <a:xfrm>
            <a:off x="6336792" y="5184648"/>
            <a:ext cx="4800600" cy="182880"/>
          </a:xfrm>
          <a:prstGeom prst="rect">
            <a:avLst/>
          </a:prstGeom>
          <a:noFill/>
          <a:ln/>
        </p:spPr>
        <p:txBody>
          <a:bodyPr wrap="square" lIns="0" tIns="0" rIns="0" bIns="0" rtlCol="0" anchor="ctr"/>
          <a:lstStyle/>
          <a:p>
            <a:pPr marL="0" indent="0">
              <a:buNone/>
            </a:pPr>
            <a:r>
              <a:rPr lang="en-US" sz="880" b="1" dirty="0">
                <a:solidFill>
                  <a:srgbClr val="0F172A"/>
                </a:solidFill>
                <a:latin typeface="Segoe UI" pitchFamily="34" charset="0"/>
                <a:ea typeface="Segoe UI" pitchFamily="34" charset="-122"/>
                <a:cs typeface="Segoe UI" pitchFamily="34" charset="-120"/>
              </a:rPr>
              <a:t>Translates Evidence IDs into Clear English</a:t>
            </a:r>
            <a:endParaRPr lang="en-US" sz="880" dirty="0"/>
          </a:p>
        </p:txBody>
      </p:sp>
      <p:sp>
        <p:nvSpPr>
          <p:cNvPr id="60" name="Text 58"/>
          <p:cNvSpPr/>
          <p:nvPr/>
        </p:nvSpPr>
        <p:spPr>
          <a:xfrm>
            <a:off x="6336792" y="5367528"/>
            <a:ext cx="4800600" cy="256032"/>
          </a:xfrm>
          <a:prstGeom prst="rect">
            <a:avLst/>
          </a:prstGeom>
          <a:noFill/>
          <a:ln/>
        </p:spPr>
        <p:txBody>
          <a:bodyPr wrap="square" lIns="0" tIns="0" rIns="0" bIns="0" rtlCol="0" anchor="ctr"/>
          <a:lstStyle/>
          <a:p>
            <a:pPr marL="0" indent="0">
              <a:lnSpc>
                <a:spcPts val="1050"/>
              </a:lnSpc>
              <a:buNone/>
            </a:pPr>
            <a:r>
              <a:rPr lang="en-US" sz="780" dirty="0">
                <a:solidFill>
                  <a:srgbClr val="64748B"/>
                </a:solidFill>
                <a:latin typeface="Segoe UI" pitchFamily="34" charset="0"/>
                <a:ea typeface="Segoe UI" pitchFamily="34" charset="-122"/>
                <a:cs typeface="Segoe UI" pitchFamily="34" charset="-120"/>
              </a:rPr>
              <a:t>The LLM NEVER evaluates contracts. It only renders structured Evidence IDs into natural language sentences.</a:t>
            </a:r>
            <a:endParaRPr lang="en-US" sz="780" dirty="0"/>
          </a:p>
        </p:txBody>
      </p:sp>
      <p:sp>
        <p:nvSpPr>
          <p:cNvPr id="61" name="Shape 59"/>
          <p:cNvSpPr/>
          <p:nvPr/>
        </p:nvSpPr>
        <p:spPr>
          <a:xfrm>
            <a:off x="6217920" y="5760720"/>
            <a:ext cx="5029200" cy="320040"/>
          </a:xfrm>
          <a:prstGeom prst="roundRect">
            <a:avLst>
              <a:gd name="adj" fmla="val 17143"/>
            </a:avLst>
          </a:prstGeom>
          <a:solidFill>
            <a:srgbClr val="FFF1F2"/>
          </a:solidFill>
          <a:ln w="10160">
            <a:solidFill>
              <a:srgbClr val="FECDD3"/>
            </a:solidFill>
            <a:prstDash val="solid"/>
          </a:ln>
        </p:spPr>
        <p:txBody>
          <a:bodyPr/>
          <a:lstStyle/>
          <a:p>
            <a:endParaRPr lang="en-US"/>
          </a:p>
        </p:txBody>
      </p:sp>
      <p:sp>
        <p:nvSpPr>
          <p:cNvPr id="62" name="Text 60"/>
          <p:cNvSpPr/>
          <p:nvPr/>
        </p:nvSpPr>
        <p:spPr>
          <a:xfrm>
            <a:off x="6263640" y="5760720"/>
            <a:ext cx="4937760" cy="320040"/>
          </a:xfrm>
          <a:prstGeom prst="rect">
            <a:avLst/>
          </a:prstGeom>
          <a:noFill/>
          <a:ln/>
        </p:spPr>
        <p:txBody>
          <a:bodyPr wrap="square" lIns="0" tIns="0" rIns="0" bIns="0" rtlCol="0" anchor="ctr"/>
          <a:lstStyle/>
          <a:p>
            <a:pPr marL="0" indent="0" algn="ctr">
              <a:buNone/>
            </a:pPr>
            <a:r>
              <a:rPr lang="en-US" sz="750" b="1" dirty="0">
                <a:solidFill>
                  <a:srgbClr val="9F1239"/>
                </a:solidFill>
                <a:latin typeface="Segoe UI" pitchFamily="34" charset="0"/>
                <a:ea typeface="Segoe UI" pitchFamily="34" charset="-122"/>
                <a:cs typeface="Segoe UI" pitchFamily="34" charset="-120"/>
              </a:rPr>
              <a:t>THE STRICT GROUNDING RULE: If an LLM sentence cannot be mapped 1:1 to an Evidence ID, it is dropped.</a:t>
            </a:r>
            <a:endParaRPr lang="en-US" sz="750" dirty="0"/>
          </a:p>
        </p:txBody>
      </p:sp>
      <p:sp>
        <p:nvSpPr>
          <p:cNvPr id="63" name="Shape 61"/>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64" name="Text 62"/>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65" name="Text 63"/>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07 of 16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3575304" cy="256032"/>
          </a:xfrm>
          <a:prstGeom prst="roundRect">
            <a:avLst>
              <a:gd name="adj" fmla="val 50000"/>
            </a:avLst>
          </a:prstGeom>
          <a:solidFill>
            <a:srgbClr val="EEF2FF"/>
          </a:solidFill>
          <a:ln w="12700">
            <a:solidFill>
              <a:srgbClr val="C7D2FE"/>
            </a:solidFill>
            <a:prstDash val="solid"/>
          </a:ln>
        </p:spPr>
        <p:txBody>
          <a:bodyPr/>
          <a:lstStyle/>
          <a:p>
            <a:endParaRPr lang="en-US"/>
          </a:p>
        </p:txBody>
      </p:sp>
      <p:sp>
        <p:nvSpPr>
          <p:cNvPr id="3" name="Text 1"/>
          <p:cNvSpPr/>
          <p:nvPr/>
        </p:nvSpPr>
        <p:spPr>
          <a:xfrm>
            <a:off x="731520" y="384048"/>
            <a:ext cx="3575304" cy="256032"/>
          </a:xfrm>
          <a:prstGeom prst="rect">
            <a:avLst/>
          </a:prstGeom>
          <a:noFill/>
          <a:ln/>
        </p:spPr>
        <p:txBody>
          <a:bodyPr wrap="square" lIns="0" tIns="0" rIns="0" bIns="0" rtlCol="0" anchor="ctr"/>
          <a:lstStyle/>
          <a:p>
            <a:pPr marL="0" indent="0" algn="ctr">
              <a:buNone/>
            </a:pPr>
            <a:r>
              <a:rPr lang="en-US" sz="850" b="1" dirty="0">
                <a:solidFill>
                  <a:srgbClr val="4338CA"/>
                </a:solidFill>
                <a:latin typeface="Segoe UI" pitchFamily="34" charset="0"/>
                <a:ea typeface="Segoe UI" pitchFamily="34" charset="-122"/>
                <a:cs typeface="Segoe UI" pitchFamily="34" charset="-120"/>
              </a:rPr>
              <a:t>DETECTION DEPTH // SIGNALS CATALOG</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What Sentinel investigates: from bytecode to fund flows</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Concrete on-chain signals become verifiable evidence instead of black-box risk scores.</a:t>
            </a:r>
            <a:endParaRPr lang="en-US" sz="1150" dirty="0"/>
          </a:p>
        </p:txBody>
      </p:sp>
      <p:sp>
        <p:nvSpPr>
          <p:cNvPr id="6" name="Shape 4"/>
          <p:cNvSpPr/>
          <p:nvPr/>
        </p:nvSpPr>
        <p:spPr>
          <a:xfrm>
            <a:off x="731520" y="1691640"/>
            <a:ext cx="3429000" cy="2103120"/>
          </a:xfrm>
          <a:prstGeom prst="roundRect">
            <a:avLst>
              <a:gd name="adj" fmla="val 3478"/>
            </a:avLst>
          </a:prstGeom>
          <a:solidFill>
            <a:srgbClr val="FFFFFF"/>
          </a:solidFill>
          <a:ln w="12700">
            <a:solidFill>
              <a:srgbClr val="E2E8F0"/>
            </a:solidFill>
            <a:prstDash val="solid"/>
          </a:ln>
        </p:spPr>
        <p:txBody>
          <a:bodyPr/>
          <a:lstStyle/>
          <a:p>
            <a:endParaRPr lang="en-US"/>
          </a:p>
        </p:txBody>
      </p:sp>
      <p:sp>
        <p:nvSpPr>
          <p:cNvPr id="7" name="Shape 5"/>
          <p:cNvSpPr/>
          <p:nvPr/>
        </p:nvSpPr>
        <p:spPr>
          <a:xfrm>
            <a:off x="749808" y="1709928"/>
            <a:ext cx="3392424" cy="45720"/>
          </a:xfrm>
          <a:prstGeom prst="roundRect">
            <a:avLst>
              <a:gd name="adj" fmla="val 40000"/>
            </a:avLst>
          </a:prstGeom>
          <a:solidFill>
            <a:srgbClr val="10B981"/>
          </a:solidFill>
          <a:ln w="12700">
            <a:solidFill>
              <a:srgbClr val="10B981"/>
            </a:solidFill>
            <a:prstDash val="solid"/>
          </a:ln>
        </p:spPr>
        <p:txBody>
          <a:bodyPr/>
          <a:lstStyle/>
          <a:p>
            <a:endParaRPr lang="en-US"/>
          </a:p>
        </p:txBody>
      </p:sp>
      <p:sp>
        <p:nvSpPr>
          <p:cNvPr id="8" name="Shape 6"/>
          <p:cNvSpPr/>
          <p:nvPr/>
        </p:nvSpPr>
        <p:spPr>
          <a:xfrm>
            <a:off x="932688" y="1874520"/>
            <a:ext cx="1490472" cy="219456"/>
          </a:xfrm>
          <a:prstGeom prst="roundRect">
            <a:avLst>
              <a:gd name="adj" fmla="val 50000"/>
            </a:avLst>
          </a:prstGeom>
          <a:solidFill>
            <a:srgbClr val="ECFDF5"/>
          </a:solidFill>
          <a:ln w="10160">
            <a:solidFill>
              <a:srgbClr val="A7F3D0"/>
            </a:solidFill>
            <a:prstDash val="solid"/>
          </a:ln>
        </p:spPr>
        <p:txBody>
          <a:bodyPr/>
          <a:lstStyle/>
          <a:p>
            <a:endParaRPr lang="en-US"/>
          </a:p>
        </p:txBody>
      </p:sp>
      <p:sp>
        <p:nvSpPr>
          <p:cNvPr id="9" name="Text 7"/>
          <p:cNvSpPr/>
          <p:nvPr/>
        </p:nvSpPr>
        <p:spPr>
          <a:xfrm>
            <a:off x="932688" y="1874520"/>
            <a:ext cx="1490472" cy="219456"/>
          </a:xfrm>
          <a:prstGeom prst="rect">
            <a:avLst/>
          </a:prstGeom>
          <a:noFill/>
          <a:ln/>
        </p:spPr>
        <p:txBody>
          <a:bodyPr wrap="square" lIns="0" tIns="0" rIns="0" bIns="0" rtlCol="0" anchor="ctr"/>
          <a:lstStyle/>
          <a:p>
            <a:pPr marL="0" indent="0" algn="ctr">
              <a:buNone/>
            </a:pPr>
            <a:r>
              <a:rPr lang="en-US" sz="800" b="1" dirty="0">
                <a:solidFill>
                  <a:srgbClr val="065F46"/>
                </a:solidFill>
                <a:latin typeface="Segoe UI" pitchFamily="34" charset="0"/>
                <a:ea typeface="Segoe UI" pitchFamily="34" charset="-122"/>
                <a:cs typeface="Segoe UI" pitchFamily="34" charset="-120"/>
              </a:rPr>
              <a:t>STATE &amp; EVENTS</a:t>
            </a:r>
            <a:endParaRPr lang="en-US" sz="800" dirty="0"/>
          </a:p>
        </p:txBody>
      </p:sp>
      <p:sp>
        <p:nvSpPr>
          <p:cNvPr id="10" name="Text 8"/>
          <p:cNvSpPr/>
          <p:nvPr/>
        </p:nvSpPr>
        <p:spPr>
          <a:xfrm>
            <a:off x="932688" y="2167128"/>
            <a:ext cx="3026664" cy="274320"/>
          </a:xfrm>
          <a:prstGeom prst="rect">
            <a:avLst/>
          </a:prstGeom>
          <a:noFill/>
          <a:ln/>
        </p:spPr>
        <p:txBody>
          <a:bodyPr wrap="square" lIns="0" tIns="0" rIns="0" bIns="0" rtlCol="0" anchor="ctr"/>
          <a:lstStyle/>
          <a:p>
            <a:pPr marL="0" indent="0">
              <a:buNone/>
            </a:pPr>
            <a:r>
              <a:rPr lang="en-US" sz="1250" b="1" dirty="0">
                <a:solidFill>
                  <a:srgbClr val="0F172A"/>
                </a:solidFill>
                <a:latin typeface="Segoe UI" pitchFamily="34" charset="0"/>
                <a:ea typeface="Segoe UI" pitchFamily="34" charset="-122"/>
                <a:cs typeface="Segoe UI" pitchFamily="34" charset="-120"/>
              </a:rPr>
              <a:t>01  Approvals &amp; Allowances</a:t>
            </a:r>
            <a:endParaRPr lang="en-US" sz="1250" dirty="0"/>
          </a:p>
        </p:txBody>
      </p:sp>
      <p:sp>
        <p:nvSpPr>
          <p:cNvPr id="11" name="Text 9"/>
          <p:cNvSpPr/>
          <p:nvPr/>
        </p:nvSpPr>
        <p:spPr>
          <a:xfrm>
            <a:off x="932688" y="2496312"/>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Unlimited / infinite spending allowances (Max Uint256)</a:t>
            </a:r>
            <a:endParaRPr lang="en-US" sz="850" dirty="0"/>
          </a:p>
        </p:txBody>
      </p:sp>
      <p:sp>
        <p:nvSpPr>
          <p:cNvPr id="12" name="Text 10"/>
          <p:cNvSpPr/>
          <p:nvPr/>
        </p:nvSpPr>
        <p:spPr>
          <a:xfrm>
            <a:off x="932688" y="2788920"/>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Dormant spenders with unrevoked permissions</a:t>
            </a:r>
            <a:endParaRPr lang="en-US" sz="850" dirty="0"/>
          </a:p>
        </p:txBody>
      </p:sp>
      <p:sp>
        <p:nvSpPr>
          <p:cNvPr id="13" name="Text 11"/>
          <p:cNvSpPr/>
          <p:nvPr/>
        </p:nvSpPr>
        <p:spPr>
          <a:xfrm>
            <a:off x="932688" y="3081528"/>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Permit &amp; Permit2 off-chain signature exposure</a:t>
            </a:r>
            <a:endParaRPr lang="en-US" sz="850" dirty="0"/>
          </a:p>
        </p:txBody>
      </p:sp>
      <p:sp>
        <p:nvSpPr>
          <p:cNvPr id="14" name="Text 12"/>
          <p:cNvSpPr/>
          <p:nvPr/>
        </p:nvSpPr>
        <p:spPr>
          <a:xfrm>
            <a:off x="932688" y="3374136"/>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Cross-contract allowance re-delegation vectors</a:t>
            </a:r>
            <a:endParaRPr lang="en-US" sz="850" dirty="0"/>
          </a:p>
        </p:txBody>
      </p:sp>
      <p:sp>
        <p:nvSpPr>
          <p:cNvPr id="15" name="Shape 13"/>
          <p:cNvSpPr/>
          <p:nvPr/>
        </p:nvSpPr>
        <p:spPr>
          <a:xfrm>
            <a:off x="4389120" y="1691640"/>
            <a:ext cx="3429000" cy="2103120"/>
          </a:xfrm>
          <a:prstGeom prst="roundRect">
            <a:avLst>
              <a:gd name="adj" fmla="val 3478"/>
            </a:avLst>
          </a:prstGeom>
          <a:solidFill>
            <a:srgbClr val="FFFFFF"/>
          </a:solidFill>
          <a:ln w="12700">
            <a:solidFill>
              <a:srgbClr val="E2E8F0"/>
            </a:solidFill>
            <a:prstDash val="solid"/>
          </a:ln>
        </p:spPr>
        <p:txBody>
          <a:bodyPr/>
          <a:lstStyle/>
          <a:p>
            <a:endParaRPr lang="en-US"/>
          </a:p>
        </p:txBody>
      </p:sp>
      <p:sp>
        <p:nvSpPr>
          <p:cNvPr id="16" name="Shape 14"/>
          <p:cNvSpPr/>
          <p:nvPr/>
        </p:nvSpPr>
        <p:spPr>
          <a:xfrm>
            <a:off x="4407408" y="1709928"/>
            <a:ext cx="339242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17" name="Shape 15"/>
          <p:cNvSpPr/>
          <p:nvPr/>
        </p:nvSpPr>
        <p:spPr>
          <a:xfrm>
            <a:off x="4590288" y="1874520"/>
            <a:ext cx="1229868"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18" name="Text 16"/>
          <p:cNvSpPr/>
          <p:nvPr/>
        </p:nvSpPr>
        <p:spPr>
          <a:xfrm>
            <a:off x="4590288" y="1874520"/>
            <a:ext cx="1229868"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PERMISSIONS</a:t>
            </a:r>
            <a:endParaRPr lang="en-US" sz="800" dirty="0"/>
          </a:p>
        </p:txBody>
      </p:sp>
      <p:sp>
        <p:nvSpPr>
          <p:cNvPr id="19" name="Text 17"/>
          <p:cNvSpPr/>
          <p:nvPr/>
        </p:nvSpPr>
        <p:spPr>
          <a:xfrm>
            <a:off x="4590288" y="2167128"/>
            <a:ext cx="3026664" cy="274320"/>
          </a:xfrm>
          <a:prstGeom prst="rect">
            <a:avLst/>
          </a:prstGeom>
          <a:noFill/>
          <a:ln/>
        </p:spPr>
        <p:txBody>
          <a:bodyPr wrap="square" lIns="0" tIns="0" rIns="0" bIns="0" rtlCol="0" anchor="ctr"/>
          <a:lstStyle/>
          <a:p>
            <a:pPr marL="0" indent="0">
              <a:buNone/>
            </a:pPr>
            <a:r>
              <a:rPr lang="en-US" sz="1250" b="1" dirty="0">
                <a:solidFill>
                  <a:srgbClr val="0F172A"/>
                </a:solidFill>
                <a:latin typeface="Segoe UI" pitchFamily="34" charset="0"/>
                <a:ea typeface="Segoe UI" pitchFamily="34" charset="-122"/>
                <a:cs typeface="Segoe UI" pitchFamily="34" charset="-120"/>
              </a:rPr>
              <a:t>02  Admin &amp; Governance Roles</a:t>
            </a:r>
            <a:endParaRPr lang="en-US" sz="1250" dirty="0"/>
          </a:p>
        </p:txBody>
      </p:sp>
      <p:sp>
        <p:nvSpPr>
          <p:cNvPr id="20" name="Text 18"/>
          <p:cNvSpPr/>
          <p:nvPr/>
        </p:nvSpPr>
        <p:spPr>
          <a:xfrm>
            <a:off x="4590288" y="2496312"/>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Single-key EOA admin vs multi-sig (Gnosis Safe)</a:t>
            </a:r>
            <a:endParaRPr lang="en-US" sz="850" dirty="0"/>
          </a:p>
        </p:txBody>
      </p:sp>
      <p:sp>
        <p:nvSpPr>
          <p:cNvPr id="21" name="Text 19"/>
          <p:cNvSpPr/>
          <p:nvPr/>
        </p:nvSpPr>
        <p:spPr>
          <a:xfrm>
            <a:off x="4590288" y="2788920"/>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Timelock duration &amp; emergency execution bypasses</a:t>
            </a:r>
            <a:endParaRPr lang="en-US" sz="850" dirty="0"/>
          </a:p>
        </p:txBody>
      </p:sp>
      <p:sp>
        <p:nvSpPr>
          <p:cNvPr id="22" name="Text 20"/>
          <p:cNvSpPr/>
          <p:nvPr/>
        </p:nvSpPr>
        <p:spPr>
          <a:xfrm>
            <a:off x="4590288" y="3081528"/>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Recent admin key rotation &amp; ownership transfers</a:t>
            </a:r>
            <a:endParaRPr lang="en-US" sz="850" dirty="0"/>
          </a:p>
        </p:txBody>
      </p:sp>
      <p:sp>
        <p:nvSpPr>
          <p:cNvPr id="23" name="Text 21"/>
          <p:cNvSpPr/>
          <p:nvPr/>
        </p:nvSpPr>
        <p:spPr>
          <a:xfrm>
            <a:off x="4590288" y="3374136"/>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Pause, blacklist, and confiscation function rights</a:t>
            </a:r>
            <a:endParaRPr lang="en-US" sz="850" dirty="0"/>
          </a:p>
        </p:txBody>
      </p:sp>
      <p:sp>
        <p:nvSpPr>
          <p:cNvPr id="24" name="Shape 22"/>
          <p:cNvSpPr/>
          <p:nvPr/>
        </p:nvSpPr>
        <p:spPr>
          <a:xfrm>
            <a:off x="8046720" y="1691640"/>
            <a:ext cx="3429000" cy="2103120"/>
          </a:xfrm>
          <a:prstGeom prst="roundRect">
            <a:avLst>
              <a:gd name="adj" fmla="val 3478"/>
            </a:avLst>
          </a:prstGeom>
          <a:solidFill>
            <a:srgbClr val="FFFFFF"/>
          </a:solidFill>
          <a:ln w="12700">
            <a:solidFill>
              <a:srgbClr val="E2E8F0"/>
            </a:solidFill>
            <a:prstDash val="solid"/>
          </a:ln>
        </p:spPr>
        <p:txBody>
          <a:bodyPr/>
          <a:lstStyle/>
          <a:p>
            <a:endParaRPr lang="en-US"/>
          </a:p>
        </p:txBody>
      </p:sp>
      <p:sp>
        <p:nvSpPr>
          <p:cNvPr id="25" name="Shape 23"/>
          <p:cNvSpPr/>
          <p:nvPr/>
        </p:nvSpPr>
        <p:spPr>
          <a:xfrm>
            <a:off x="8065008" y="1709928"/>
            <a:ext cx="3392424" cy="45720"/>
          </a:xfrm>
          <a:prstGeom prst="roundRect">
            <a:avLst>
              <a:gd name="adj" fmla="val 40000"/>
            </a:avLst>
          </a:prstGeom>
          <a:solidFill>
            <a:srgbClr val="F59E0B"/>
          </a:solidFill>
          <a:ln w="12700">
            <a:solidFill>
              <a:srgbClr val="F59E0B"/>
            </a:solidFill>
            <a:prstDash val="solid"/>
          </a:ln>
        </p:spPr>
        <p:txBody>
          <a:bodyPr/>
          <a:lstStyle/>
          <a:p>
            <a:endParaRPr lang="en-US"/>
          </a:p>
        </p:txBody>
      </p:sp>
      <p:sp>
        <p:nvSpPr>
          <p:cNvPr id="26" name="Shape 24"/>
          <p:cNvSpPr/>
          <p:nvPr/>
        </p:nvSpPr>
        <p:spPr>
          <a:xfrm>
            <a:off x="8247888" y="1874520"/>
            <a:ext cx="969264" cy="219456"/>
          </a:xfrm>
          <a:prstGeom prst="roundRect">
            <a:avLst>
              <a:gd name="adj" fmla="val 50000"/>
            </a:avLst>
          </a:prstGeom>
          <a:solidFill>
            <a:srgbClr val="FFFBEB"/>
          </a:solidFill>
          <a:ln w="10160">
            <a:solidFill>
              <a:srgbClr val="FDE68A"/>
            </a:solidFill>
            <a:prstDash val="solid"/>
          </a:ln>
        </p:spPr>
        <p:txBody>
          <a:bodyPr/>
          <a:lstStyle/>
          <a:p>
            <a:endParaRPr lang="en-US"/>
          </a:p>
        </p:txBody>
      </p:sp>
      <p:sp>
        <p:nvSpPr>
          <p:cNvPr id="27" name="Text 25"/>
          <p:cNvSpPr/>
          <p:nvPr/>
        </p:nvSpPr>
        <p:spPr>
          <a:xfrm>
            <a:off x="8247888" y="1874520"/>
            <a:ext cx="969264" cy="219456"/>
          </a:xfrm>
          <a:prstGeom prst="rect">
            <a:avLst/>
          </a:prstGeom>
          <a:noFill/>
          <a:ln/>
        </p:spPr>
        <p:txBody>
          <a:bodyPr wrap="square" lIns="0" tIns="0" rIns="0" bIns="0" rtlCol="0" anchor="ctr"/>
          <a:lstStyle/>
          <a:p>
            <a:pPr marL="0" indent="0" algn="ctr">
              <a:buNone/>
            </a:pPr>
            <a:r>
              <a:rPr lang="en-US" sz="800" b="1" dirty="0">
                <a:solidFill>
                  <a:srgbClr val="92400E"/>
                </a:solidFill>
                <a:latin typeface="Segoe UI" pitchFamily="34" charset="0"/>
                <a:ea typeface="Segoe UI" pitchFamily="34" charset="-122"/>
                <a:cs typeface="Segoe UI" pitchFamily="34" charset="-120"/>
              </a:rPr>
              <a:t>BYTECODE</a:t>
            </a:r>
            <a:endParaRPr lang="en-US" sz="800" dirty="0"/>
          </a:p>
        </p:txBody>
      </p:sp>
      <p:sp>
        <p:nvSpPr>
          <p:cNvPr id="28" name="Text 26"/>
          <p:cNvSpPr/>
          <p:nvPr/>
        </p:nvSpPr>
        <p:spPr>
          <a:xfrm>
            <a:off x="8247888" y="2167128"/>
            <a:ext cx="3026664" cy="274320"/>
          </a:xfrm>
          <a:prstGeom prst="rect">
            <a:avLst/>
          </a:prstGeom>
          <a:noFill/>
          <a:ln/>
        </p:spPr>
        <p:txBody>
          <a:bodyPr wrap="square" lIns="0" tIns="0" rIns="0" bIns="0" rtlCol="0" anchor="ctr"/>
          <a:lstStyle/>
          <a:p>
            <a:pPr marL="0" indent="0">
              <a:buNone/>
            </a:pPr>
            <a:r>
              <a:rPr lang="en-US" sz="1250" b="1" dirty="0">
                <a:solidFill>
                  <a:srgbClr val="0F172A"/>
                </a:solidFill>
                <a:latin typeface="Segoe UI" pitchFamily="34" charset="0"/>
                <a:ea typeface="Segoe UI" pitchFamily="34" charset="-122"/>
                <a:cs typeface="Segoe UI" pitchFamily="34" charset="-120"/>
              </a:rPr>
              <a:t>03  Proxy &amp; Architecture</a:t>
            </a:r>
            <a:endParaRPr lang="en-US" sz="1250" dirty="0"/>
          </a:p>
        </p:txBody>
      </p:sp>
      <p:sp>
        <p:nvSpPr>
          <p:cNvPr id="29" name="Text 27"/>
          <p:cNvSpPr/>
          <p:nvPr/>
        </p:nvSpPr>
        <p:spPr>
          <a:xfrm>
            <a:off x="8247888" y="2496312"/>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ERC-1967, UUPS, and Transparent proxy patterns</a:t>
            </a:r>
            <a:endParaRPr lang="en-US" sz="850" dirty="0"/>
          </a:p>
        </p:txBody>
      </p:sp>
      <p:sp>
        <p:nvSpPr>
          <p:cNvPr id="30" name="Text 28"/>
          <p:cNvSpPr/>
          <p:nvPr/>
        </p:nvSpPr>
        <p:spPr>
          <a:xfrm>
            <a:off x="8247888" y="2788920"/>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Implementation drift &amp; unannounced code upgrades</a:t>
            </a:r>
            <a:endParaRPr lang="en-US" sz="850" dirty="0"/>
          </a:p>
        </p:txBody>
      </p:sp>
      <p:sp>
        <p:nvSpPr>
          <p:cNvPr id="31" name="Text 29"/>
          <p:cNvSpPr/>
          <p:nvPr/>
        </p:nvSpPr>
        <p:spPr>
          <a:xfrm>
            <a:off x="8247888" y="3081528"/>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Unverified bytecode &amp; hidden delegatecall vectors</a:t>
            </a:r>
            <a:endParaRPr lang="en-US" sz="850" dirty="0"/>
          </a:p>
        </p:txBody>
      </p:sp>
      <p:sp>
        <p:nvSpPr>
          <p:cNvPr id="32" name="Text 30"/>
          <p:cNvSpPr/>
          <p:nvPr/>
        </p:nvSpPr>
        <p:spPr>
          <a:xfrm>
            <a:off x="8247888" y="3374136"/>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Selfdestruct, create2, and metamorphic contracts</a:t>
            </a:r>
            <a:endParaRPr lang="en-US" sz="850" dirty="0"/>
          </a:p>
        </p:txBody>
      </p:sp>
      <p:sp>
        <p:nvSpPr>
          <p:cNvPr id="33" name="Shape 31"/>
          <p:cNvSpPr/>
          <p:nvPr/>
        </p:nvSpPr>
        <p:spPr>
          <a:xfrm>
            <a:off x="731520" y="3931920"/>
            <a:ext cx="3429000" cy="2103120"/>
          </a:xfrm>
          <a:prstGeom prst="roundRect">
            <a:avLst>
              <a:gd name="adj" fmla="val 3478"/>
            </a:avLst>
          </a:prstGeom>
          <a:solidFill>
            <a:srgbClr val="FFFFFF"/>
          </a:solidFill>
          <a:ln w="12700">
            <a:solidFill>
              <a:srgbClr val="E2E8F0"/>
            </a:solidFill>
            <a:prstDash val="solid"/>
          </a:ln>
        </p:spPr>
        <p:txBody>
          <a:bodyPr/>
          <a:lstStyle/>
          <a:p>
            <a:endParaRPr lang="en-US"/>
          </a:p>
        </p:txBody>
      </p:sp>
      <p:sp>
        <p:nvSpPr>
          <p:cNvPr id="34" name="Shape 32"/>
          <p:cNvSpPr/>
          <p:nvPr/>
        </p:nvSpPr>
        <p:spPr>
          <a:xfrm>
            <a:off x="749808" y="3950208"/>
            <a:ext cx="3392424" cy="45720"/>
          </a:xfrm>
          <a:prstGeom prst="roundRect">
            <a:avLst>
              <a:gd name="adj" fmla="val 40000"/>
            </a:avLst>
          </a:prstGeom>
          <a:solidFill>
            <a:srgbClr val="F43F5E"/>
          </a:solidFill>
          <a:ln w="12700">
            <a:solidFill>
              <a:srgbClr val="F43F5E"/>
            </a:solidFill>
            <a:prstDash val="solid"/>
          </a:ln>
        </p:spPr>
        <p:txBody>
          <a:bodyPr/>
          <a:lstStyle/>
          <a:p>
            <a:endParaRPr lang="en-US"/>
          </a:p>
        </p:txBody>
      </p:sp>
      <p:sp>
        <p:nvSpPr>
          <p:cNvPr id="35" name="Shape 33"/>
          <p:cNvSpPr/>
          <p:nvPr/>
        </p:nvSpPr>
        <p:spPr>
          <a:xfrm>
            <a:off x="932688" y="4114800"/>
            <a:ext cx="1577340" cy="219456"/>
          </a:xfrm>
          <a:prstGeom prst="roundRect">
            <a:avLst>
              <a:gd name="adj" fmla="val 50000"/>
            </a:avLst>
          </a:prstGeom>
          <a:solidFill>
            <a:srgbClr val="FFF1F2"/>
          </a:solidFill>
          <a:ln w="10160">
            <a:solidFill>
              <a:srgbClr val="FECDD3"/>
            </a:solidFill>
            <a:prstDash val="solid"/>
          </a:ln>
        </p:spPr>
        <p:txBody>
          <a:bodyPr/>
          <a:lstStyle/>
          <a:p>
            <a:endParaRPr lang="en-US"/>
          </a:p>
        </p:txBody>
      </p:sp>
      <p:sp>
        <p:nvSpPr>
          <p:cNvPr id="36" name="Text 34"/>
          <p:cNvSpPr/>
          <p:nvPr/>
        </p:nvSpPr>
        <p:spPr>
          <a:xfrm>
            <a:off x="932688" y="4114800"/>
            <a:ext cx="1577340" cy="219456"/>
          </a:xfrm>
          <a:prstGeom prst="rect">
            <a:avLst/>
          </a:prstGeom>
          <a:noFill/>
          <a:ln/>
        </p:spPr>
        <p:txBody>
          <a:bodyPr wrap="square" lIns="0" tIns="0" rIns="0" bIns="0" rtlCol="0" anchor="ctr"/>
          <a:lstStyle/>
          <a:p>
            <a:pPr marL="0" indent="0" algn="ctr">
              <a:buNone/>
            </a:pPr>
            <a:r>
              <a:rPr lang="en-US" sz="800" b="1" dirty="0">
                <a:solidFill>
                  <a:srgbClr val="9F1239"/>
                </a:solidFill>
                <a:latin typeface="Segoe UI" pitchFamily="34" charset="0"/>
                <a:ea typeface="Segoe UI" pitchFamily="34" charset="-122"/>
                <a:cs typeface="Segoe UI" pitchFamily="34" charset="-120"/>
              </a:rPr>
              <a:t>GRAPH TRAVERSAL</a:t>
            </a:r>
            <a:endParaRPr lang="en-US" sz="800" dirty="0"/>
          </a:p>
        </p:txBody>
      </p:sp>
      <p:sp>
        <p:nvSpPr>
          <p:cNvPr id="37" name="Text 35"/>
          <p:cNvSpPr/>
          <p:nvPr/>
        </p:nvSpPr>
        <p:spPr>
          <a:xfrm>
            <a:off x="932688" y="4407408"/>
            <a:ext cx="3026664" cy="274320"/>
          </a:xfrm>
          <a:prstGeom prst="rect">
            <a:avLst/>
          </a:prstGeom>
          <a:noFill/>
          <a:ln/>
        </p:spPr>
        <p:txBody>
          <a:bodyPr wrap="square" lIns="0" tIns="0" rIns="0" bIns="0" rtlCol="0" anchor="ctr"/>
          <a:lstStyle/>
          <a:p>
            <a:pPr marL="0" indent="0">
              <a:buNone/>
            </a:pPr>
            <a:r>
              <a:rPr lang="en-US" sz="1250" b="1" dirty="0">
                <a:solidFill>
                  <a:srgbClr val="0F172A"/>
                </a:solidFill>
                <a:latin typeface="Segoe UI" pitchFamily="34" charset="0"/>
                <a:ea typeface="Segoe UI" pitchFamily="34" charset="-122"/>
                <a:cs typeface="Segoe UI" pitchFamily="34" charset="-120"/>
              </a:rPr>
              <a:t>04  Fund Flow Provenance</a:t>
            </a:r>
            <a:endParaRPr lang="en-US" sz="1250" dirty="0"/>
          </a:p>
        </p:txBody>
      </p:sp>
      <p:sp>
        <p:nvSpPr>
          <p:cNvPr id="38" name="Text 36"/>
          <p:cNvSpPr/>
          <p:nvPr/>
        </p:nvSpPr>
        <p:spPr>
          <a:xfrm>
            <a:off x="932688" y="4736592"/>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Multi-hop fund flows linking to mixer contracts (Tornado)</a:t>
            </a:r>
            <a:endParaRPr lang="en-US" sz="850" dirty="0"/>
          </a:p>
        </p:txBody>
      </p:sp>
      <p:sp>
        <p:nvSpPr>
          <p:cNvPr id="39" name="Text 37"/>
          <p:cNvSpPr/>
          <p:nvPr/>
        </p:nvSpPr>
        <p:spPr>
          <a:xfrm>
            <a:off x="932688" y="5029200"/>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Flashloan interaction trees and liquidity draining</a:t>
            </a:r>
            <a:endParaRPr lang="en-US" sz="850" dirty="0"/>
          </a:p>
        </p:txBody>
      </p:sp>
      <p:sp>
        <p:nvSpPr>
          <p:cNvPr id="40" name="Text 38"/>
          <p:cNvSpPr/>
          <p:nvPr/>
        </p:nvSpPr>
        <p:spPr>
          <a:xfrm>
            <a:off x="932688" y="5321808"/>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Immediate token liquidation patterns on DEXs</a:t>
            </a:r>
            <a:endParaRPr lang="en-US" sz="850" dirty="0"/>
          </a:p>
        </p:txBody>
      </p:sp>
      <p:sp>
        <p:nvSpPr>
          <p:cNvPr id="41" name="Text 39"/>
          <p:cNvSpPr/>
          <p:nvPr/>
        </p:nvSpPr>
        <p:spPr>
          <a:xfrm>
            <a:off x="932688" y="5614416"/>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Bridge deposit &amp; cross-chain extraction trails</a:t>
            </a:r>
            <a:endParaRPr lang="en-US" sz="850" dirty="0"/>
          </a:p>
        </p:txBody>
      </p:sp>
      <p:sp>
        <p:nvSpPr>
          <p:cNvPr id="42" name="Shape 40"/>
          <p:cNvSpPr/>
          <p:nvPr/>
        </p:nvSpPr>
        <p:spPr>
          <a:xfrm>
            <a:off x="4389120" y="3931920"/>
            <a:ext cx="3429000" cy="2103120"/>
          </a:xfrm>
          <a:prstGeom prst="roundRect">
            <a:avLst>
              <a:gd name="adj" fmla="val 3478"/>
            </a:avLst>
          </a:prstGeom>
          <a:solidFill>
            <a:srgbClr val="FFFFFF"/>
          </a:solidFill>
          <a:ln w="12700">
            <a:solidFill>
              <a:srgbClr val="E2E8F0"/>
            </a:solidFill>
            <a:prstDash val="solid"/>
          </a:ln>
        </p:spPr>
        <p:txBody>
          <a:bodyPr/>
          <a:lstStyle/>
          <a:p>
            <a:endParaRPr lang="en-US"/>
          </a:p>
        </p:txBody>
      </p:sp>
      <p:sp>
        <p:nvSpPr>
          <p:cNvPr id="43" name="Shape 41"/>
          <p:cNvSpPr/>
          <p:nvPr/>
        </p:nvSpPr>
        <p:spPr>
          <a:xfrm>
            <a:off x="4407408" y="3950208"/>
            <a:ext cx="3392424" cy="45720"/>
          </a:xfrm>
          <a:prstGeom prst="roundRect">
            <a:avLst>
              <a:gd name="adj" fmla="val 40000"/>
            </a:avLst>
          </a:prstGeom>
          <a:solidFill>
            <a:srgbClr val="64748B"/>
          </a:solidFill>
          <a:ln w="12700">
            <a:solidFill>
              <a:srgbClr val="64748B"/>
            </a:solidFill>
            <a:prstDash val="solid"/>
          </a:ln>
        </p:spPr>
        <p:txBody>
          <a:bodyPr/>
          <a:lstStyle/>
          <a:p>
            <a:endParaRPr lang="en-US"/>
          </a:p>
        </p:txBody>
      </p:sp>
      <p:sp>
        <p:nvSpPr>
          <p:cNvPr id="44" name="Shape 42"/>
          <p:cNvSpPr/>
          <p:nvPr/>
        </p:nvSpPr>
        <p:spPr>
          <a:xfrm>
            <a:off x="4590288" y="4114800"/>
            <a:ext cx="1490472" cy="219456"/>
          </a:xfrm>
          <a:prstGeom prst="roundRect">
            <a:avLst>
              <a:gd name="adj" fmla="val 50000"/>
            </a:avLst>
          </a:prstGeom>
          <a:solidFill>
            <a:srgbClr val="F1F5F9"/>
          </a:solidFill>
          <a:ln w="10160">
            <a:solidFill>
              <a:srgbClr val="CBD5E1"/>
            </a:solidFill>
            <a:prstDash val="solid"/>
          </a:ln>
        </p:spPr>
        <p:txBody>
          <a:bodyPr/>
          <a:lstStyle/>
          <a:p>
            <a:endParaRPr lang="en-US"/>
          </a:p>
        </p:txBody>
      </p:sp>
      <p:sp>
        <p:nvSpPr>
          <p:cNvPr id="45" name="Text 43"/>
          <p:cNvSpPr/>
          <p:nvPr/>
        </p:nvSpPr>
        <p:spPr>
          <a:xfrm>
            <a:off x="4590288" y="4114800"/>
            <a:ext cx="1490472" cy="219456"/>
          </a:xfrm>
          <a:prstGeom prst="rect">
            <a:avLst/>
          </a:prstGeom>
          <a:noFill/>
          <a:ln/>
        </p:spPr>
        <p:txBody>
          <a:bodyPr wrap="square" lIns="0" tIns="0" rIns="0" bIns="0" rtlCol="0" anchor="ctr"/>
          <a:lstStyle/>
          <a:p>
            <a:pPr marL="0" indent="0" algn="ctr">
              <a:buNone/>
            </a:pPr>
            <a:r>
              <a:rPr lang="en-US" sz="800" b="1" dirty="0">
                <a:solidFill>
                  <a:srgbClr val="475569"/>
                </a:solidFill>
                <a:latin typeface="Segoe UI" pitchFamily="34" charset="0"/>
                <a:ea typeface="Segoe UI" pitchFamily="34" charset="-122"/>
                <a:cs typeface="Segoe UI" pitchFamily="34" charset="-120"/>
              </a:rPr>
              <a:t>CO-INTERACTION</a:t>
            </a:r>
            <a:endParaRPr lang="en-US" sz="800" dirty="0"/>
          </a:p>
        </p:txBody>
      </p:sp>
      <p:sp>
        <p:nvSpPr>
          <p:cNvPr id="46" name="Text 44"/>
          <p:cNvSpPr/>
          <p:nvPr/>
        </p:nvSpPr>
        <p:spPr>
          <a:xfrm>
            <a:off x="4590288" y="4407408"/>
            <a:ext cx="3026664" cy="274320"/>
          </a:xfrm>
          <a:prstGeom prst="rect">
            <a:avLst/>
          </a:prstGeom>
          <a:noFill/>
          <a:ln/>
        </p:spPr>
        <p:txBody>
          <a:bodyPr wrap="square" lIns="0" tIns="0" rIns="0" bIns="0" rtlCol="0" anchor="ctr"/>
          <a:lstStyle/>
          <a:p>
            <a:pPr marL="0" indent="0">
              <a:buNone/>
            </a:pPr>
            <a:r>
              <a:rPr lang="en-US" sz="1250" b="1" dirty="0">
                <a:solidFill>
                  <a:srgbClr val="0F172A"/>
                </a:solidFill>
                <a:latin typeface="Segoe UI" pitchFamily="34" charset="0"/>
                <a:ea typeface="Segoe UI" pitchFamily="34" charset="-122"/>
                <a:cs typeface="Segoe UI" pitchFamily="34" charset="-120"/>
              </a:rPr>
              <a:t>05  Behavioral Clusters</a:t>
            </a:r>
            <a:endParaRPr lang="en-US" sz="1250" dirty="0"/>
          </a:p>
        </p:txBody>
      </p:sp>
      <p:sp>
        <p:nvSpPr>
          <p:cNvPr id="47" name="Text 45"/>
          <p:cNvSpPr/>
          <p:nvPr/>
        </p:nvSpPr>
        <p:spPr>
          <a:xfrm>
            <a:off x="4590288" y="4736592"/>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Deployer address lineage &amp; shared gas funding origins</a:t>
            </a:r>
            <a:endParaRPr lang="en-US" sz="850" dirty="0"/>
          </a:p>
        </p:txBody>
      </p:sp>
      <p:sp>
        <p:nvSpPr>
          <p:cNvPr id="48" name="Text 46"/>
          <p:cNvSpPr/>
          <p:nvPr/>
        </p:nvSpPr>
        <p:spPr>
          <a:xfrm>
            <a:off x="4590288" y="5029200"/>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Sybil ring coordination across multiple EOAs</a:t>
            </a:r>
            <a:endParaRPr lang="en-US" sz="850" dirty="0"/>
          </a:p>
        </p:txBody>
      </p:sp>
      <p:sp>
        <p:nvSpPr>
          <p:cNvPr id="49" name="Text 47"/>
          <p:cNvSpPr/>
          <p:nvPr/>
        </p:nvSpPr>
        <p:spPr>
          <a:xfrm>
            <a:off x="4590288" y="5321808"/>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Sniper bot &amp; wash trading co-interaction networks</a:t>
            </a:r>
            <a:endParaRPr lang="en-US" sz="850" dirty="0"/>
          </a:p>
        </p:txBody>
      </p:sp>
      <p:sp>
        <p:nvSpPr>
          <p:cNvPr id="50" name="Text 48"/>
          <p:cNvSpPr/>
          <p:nvPr/>
        </p:nvSpPr>
        <p:spPr>
          <a:xfrm>
            <a:off x="4590288" y="5614416"/>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Reputation degradation from known malicious counterparties</a:t>
            </a:r>
            <a:endParaRPr lang="en-US" sz="850" dirty="0"/>
          </a:p>
        </p:txBody>
      </p:sp>
      <p:sp>
        <p:nvSpPr>
          <p:cNvPr id="51" name="Shape 49"/>
          <p:cNvSpPr/>
          <p:nvPr/>
        </p:nvSpPr>
        <p:spPr>
          <a:xfrm>
            <a:off x="8046720" y="3931920"/>
            <a:ext cx="3429000" cy="2103120"/>
          </a:xfrm>
          <a:prstGeom prst="roundRect">
            <a:avLst>
              <a:gd name="adj" fmla="val 3478"/>
            </a:avLst>
          </a:prstGeom>
          <a:solidFill>
            <a:srgbClr val="FFFFFF"/>
          </a:solidFill>
          <a:ln w="12700">
            <a:solidFill>
              <a:srgbClr val="E2E8F0"/>
            </a:solidFill>
            <a:prstDash val="solid"/>
          </a:ln>
        </p:spPr>
        <p:txBody>
          <a:bodyPr/>
          <a:lstStyle/>
          <a:p>
            <a:endParaRPr lang="en-US"/>
          </a:p>
        </p:txBody>
      </p:sp>
      <p:sp>
        <p:nvSpPr>
          <p:cNvPr id="52" name="Shape 50"/>
          <p:cNvSpPr/>
          <p:nvPr/>
        </p:nvSpPr>
        <p:spPr>
          <a:xfrm>
            <a:off x="8065008" y="3950208"/>
            <a:ext cx="339242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53" name="Shape 51"/>
          <p:cNvSpPr/>
          <p:nvPr/>
        </p:nvSpPr>
        <p:spPr>
          <a:xfrm>
            <a:off x="8247888" y="4114800"/>
            <a:ext cx="1229868"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54" name="Text 52"/>
          <p:cNvSpPr/>
          <p:nvPr/>
        </p:nvSpPr>
        <p:spPr>
          <a:xfrm>
            <a:off x="8247888" y="4114800"/>
            <a:ext cx="1229868"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MULTI-CHAIN</a:t>
            </a:r>
            <a:endParaRPr lang="en-US" sz="800" dirty="0"/>
          </a:p>
        </p:txBody>
      </p:sp>
      <p:sp>
        <p:nvSpPr>
          <p:cNvPr id="55" name="Text 53"/>
          <p:cNvSpPr/>
          <p:nvPr/>
        </p:nvSpPr>
        <p:spPr>
          <a:xfrm>
            <a:off x="8247888" y="4407408"/>
            <a:ext cx="3026664" cy="274320"/>
          </a:xfrm>
          <a:prstGeom prst="rect">
            <a:avLst/>
          </a:prstGeom>
          <a:noFill/>
          <a:ln/>
        </p:spPr>
        <p:txBody>
          <a:bodyPr wrap="square" lIns="0" tIns="0" rIns="0" bIns="0" rtlCol="0" anchor="ctr"/>
          <a:lstStyle/>
          <a:p>
            <a:pPr marL="0" indent="0">
              <a:buNone/>
            </a:pPr>
            <a:r>
              <a:rPr lang="en-US" sz="1250" b="1" dirty="0">
                <a:solidFill>
                  <a:srgbClr val="0F172A"/>
                </a:solidFill>
                <a:latin typeface="Segoe UI" pitchFamily="34" charset="0"/>
                <a:ea typeface="Segoe UI" pitchFamily="34" charset="-122"/>
                <a:cs typeface="Segoe UI" pitchFamily="34" charset="-120"/>
              </a:rPr>
              <a:t>06  Cross-Chain Footprint</a:t>
            </a:r>
            <a:endParaRPr lang="en-US" sz="1250" dirty="0"/>
          </a:p>
        </p:txBody>
      </p:sp>
      <p:sp>
        <p:nvSpPr>
          <p:cNvPr id="56" name="Text 54"/>
          <p:cNvSpPr/>
          <p:nvPr/>
        </p:nvSpPr>
        <p:spPr>
          <a:xfrm>
            <a:off x="8247888" y="4736592"/>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Synchronized identity across Ethereum, L2s, &amp; Multipli</a:t>
            </a:r>
            <a:endParaRPr lang="en-US" sz="850" dirty="0"/>
          </a:p>
        </p:txBody>
      </p:sp>
      <p:sp>
        <p:nvSpPr>
          <p:cNvPr id="57" name="Text 55"/>
          <p:cNvSpPr/>
          <p:nvPr/>
        </p:nvSpPr>
        <p:spPr>
          <a:xfrm>
            <a:off x="8247888" y="5029200"/>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Discrepancies in contract deployment across chains</a:t>
            </a:r>
            <a:endParaRPr lang="en-US" sz="850" dirty="0"/>
          </a:p>
        </p:txBody>
      </p:sp>
      <p:sp>
        <p:nvSpPr>
          <p:cNvPr id="58" name="Text 56"/>
          <p:cNvSpPr/>
          <p:nvPr/>
        </p:nvSpPr>
        <p:spPr>
          <a:xfrm>
            <a:off x="8247888" y="5321808"/>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Historical exploit association on secondary networks</a:t>
            </a:r>
            <a:endParaRPr lang="en-US" sz="850" dirty="0"/>
          </a:p>
        </p:txBody>
      </p:sp>
      <p:sp>
        <p:nvSpPr>
          <p:cNvPr id="59" name="Text 57"/>
          <p:cNvSpPr/>
          <p:nvPr/>
        </p:nvSpPr>
        <p:spPr>
          <a:xfrm>
            <a:off x="8247888" y="5614416"/>
            <a:ext cx="3026664" cy="256032"/>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  Native Multipli yield vault &amp; liquidity pool checks</a:t>
            </a:r>
            <a:endParaRPr lang="en-US" sz="850" dirty="0"/>
          </a:p>
        </p:txBody>
      </p:sp>
      <p:sp>
        <p:nvSpPr>
          <p:cNvPr id="60" name="Shape 58"/>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61" name="Text 59"/>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62" name="Text 60"/>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08 of 16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4206240" cy="256032"/>
          </a:xfrm>
          <a:prstGeom prst="roundRect">
            <a:avLst>
              <a:gd name="adj" fmla="val 50000"/>
            </a:avLst>
          </a:prstGeom>
          <a:solidFill>
            <a:srgbClr val="EEF2FF"/>
          </a:solidFill>
          <a:ln w="12700">
            <a:solidFill>
              <a:srgbClr val="C7D2FE"/>
            </a:solidFill>
            <a:prstDash val="solid"/>
          </a:ln>
        </p:spPr>
        <p:txBody>
          <a:bodyPr/>
          <a:lstStyle/>
          <a:p>
            <a:endParaRPr lang="en-US"/>
          </a:p>
        </p:txBody>
      </p:sp>
      <p:sp>
        <p:nvSpPr>
          <p:cNvPr id="3" name="Text 1"/>
          <p:cNvSpPr/>
          <p:nvPr/>
        </p:nvSpPr>
        <p:spPr>
          <a:xfrm>
            <a:off x="731520" y="384048"/>
            <a:ext cx="4206240" cy="256032"/>
          </a:xfrm>
          <a:prstGeom prst="rect">
            <a:avLst/>
          </a:prstGeom>
          <a:noFill/>
          <a:ln/>
        </p:spPr>
        <p:txBody>
          <a:bodyPr wrap="square" lIns="0" tIns="0" rIns="0" bIns="0" rtlCol="0" anchor="ctr"/>
          <a:lstStyle/>
          <a:p>
            <a:pPr marL="0" indent="0" algn="ctr">
              <a:buNone/>
            </a:pPr>
            <a:r>
              <a:rPr lang="en-US" sz="850" b="1" dirty="0">
                <a:solidFill>
                  <a:srgbClr val="4338CA"/>
                </a:solidFill>
                <a:latin typeface="Segoe UI" pitchFamily="34" charset="0"/>
                <a:ea typeface="Segoe UI" pitchFamily="34" charset="-122"/>
                <a:cs typeface="Segoe UI" pitchFamily="34" charset="-120"/>
              </a:rPr>
              <a:t>OPERATIONAL PIPELINE // 6-STAGE WORKFLOW</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From alert to evidence: the 6-stage investigation flow</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How an ambiguous security event is transformed into an actionable, verifiable conclusion.</a:t>
            </a:r>
            <a:endParaRPr lang="en-US" sz="1150" dirty="0"/>
          </a:p>
        </p:txBody>
      </p:sp>
      <p:sp>
        <p:nvSpPr>
          <p:cNvPr id="6" name="Shape 4"/>
          <p:cNvSpPr/>
          <p:nvPr/>
        </p:nvSpPr>
        <p:spPr>
          <a:xfrm>
            <a:off x="731520" y="1783080"/>
            <a:ext cx="1664208" cy="3063240"/>
          </a:xfrm>
          <a:prstGeom prst="roundRect">
            <a:avLst>
              <a:gd name="adj" fmla="val 4396"/>
            </a:avLst>
          </a:prstGeom>
          <a:solidFill>
            <a:srgbClr val="FFFFFF"/>
          </a:solidFill>
          <a:ln w="12700">
            <a:solidFill>
              <a:srgbClr val="E2E8F0"/>
            </a:solidFill>
            <a:prstDash val="solid"/>
          </a:ln>
        </p:spPr>
        <p:txBody>
          <a:bodyPr/>
          <a:lstStyle/>
          <a:p>
            <a:endParaRPr lang="en-US"/>
          </a:p>
        </p:txBody>
      </p:sp>
      <p:sp>
        <p:nvSpPr>
          <p:cNvPr id="7" name="Shape 5"/>
          <p:cNvSpPr/>
          <p:nvPr/>
        </p:nvSpPr>
        <p:spPr>
          <a:xfrm>
            <a:off x="749808" y="1801368"/>
            <a:ext cx="1627632" cy="45720"/>
          </a:xfrm>
          <a:prstGeom prst="roundRect">
            <a:avLst>
              <a:gd name="adj" fmla="val 40000"/>
            </a:avLst>
          </a:prstGeom>
          <a:solidFill>
            <a:srgbClr val="F43F5E"/>
          </a:solidFill>
          <a:ln w="12700">
            <a:solidFill>
              <a:srgbClr val="F43F5E"/>
            </a:solidFill>
            <a:prstDash val="solid"/>
          </a:ln>
        </p:spPr>
        <p:txBody>
          <a:bodyPr/>
          <a:lstStyle/>
          <a:p>
            <a:endParaRPr lang="en-US"/>
          </a:p>
        </p:txBody>
      </p:sp>
      <p:sp>
        <p:nvSpPr>
          <p:cNvPr id="8" name="Shape 6"/>
          <p:cNvSpPr/>
          <p:nvPr/>
        </p:nvSpPr>
        <p:spPr>
          <a:xfrm>
            <a:off x="868680" y="1947672"/>
            <a:ext cx="969264" cy="219456"/>
          </a:xfrm>
          <a:prstGeom prst="roundRect">
            <a:avLst>
              <a:gd name="adj" fmla="val 50000"/>
            </a:avLst>
          </a:prstGeom>
          <a:solidFill>
            <a:srgbClr val="FFF1F2"/>
          </a:solidFill>
          <a:ln w="10160">
            <a:solidFill>
              <a:srgbClr val="FECDD3"/>
            </a:solidFill>
            <a:prstDash val="solid"/>
          </a:ln>
        </p:spPr>
        <p:txBody>
          <a:bodyPr/>
          <a:lstStyle/>
          <a:p>
            <a:endParaRPr lang="en-US"/>
          </a:p>
        </p:txBody>
      </p:sp>
      <p:sp>
        <p:nvSpPr>
          <p:cNvPr id="9" name="Text 7"/>
          <p:cNvSpPr/>
          <p:nvPr/>
        </p:nvSpPr>
        <p:spPr>
          <a:xfrm>
            <a:off x="868680" y="1947672"/>
            <a:ext cx="969264" cy="219456"/>
          </a:xfrm>
          <a:prstGeom prst="rect">
            <a:avLst/>
          </a:prstGeom>
          <a:noFill/>
          <a:ln/>
        </p:spPr>
        <p:txBody>
          <a:bodyPr wrap="square" lIns="0" tIns="0" rIns="0" bIns="0" rtlCol="0" anchor="ctr"/>
          <a:lstStyle/>
          <a:p>
            <a:pPr marL="0" indent="0" algn="ctr">
              <a:buNone/>
            </a:pPr>
            <a:r>
              <a:rPr lang="en-US" sz="800" b="1" dirty="0">
                <a:solidFill>
                  <a:srgbClr val="9F1239"/>
                </a:solidFill>
                <a:latin typeface="Segoe UI" pitchFamily="34" charset="0"/>
                <a:ea typeface="Segoe UI" pitchFamily="34" charset="-122"/>
                <a:cs typeface="Segoe UI" pitchFamily="34" charset="-120"/>
              </a:rPr>
              <a:t>STAGE 01</a:t>
            </a:r>
            <a:endParaRPr lang="en-US" sz="800" dirty="0"/>
          </a:p>
        </p:txBody>
      </p:sp>
      <p:sp>
        <p:nvSpPr>
          <p:cNvPr id="10" name="Text 8"/>
          <p:cNvSpPr/>
          <p:nvPr/>
        </p:nvSpPr>
        <p:spPr>
          <a:xfrm>
            <a:off x="868680" y="2258568"/>
            <a:ext cx="1389888" cy="411480"/>
          </a:xfrm>
          <a:prstGeom prst="rect">
            <a:avLst/>
          </a:prstGeom>
          <a:noFill/>
          <a:ln/>
        </p:spPr>
        <p:txBody>
          <a:bodyPr wrap="square" lIns="0" tIns="0" rIns="0" bIns="0" rtlCol="0" anchor="t"/>
          <a:lstStyle/>
          <a:p>
            <a:pPr marL="0" indent="0">
              <a:lnSpc>
                <a:spcPts val="1400"/>
              </a:lnSpc>
              <a:buNone/>
            </a:pPr>
            <a:r>
              <a:rPr lang="en-US" sz="1150" b="1" dirty="0">
                <a:solidFill>
                  <a:srgbClr val="0F172A"/>
                </a:solidFill>
                <a:latin typeface="Segoe UI" pitchFamily="34" charset="0"/>
                <a:ea typeface="Segoe UI" pitchFamily="34" charset="-122"/>
                <a:cs typeface="Segoe UI" pitchFamily="34" charset="-120"/>
              </a:rPr>
              <a:t>Alert Ingestion</a:t>
            </a:r>
            <a:endParaRPr lang="en-US" sz="1150" dirty="0"/>
          </a:p>
        </p:txBody>
      </p:sp>
      <p:sp>
        <p:nvSpPr>
          <p:cNvPr id="11" name="Text 9"/>
          <p:cNvSpPr/>
          <p:nvPr/>
        </p:nvSpPr>
        <p:spPr>
          <a:xfrm>
            <a:off x="868680" y="2743200"/>
            <a:ext cx="1389888" cy="132588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Ingests raw triggers from RPC events, mempool listeners, Forta alerts, or user address lookup.</a:t>
            </a:r>
            <a:endParaRPr lang="en-US" sz="880" dirty="0"/>
          </a:p>
        </p:txBody>
      </p:sp>
      <p:sp>
        <p:nvSpPr>
          <p:cNvPr id="12" name="Shape 10"/>
          <p:cNvSpPr/>
          <p:nvPr/>
        </p:nvSpPr>
        <p:spPr>
          <a:xfrm>
            <a:off x="868680" y="4343400"/>
            <a:ext cx="1389888" cy="347472"/>
          </a:xfrm>
          <a:prstGeom prst="roundRect">
            <a:avLst>
              <a:gd name="adj" fmla="val 13158"/>
            </a:avLst>
          </a:prstGeom>
          <a:solidFill>
            <a:srgbClr val="F8FAFC"/>
          </a:solidFill>
          <a:ln w="10160">
            <a:solidFill>
              <a:srgbClr val="E2E8F0"/>
            </a:solidFill>
            <a:prstDash val="solid"/>
          </a:ln>
        </p:spPr>
        <p:txBody>
          <a:bodyPr/>
          <a:lstStyle/>
          <a:p>
            <a:endParaRPr lang="en-US"/>
          </a:p>
        </p:txBody>
      </p:sp>
      <p:sp>
        <p:nvSpPr>
          <p:cNvPr id="13" name="Text 11"/>
          <p:cNvSpPr/>
          <p:nvPr/>
        </p:nvSpPr>
        <p:spPr>
          <a:xfrm>
            <a:off x="868680" y="4343400"/>
            <a:ext cx="1389888" cy="347472"/>
          </a:xfrm>
          <a:prstGeom prst="rect">
            <a:avLst/>
          </a:prstGeom>
          <a:noFill/>
          <a:ln/>
        </p:spPr>
        <p:txBody>
          <a:bodyPr wrap="square" lIns="0" tIns="0" rIns="0" bIns="0" rtlCol="0" anchor="ctr"/>
          <a:lstStyle/>
          <a:p>
            <a:pPr marL="0" indent="0" algn="ctr">
              <a:buNone/>
            </a:pPr>
            <a:r>
              <a:rPr lang="en-US" sz="750" b="1" dirty="0">
                <a:solidFill>
                  <a:srgbClr val="F43F5E"/>
                </a:solidFill>
                <a:latin typeface="Consolas" pitchFamily="34" charset="0"/>
                <a:ea typeface="Consolas" pitchFamily="34" charset="-122"/>
                <a:cs typeface="Consolas" pitchFamily="34" charset="-120"/>
              </a:rPr>
              <a:t>Mempool / Webhook / RPC</a:t>
            </a:r>
            <a:endParaRPr lang="en-US" sz="750" dirty="0"/>
          </a:p>
        </p:txBody>
      </p:sp>
      <p:sp>
        <p:nvSpPr>
          <p:cNvPr id="14" name="Text 12"/>
          <p:cNvSpPr/>
          <p:nvPr/>
        </p:nvSpPr>
        <p:spPr>
          <a:xfrm>
            <a:off x="2322576" y="3108960"/>
            <a:ext cx="292608" cy="320040"/>
          </a:xfrm>
          <a:prstGeom prst="rect">
            <a:avLst/>
          </a:prstGeom>
          <a:noFill/>
          <a:ln/>
        </p:spPr>
        <p:txBody>
          <a:bodyPr wrap="square" lIns="0" tIns="0" rIns="0" bIns="0" rtlCol="0" anchor="ctr"/>
          <a:lstStyle/>
          <a:p>
            <a:pPr marL="0" indent="0" algn="ctr">
              <a:buNone/>
            </a:pPr>
            <a:r>
              <a:rPr lang="en-US" sz="1600" b="1" dirty="0">
                <a:solidFill>
                  <a:srgbClr val="94A3B8"/>
                </a:solidFill>
                <a:latin typeface="Segoe UI" pitchFamily="34" charset="0"/>
                <a:ea typeface="Segoe UI" pitchFamily="34" charset="-122"/>
                <a:cs typeface="Segoe UI" pitchFamily="34" charset="-120"/>
              </a:rPr>
              <a:t>→</a:t>
            </a:r>
            <a:endParaRPr lang="en-US" sz="1600" dirty="0"/>
          </a:p>
        </p:txBody>
      </p:sp>
      <p:sp>
        <p:nvSpPr>
          <p:cNvPr id="15" name="Shape 13"/>
          <p:cNvSpPr/>
          <p:nvPr/>
        </p:nvSpPr>
        <p:spPr>
          <a:xfrm>
            <a:off x="2542032" y="1783080"/>
            <a:ext cx="1664208" cy="3063240"/>
          </a:xfrm>
          <a:prstGeom prst="roundRect">
            <a:avLst>
              <a:gd name="adj" fmla="val 4396"/>
            </a:avLst>
          </a:prstGeom>
          <a:solidFill>
            <a:srgbClr val="FFFFFF"/>
          </a:solidFill>
          <a:ln w="12700">
            <a:solidFill>
              <a:srgbClr val="E2E8F0"/>
            </a:solidFill>
            <a:prstDash val="solid"/>
          </a:ln>
        </p:spPr>
        <p:txBody>
          <a:bodyPr/>
          <a:lstStyle/>
          <a:p>
            <a:endParaRPr lang="en-US"/>
          </a:p>
        </p:txBody>
      </p:sp>
      <p:sp>
        <p:nvSpPr>
          <p:cNvPr id="16" name="Shape 14"/>
          <p:cNvSpPr/>
          <p:nvPr/>
        </p:nvSpPr>
        <p:spPr>
          <a:xfrm>
            <a:off x="2560320" y="1801368"/>
            <a:ext cx="1627632" cy="45720"/>
          </a:xfrm>
          <a:prstGeom prst="roundRect">
            <a:avLst>
              <a:gd name="adj" fmla="val 40000"/>
            </a:avLst>
          </a:prstGeom>
          <a:solidFill>
            <a:srgbClr val="F59E0B"/>
          </a:solidFill>
          <a:ln w="12700">
            <a:solidFill>
              <a:srgbClr val="F59E0B"/>
            </a:solidFill>
            <a:prstDash val="solid"/>
          </a:ln>
        </p:spPr>
        <p:txBody>
          <a:bodyPr/>
          <a:lstStyle/>
          <a:p>
            <a:endParaRPr lang="en-US"/>
          </a:p>
        </p:txBody>
      </p:sp>
      <p:sp>
        <p:nvSpPr>
          <p:cNvPr id="17" name="Shape 15"/>
          <p:cNvSpPr/>
          <p:nvPr/>
        </p:nvSpPr>
        <p:spPr>
          <a:xfrm>
            <a:off x="2679192" y="1947672"/>
            <a:ext cx="969264" cy="219456"/>
          </a:xfrm>
          <a:prstGeom prst="roundRect">
            <a:avLst>
              <a:gd name="adj" fmla="val 50000"/>
            </a:avLst>
          </a:prstGeom>
          <a:solidFill>
            <a:srgbClr val="FFFBEB"/>
          </a:solidFill>
          <a:ln w="10160">
            <a:solidFill>
              <a:srgbClr val="FDE68A"/>
            </a:solidFill>
            <a:prstDash val="solid"/>
          </a:ln>
        </p:spPr>
        <p:txBody>
          <a:bodyPr/>
          <a:lstStyle/>
          <a:p>
            <a:endParaRPr lang="en-US"/>
          </a:p>
        </p:txBody>
      </p:sp>
      <p:sp>
        <p:nvSpPr>
          <p:cNvPr id="18" name="Text 16"/>
          <p:cNvSpPr/>
          <p:nvPr/>
        </p:nvSpPr>
        <p:spPr>
          <a:xfrm>
            <a:off x="2679192" y="1947672"/>
            <a:ext cx="969264" cy="219456"/>
          </a:xfrm>
          <a:prstGeom prst="rect">
            <a:avLst/>
          </a:prstGeom>
          <a:noFill/>
          <a:ln/>
        </p:spPr>
        <p:txBody>
          <a:bodyPr wrap="square" lIns="0" tIns="0" rIns="0" bIns="0" rtlCol="0" anchor="ctr"/>
          <a:lstStyle/>
          <a:p>
            <a:pPr marL="0" indent="0" algn="ctr">
              <a:buNone/>
            </a:pPr>
            <a:r>
              <a:rPr lang="en-US" sz="800" b="1" dirty="0">
                <a:solidFill>
                  <a:srgbClr val="92400E"/>
                </a:solidFill>
                <a:latin typeface="Segoe UI" pitchFamily="34" charset="0"/>
                <a:ea typeface="Segoe UI" pitchFamily="34" charset="-122"/>
                <a:cs typeface="Segoe UI" pitchFamily="34" charset="-120"/>
              </a:rPr>
              <a:t>STAGE 02</a:t>
            </a:r>
            <a:endParaRPr lang="en-US" sz="800" dirty="0"/>
          </a:p>
        </p:txBody>
      </p:sp>
      <p:sp>
        <p:nvSpPr>
          <p:cNvPr id="19" name="Text 17"/>
          <p:cNvSpPr/>
          <p:nvPr/>
        </p:nvSpPr>
        <p:spPr>
          <a:xfrm>
            <a:off x="2679192" y="2258568"/>
            <a:ext cx="1389888" cy="411480"/>
          </a:xfrm>
          <a:prstGeom prst="rect">
            <a:avLst/>
          </a:prstGeom>
          <a:noFill/>
          <a:ln/>
        </p:spPr>
        <p:txBody>
          <a:bodyPr wrap="square" lIns="0" tIns="0" rIns="0" bIns="0" rtlCol="0" anchor="t"/>
          <a:lstStyle/>
          <a:p>
            <a:pPr marL="0" indent="0">
              <a:lnSpc>
                <a:spcPts val="1400"/>
              </a:lnSpc>
              <a:buNone/>
            </a:pPr>
            <a:r>
              <a:rPr lang="en-US" sz="1150" b="1" dirty="0">
                <a:solidFill>
                  <a:srgbClr val="0F172A"/>
                </a:solidFill>
                <a:latin typeface="Segoe UI" pitchFamily="34" charset="0"/>
                <a:ea typeface="Segoe UI" pitchFamily="34" charset="-122"/>
                <a:cs typeface="Segoe UI" pitchFamily="34" charset="-120"/>
              </a:rPr>
              <a:t>State Reconstruction</a:t>
            </a:r>
            <a:endParaRPr lang="en-US" sz="1150" dirty="0"/>
          </a:p>
        </p:txBody>
      </p:sp>
      <p:sp>
        <p:nvSpPr>
          <p:cNvPr id="20" name="Text 18"/>
          <p:cNvSpPr/>
          <p:nvPr/>
        </p:nvSpPr>
        <p:spPr>
          <a:xfrm>
            <a:off x="2679192" y="2743200"/>
            <a:ext cx="1389888" cy="132588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Fetches contract bytecode, storage slots, active ERC-20 allowances, and historical transaction events.</a:t>
            </a:r>
            <a:endParaRPr lang="en-US" sz="880" dirty="0"/>
          </a:p>
        </p:txBody>
      </p:sp>
      <p:sp>
        <p:nvSpPr>
          <p:cNvPr id="21" name="Shape 19"/>
          <p:cNvSpPr/>
          <p:nvPr/>
        </p:nvSpPr>
        <p:spPr>
          <a:xfrm>
            <a:off x="2679192" y="4343400"/>
            <a:ext cx="1389888" cy="347472"/>
          </a:xfrm>
          <a:prstGeom prst="roundRect">
            <a:avLst>
              <a:gd name="adj" fmla="val 13158"/>
            </a:avLst>
          </a:prstGeom>
          <a:solidFill>
            <a:srgbClr val="F8FAFC"/>
          </a:solidFill>
          <a:ln w="10160">
            <a:solidFill>
              <a:srgbClr val="E2E8F0"/>
            </a:solidFill>
            <a:prstDash val="solid"/>
          </a:ln>
        </p:spPr>
        <p:txBody>
          <a:bodyPr/>
          <a:lstStyle/>
          <a:p>
            <a:endParaRPr lang="en-US"/>
          </a:p>
        </p:txBody>
      </p:sp>
      <p:sp>
        <p:nvSpPr>
          <p:cNvPr id="22" name="Text 20"/>
          <p:cNvSpPr/>
          <p:nvPr/>
        </p:nvSpPr>
        <p:spPr>
          <a:xfrm>
            <a:off x="2679192" y="4343400"/>
            <a:ext cx="1389888" cy="347472"/>
          </a:xfrm>
          <a:prstGeom prst="rect">
            <a:avLst/>
          </a:prstGeom>
          <a:noFill/>
          <a:ln/>
        </p:spPr>
        <p:txBody>
          <a:bodyPr wrap="square" lIns="0" tIns="0" rIns="0" bIns="0" rtlCol="0" anchor="ctr"/>
          <a:lstStyle/>
          <a:p>
            <a:pPr marL="0" indent="0" algn="ctr">
              <a:buNone/>
            </a:pPr>
            <a:r>
              <a:rPr lang="en-US" sz="750" b="1" dirty="0">
                <a:solidFill>
                  <a:srgbClr val="F59E0B"/>
                </a:solidFill>
                <a:latin typeface="Consolas" pitchFamily="34" charset="0"/>
                <a:ea typeface="Consolas" pitchFamily="34" charset="-122"/>
                <a:cs typeface="Consolas" pitchFamily="34" charset="-120"/>
              </a:rPr>
              <a:t>Bytecode &amp; Slot Reads</a:t>
            </a:r>
            <a:endParaRPr lang="en-US" sz="750" dirty="0"/>
          </a:p>
        </p:txBody>
      </p:sp>
      <p:sp>
        <p:nvSpPr>
          <p:cNvPr id="23" name="Text 21"/>
          <p:cNvSpPr/>
          <p:nvPr/>
        </p:nvSpPr>
        <p:spPr>
          <a:xfrm>
            <a:off x="4133088" y="3108960"/>
            <a:ext cx="292608" cy="320040"/>
          </a:xfrm>
          <a:prstGeom prst="rect">
            <a:avLst/>
          </a:prstGeom>
          <a:noFill/>
          <a:ln/>
        </p:spPr>
        <p:txBody>
          <a:bodyPr wrap="square" lIns="0" tIns="0" rIns="0" bIns="0" rtlCol="0" anchor="ctr"/>
          <a:lstStyle/>
          <a:p>
            <a:pPr marL="0" indent="0" algn="ctr">
              <a:buNone/>
            </a:pPr>
            <a:r>
              <a:rPr lang="en-US" sz="1600" b="1" dirty="0">
                <a:solidFill>
                  <a:srgbClr val="94A3B8"/>
                </a:solidFill>
                <a:latin typeface="Segoe UI" pitchFamily="34" charset="0"/>
                <a:ea typeface="Segoe UI" pitchFamily="34" charset="-122"/>
                <a:cs typeface="Segoe UI" pitchFamily="34" charset="-120"/>
              </a:rPr>
              <a:t>→</a:t>
            </a:r>
            <a:endParaRPr lang="en-US" sz="1600" dirty="0"/>
          </a:p>
        </p:txBody>
      </p:sp>
      <p:sp>
        <p:nvSpPr>
          <p:cNvPr id="24" name="Shape 22"/>
          <p:cNvSpPr/>
          <p:nvPr/>
        </p:nvSpPr>
        <p:spPr>
          <a:xfrm>
            <a:off x="4352544" y="1783080"/>
            <a:ext cx="1664208" cy="3063240"/>
          </a:xfrm>
          <a:prstGeom prst="roundRect">
            <a:avLst>
              <a:gd name="adj" fmla="val 4396"/>
            </a:avLst>
          </a:prstGeom>
          <a:solidFill>
            <a:srgbClr val="FFFFFF"/>
          </a:solidFill>
          <a:ln w="12700">
            <a:solidFill>
              <a:srgbClr val="E2E8F0"/>
            </a:solidFill>
            <a:prstDash val="solid"/>
          </a:ln>
        </p:spPr>
        <p:txBody>
          <a:bodyPr/>
          <a:lstStyle/>
          <a:p>
            <a:endParaRPr lang="en-US"/>
          </a:p>
        </p:txBody>
      </p:sp>
      <p:sp>
        <p:nvSpPr>
          <p:cNvPr id="25" name="Shape 23"/>
          <p:cNvSpPr/>
          <p:nvPr/>
        </p:nvSpPr>
        <p:spPr>
          <a:xfrm>
            <a:off x="4370832" y="1801368"/>
            <a:ext cx="1627632"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26" name="Shape 24"/>
          <p:cNvSpPr/>
          <p:nvPr/>
        </p:nvSpPr>
        <p:spPr>
          <a:xfrm>
            <a:off x="4489704" y="1947672"/>
            <a:ext cx="969264"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27" name="Text 25"/>
          <p:cNvSpPr/>
          <p:nvPr/>
        </p:nvSpPr>
        <p:spPr>
          <a:xfrm>
            <a:off x="4489704" y="1947672"/>
            <a:ext cx="969264"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STAGE 03</a:t>
            </a:r>
            <a:endParaRPr lang="en-US" sz="800" dirty="0"/>
          </a:p>
        </p:txBody>
      </p:sp>
      <p:sp>
        <p:nvSpPr>
          <p:cNvPr id="28" name="Text 26"/>
          <p:cNvSpPr/>
          <p:nvPr/>
        </p:nvSpPr>
        <p:spPr>
          <a:xfrm>
            <a:off x="4489704" y="2258568"/>
            <a:ext cx="1389888" cy="411480"/>
          </a:xfrm>
          <a:prstGeom prst="rect">
            <a:avLst/>
          </a:prstGeom>
          <a:noFill/>
          <a:ln/>
        </p:spPr>
        <p:txBody>
          <a:bodyPr wrap="square" lIns="0" tIns="0" rIns="0" bIns="0" rtlCol="0" anchor="t"/>
          <a:lstStyle/>
          <a:p>
            <a:pPr marL="0" indent="0">
              <a:lnSpc>
                <a:spcPts val="1400"/>
              </a:lnSpc>
              <a:buNone/>
            </a:pPr>
            <a:r>
              <a:rPr lang="en-US" sz="1150" b="1" dirty="0">
                <a:solidFill>
                  <a:srgbClr val="0F172A"/>
                </a:solidFill>
                <a:latin typeface="Segoe UI" pitchFamily="34" charset="0"/>
                <a:ea typeface="Segoe UI" pitchFamily="34" charset="-122"/>
                <a:cs typeface="Segoe UI" pitchFamily="34" charset="-120"/>
              </a:rPr>
              <a:t>Graph Traversal</a:t>
            </a:r>
            <a:endParaRPr lang="en-US" sz="1150" dirty="0"/>
          </a:p>
        </p:txBody>
      </p:sp>
      <p:sp>
        <p:nvSpPr>
          <p:cNvPr id="29" name="Text 27"/>
          <p:cNvSpPr/>
          <p:nvPr/>
        </p:nvSpPr>
        <p:spPr>
          <a:xfrm>
            <a:off x="4489704" y="2743200"/>
            <a:ext cx="1389888" cy="132588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Resolves proxy pointers, maps admin keys, traverses multi-hop token flows, and clusters counterparties.</a:t>
            </a:r>
            <a:endParaRPr lang="en-US" sz="880" dirty="0"/>
          </a:p>
        </p:txBody>
      </p:sp>
      <p:sp>
        <p:nvSpPr>
          <p:cNvPr id="30" name="Shape 28"/>
          <p:cNvSpPr/>
          <p:nvPr/>
        </p:nvSpPr>
        <p:spPr>
          <a:xfrm>
            <a:off x="4489704" y="4343400"/>
            <a:ext cx="1389888" cy="347472"/>
          </a:xfrm>
          <a:prstGeom prst="roundRect">
            <a:avLst>
              <a:gd name="adj" fmla="val 13158"/>
            </a:avLst>
          </a:prstGeom>
          <a:solidFill>
            <a:srgbClr val="F8FAFC"/>
          </a:solidFill>
          <a:ln w="10160">
            <a:solidFill>
              <a:srgbClr val="E2E8F0"/>
            </a:solidFill>
            <a:prstDash val="solid"/>
          </a:ln>
        </p:spPr>
        <p:txBody>
          <a:bodyPr/>
          <a:lstStyle/>
          <a:p>
            <a:endParaRPr lang="en-US"/>
          </a:p>
        </p:txBody>
      </p:sp>
      <p:sp>
        <p:nvSpPr>
          <p:cNvPr id="31" name="Text 29"/>
          <p:cNvSpPr/>
          <p:nvPr/>
        </p:nvSpPr>
        <p:spPr>
          <a:xfrm>
            <a:off x="4489704" y="4343400"/>
            <a:ext cx="1389888" cy="347472"/>
          </a:xfrm>
          <a:prstGeom prst="rect">
            <a:avLst/>
          </a:prstGeom>
          <a:noFill/>
          <a:ln/>
        </p:spPr>
        <p:txBody>
          <a:bodyPr wrap="square" lIns="0" tIns="0" rIns="0" bIns="0" rtlCol="0" anchor="ctr"/>
          <a:lstStyle/>
          <a:p>
            <a:pPr marL="0" indent="0" algn="ctr">
              <a:buNone/>
            </a:pPr>
            <a:r>
              <a:rPr lang="en-US" sz="750" b="1" dirty="0">
                <a:solidFill>
                  <a:srgbClr val="6366F1"/>
                </a:solidFill>
                <a:latin typeface="Consolas" pitchFamily="34" charset="0"/>
                <a:ea typeface="Consolas" pitchFamily="34" charset="-122"/>
                <a:cs typeface="Consolas" pitchFamily="34" charset="-120"/>
              </a:rPr>
              <a:t>EIP-1967 &amp; Entity Mapping</a:t>
            </a:r>
            <a:endParaRPr lang="en-US" sz="750" dirty="0"/>
          </a:p>
        </p:txBody>
      </p:sp>
      <p:sp>
        <p:nvSpPr>
          <p:cNvPr id="32" name="Text 30"/>
          <p:cNvSpPr/>
          <p:nvPr/>
        </p:nvSpPr>
        <p:spPr>
          <a:xfrm>
            <a:off x="5943600" y="3108960"/>
            <a:ext cx="292608" cy="320040"/>
          </a:xfrm>
          <a:prstGeom prst="rect">
            <a:avLst/>
          </a:prstGeom>
          <a:noFill/>
          <a:ln/>
        </p:spPr>
        <p:txBody>
          <a:bodyPr wrap="square" lIns="0" tIns="0" rIns="0" bIns="0" rtlCol="0" anchor="ctr"/>
          <a:lstStyle/>
          <a:p>
            <a:pPr marL="0" indent="0" algn="ctr">
              <a:buNone/>
            </a:pPr>
            <a:r>
              <a:rPr lang="en-US" sz="1600" b="1" dirty="0">
                <a:solidFill>
                  <a:srgbClr val="94A3B8"/>
                </a:solidFill>
                <a:latin typeface="Segoe UI" pitchFamily="34" charset="0"/>
                <a:ea typeface="Segoe UI" pitchFamily="34" charset="-122"/>
                <a:cs typeface="Segoe UI" pitchFamily="34" charset="-120"/>
              </a:rPr>
              <a:t>→</a:t>
            </a:r>
            <a:endParaRPr lang="en-US" sz="1600" dirty="0"/>
          </a:p>
        </p:txBody>
      </p:sp>
      <p:sp>
        <p:nvSpPr>
          <p:cNvPr id="33" name="Shape 31"/>
          <p:cNvSpPr/>
          <p:nvPr/>
        </p:nvSpPr>
        <p:spPr>
          <a:xfrm>
            <a:off x="6163056" y="1783080"/>
            <a:ext cx="1664208" cy="3063240"/>
          </a:xfrm>
          <a:prstGeom prst="roundRect">
            <a:avLst>
              <a:gd name="adj" fmla="val 4396"/>
            </a:avLst>
          </a:prstGeom>
          <a:solidFill>
            <a:srgbClr val="FFFFFF"/>
          </a:solidFill>
          <a:ln w="12700">
            <a:solidFill>
              <a:srgbClr val="E2E8F0"/>
            </a:solidFill>
            <a:prstDash val="solid"/>
          </a:ln>
        </p:spPr>
        <p:txBody>
          <a:bodyPr/>
          <a:lstStyle/>
          <a:p>
            <a:endParaRPr lang="en-US"/>
          </a:p>
        </p:txBody>
      </p:sp>
      <p:sp>
        <p:nvSpPr>
          <p:cNvPr id="34" name="Shape 32"/>
          <p:cNvSpPr/>
          <p:nvPr/>
        </p:nvSpPr>
        <p:spPr>
          <a:xfrm>
            <a:off x="6181344" y="1801368"/>
            <a:ext cx="1627632" cy="45720"/>
          </a:xfrm>
          <a:prstGeom prst="roundRect">
            <a:avLst>
              <a:gd name="adj" fmla="val 40000"/>
            </a:avLst>
          </a:prstGeom>
          <a:solidFill>
            <a:srgbClr val="10B981"/>
          </a:solidFill>
          <a:ln w="12700">
            <a:solidFill>
              <a:srgbClr val="10B981"/>
            </a:solidFill>
            <a:prstDash val="solid"/>
          </a:ln>
        </p:spPr>
        <p:txBody>
          <a:bodyPr/>
          <a:lstStyle/>
          <a:p>
            <a:endParaRPr lang="en-US"/>
          </a:p>
        </p:txBody>
      </p:sp>
      <p:sp>
        <p:nvSpPr>
          <p:cNvPr id="35" name="Shape 33"/>
          <p:cNvSpPr/>
          <p:nvPr/>
        </p:nvSpPr>
        <p:spPr>
          <a:xfrm>
            <a:off x="6300216" y="1947672"/>
            <a:ext cx="969264" cy="219456"/>
          </a:xfrm>
          <a:prstGeom prst="roundRect">
            <a:avLst>
              <a:gd name="adj" fmla="val 50000"/>
            </a:avLst>
          </a:prstGeom>
          <a:solidFill>
            <a:srgbClr val="ECFDF5"/>
          </a:solidFill>
          <a:ln w="10160">
            <a:solidFill>
              <a:srgbClr val="A7F3D0"/>
            </a:solidFill>
            <a:prstDash val="solid"/>
          </a:ln>
        </p:spPr>
        <p:txBody>
          <a:bodyPr/>
          <a:lstStyle/>
          <a:p>
            <a:endParaRPr lang="en-US"/>
          </a:p>
        </p:txBody>
      </p:sp>
      <p:sp>
        <p:nvSpPr>
          <p:cNvPr id="36" name="Text 34"/>
          <p:cNvSpPr/>
          <p:nvPr/>
        </p:nvSpPr>
        <p:spPr>
          <a:xfrm>
            <a:off x="6300216" y="1947672"/>
            <a:ext cx="969264" cy="219456"/>
          </a:xfrm>
          <a:prstGeom prst="rect">
            <a:avLst/>
          </a:prstGeom>
          <a:noFill/>
          <a:ln/>
        </p:spPr>
        <p:txBody>
          <a:bodyPr wrap="square" lIns="0" tIns="0" rIns="0" bIns="0" rtlCol="0" anchor="ctr"/>
          <a:lstStyle/>
          <a:p>
            <a:pPr marL="0" indent="0" algn="ctr">
              <a:buNone/>
            </a:pPr>
            <a:r>
              <a:rPr lang="en-US" sz="800" b="1" dirty="0">
                <a:solidFill>
                  <a:srgbClr val="065F46"/>
                </a:solidFill>
                <a:latin typeface="Segoe UI" pitchFamily="34" charset="0"/>
                <a:ea typeface="Segoe UI" pitchFamily="34" charset="-122"/>
                <a:cs typeface="Segoe UI" pitchFamily="34" charset="-120"/>
              </a:rPr>
              <a:t>STAGE 04</a:t>
            </a:r>
            <a:endParaRPr lang="en-US" sz="800" dirty="0"/>
          </a:p>
        </p:txBody>
      </p:sp>
      <p:sp>
        <p:nvSpPr>
          <p:cNvPr id="37" name="Text 35"/>
          <p:cNvSpPr/>
          <p:nvPr/>
        </p:nvSpPr>
        <p:spPr>
          <a:xfrm>
            <a:off x="6300216" y="2258568"/>
            <a:ext cx="1389888" cy="411480"/>
          </a:xfrm>
          <a:prstGeom prst="rect">
            <a:avLst/>
          </a:prstGeom>
          <a:noFill/>
          <a:ln/>
        </p:spPr>
        <p:txBody>
          <a:bodyPr wrap="square" lIns="0" tIns="0" rIns="0" bIns="0" rtlCol="0" anchor="t"/>
          <a:lstStyle/>
          <a:p>
            <a:pPr marL="0" indent="0">
              <a:lnSpc>
                <a:spcPts val="1400"/>
              </a:lnSpc>
              <a:buNone/>
            </a:pPr>
            <a:r>
              <a:rPr lang="en-US" sz="1150" b="1" dirty="0">
                <a:solidFill>
                  <a:srgbClr val="0F172A"/>
                </a:solidFill>
                <a:latin typeface="Segoe UI" pitchFamily="34" charset="0"/>
                <a:ea typeface="Segoe UI" pitchFamily="34" charset="-122"/>
                <a:cs typeface="Segoe UI" pitchFamily="34" charset="-120"/>
              </a:rPr>
              <a:t>Blast Radius Math</a:t>
            </a:r>
            <a:endParaRPr lang="en-US" sz="1150" dirty="0"/>
          </a:p>
        </p:txBody>
      </p:sp>
      <p:sp>
        <p:nvSpPr>
          <p:cNvPr id="38" name="Text 36"/>
          <p:cNvSpPr/>
          <p:nvPr/>
        </p:nvSpPr>
        <p:spPr>
          <a:xfrm>
            <a:off x="6300216" y="2743200"/>
            <a:ext cx="1389888" cy="132588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Calculates the exact liquid dollar value currently vulnerable to drainage or implementation mutation.</a:t>
            </a:r>
            <a:endParaRPr lang="en-US" sz="880" dirty="0"/>
          </a:p>
        </p:txBody>
      </p:sp>
      <p:sp>
        <p:nvSpPr>
          <p:cNvPr id="39" name="Shape 37"/>
          <p:cNvSpPr/>
          <p:nvPr/>
        </p:nvSpPr>
        <p:spPr>
          <a:xfrm>
            <a:off x="6300216" y="4343400"/>
            <a:ext cx="1389888" cy="347472"/>
          </a:xfrm>
          <a:prstGeom prst="roundRect">
            <a:avLst>
              <a:gd name="adj" fmla="val 13158"/>
            </a:avLst>
          </a:prstGeom>
          <a:solidFill>
            <a:srgbClr val="F8FAFC"/>
          </a:solidFill>
          <a:ln w="10160">
            <a:solidFill>
              <a:srgbClr val="E2E8F0"/>
            </a:solidFill>
            <a:prstDash val="solid"/>
          </a:ln>
        </p:spPr>
        <p:txBody>
          <a:bodyPr/>
          <a:lstStyle/>
          <a:p>
            <a:endParaRPr lang="en-US"/>
          </a:p>
        </p:txBody>
      </p:sp>
      <p:sp>
        <p:nvSpPr>
          <p:cNvPr id="40" name="Text 38"/>
          <p:cNvSpPr/>
          <p:nvPr/>
        </p:nvSpPr>
        <p:spPr>
          <a:xfrm>
            <a:off x="6300216" y="4343400"/>
            <a:ext cx="1389888" cy="347472"/>
          </a:xfrm>
          <a:prstGeom prst="rect">
            <a:avLst/>
          </a:prstGeom>
          <a:noFill/>
          <a:ln/>
        </p:spPr>
        <p:txBody>
          <a:bodyPr wrap="square" lIns="0" tIns="0" rIns="0" bIns="0" rtlCol="0" anchor="ctr"/>
          <a:lstStyle/>
          <a:p>
            <a:pPr marL="0" indent="0" algn="ctr">
              <a:buNone/>
            </a:pPr>
            <a:r>
              <a:rPr lang="en-US" sz="750" b="1" dirty="0">
                <a:solidFill>
                  <a:srgbClr val="10B981"/>
                </a:solidFill>
                <a:latin typeface="Consolas" pitchFamily="34" charset="0"/>
                <a:ea typeface="Consolas" pitchFamily="34" charset="-122"/>
                <a:cs typeface="Consolas" pitchFamily="34" charset="-120"/>
              </a:rPr>
              <a:t>USD Exposure Calculation</a:t>
            </a:r>
            <a:endParaRPr lang="en-US" sz="750" dirty="0"/>
          </a:p>
        </p:txBody>
      </p:sp>
      <p:sp>
        <p:nvSpPr>
          <p:cNvPr id="41" name="Text 39"/>
          <p:cNvSpPr/>
          <p:nvPr/>
        </p:nvSpPr>
        <p:spPr>
          <a:xfrm>
            <a:off x="7754112" y="3108960"/>
            <a:ext cx="292608" cy="320040"/>
          </a:xfrm>
          <a:prstGeom prst="rect">
            <a:avLst/>
          </a:prstGeom>
          <a:noFill/>
          <a:ln/>
        </p:spPr>
        <p:txBody>
          <a:bodyPr wrap="square" lIns="0" tIns="0" rIns="0" bIns="0" rtlCol="0" anchor="ctr"/>
          <a:lstStyle/>
          <a:p>
            <a:pPr marL="0" indent="0" algn="ctr">
              <a:buNone/>
            </a:pPr>
            <a:r>
              <a:rPr lang="en-US" sz="1600" b="1" dirty="0">
                <a:solidFill>
                  <a:srgbClr val="94A3B8"/>
                </a:solidFill>
                <a:latin typeface="Segoe UI" pitchFamily="34" charset="0"/>
                <a:ea typeface="Segoe UI" pitchFamily="34" charset="-122"/>
                <a:cs typeface="Segoe UI" pitchFamily="34" charset="-120"/>
              </a:rPr>
              <a:t>→</a:t>
            </a:r>
            <a:endParaRPr lang="en-US" sz="1600" dirty="0"/>
          </a:p>
        </p:txBody>
      </p:sp>
      <p:sp>
        <p:nvSpPr>
          <p:cNvPr id="42" name="Shape 40"/>
          <p:cNvSpPr/>
          <p:nvPr/>
        </p:nvSpPr>
        <p:spPr>
          <a:xfrm>
            <a:off x="7973568" y="1783080"/>
            <a:ext cx="1664208" cy="3063240"/>
          </a:xfrm>
          <a:prstGeom prst="roundRect">
            <a:avLst>
              <a:gd name="adj" fmla="val 4396"/>
            </a:avLst>
          </a:prstGeom>
          <a:solidFill>
            <a:srgbClr val="FFFFFF"/>
          </a:solidFill>
          <a:ln w="12700">
            <a:solidFill>
              <a:srgbClr val="E2E8F0"/>
            </a:solidFill>
            <a:prstDash val="solid"/>
          </a:ln>
        </p:spPr>
        <p:txBody>
          <a:bodyPr/>
          <a:lstStyle/>
          <a:p>
            <a:endParaRPr lang="en-US"/>
          </a:p>
        </p:txBody>
      </p:sp>
      <p:sp>
        <p:nvSpPr>
          <p:cNvPr id="43" name="Shape 41"/>
          <p:cNvSpPr/>
          <p:nvPr/>
        </p:nvSpPr>
        <p:spPr>
          <a:xfrm>
            <a:off x="7991856" y="1801368"/>
            <a:ext cx="1627632"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44" name="Shape 42"/>
          <p:cNvSpPr/>
          <p:nvPr/>
        </p:nvSpPr>
        <p:spPr>
          <a:xfrm>
            <a:off x="8110728" y="1947672"/>
            <a:ext cx="969264"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45" name="Text 43"/>
          <p:cNvSpPr/>
          <p:nvPr/>
        </p:nvSpPr>
        <p:spPr>
          <a:xfrm>
            <a:off x="8110728" y="1947672"/>
            <a:ext cx="969264"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STAGE 05</a:t>
            </a:r>
            <a:endParaRPr lang="en-US" sz="800" dirty="0"/>
          </a:p>
        </p:txBody>
      </p:sp>
      <p:sp>
        <p:nvSpPr>
          <p:cNvPr id="46" name="Text 44"/>
          <p:cNvSpPr/>
          <p:nvPr/>
        </p:nvSpPr>
        <p:spPr>
          <a:xfrm>
            <a:off x="8110728" y="2258568"/>
            <a:ext cx="1389888" cy="411480"/>
          </a:xfrm>
          <a:prstGeom prst="rect">
            <a:avLst/>
          </a:prstGeom>
          <a:noFill/>
          <a:ln/>
        </p:spPr>
        <p:txBody>
          <a:bodyPr wrap="square" lIns="0" tIns="0" rIns="0" bIns="0" rtlCol="0" anchor="t"/>
          <a:lstStyle/>
          <a:p>
            <a:pPr marL="0" indent="0">
              <a:lnSpc>
                <a:spcPts val="1400"/>
              </a:lnSpc>
              <a:buNone/>
            </a:pPr>
            <a:r>
              <a:rPr lang="en-US" sz="1150" b="1" dirty="0">
                <a:solidFill>
                  <a:srgbClr val="0F172A"/>
                </a:solidFill>
                <a:latin typeface="Segoe UI" pitchFamily="34" charset="0"/>
                <a:ea typeface="Segoe UI" pitchFamily="34" charset="-122"/>
                <a:cs typeface="Segoe UI" pitchFamily="34" charset="-120"/>
              </a:rPr>
              <a:t>Evidence Synthesis</a:t>
            </a:r>
            <a:endParaRPr lang="en-US" sz="1150" dirty="0"/>
          </a:p>
        </p:txBody>
      </p:sp>
      <p:sp>
        <p:nvSpPr>
          <p:cNvPr id="47" name="Text 45"/>
          <p:cNvSpPr/>
          <p:nvPr/>
        </p:nvSpPr>
        <p:spPr>
          <a:xfrm>
            <a:off x="8110728" y="2743200"/>
            <a:ext cx="1389888" cy="132588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Applies strict discipline: classifies findings into OBSERVED (facts), INFERRED (risks), and UNKNOWN (gaps).</a:t>
            </a:r>
            <a:endParaRPr lang="en-US" sz="880" dirty="0"/>
          </a:p>
        </p:txBody>
      </p:sp>
      <p:sp>
        <p:nvSpPr>
          <p:cNvPr id="48" name="Shape 46"/>
          <p:cNvSpPr/>
          <p:nvPr/>
        </p:nvSpPr>
        <p:spPr>
          <a:xfrm>
            <a:off x="8110728" y="4343400"/>
            <a:ext cx="1389888" cy="347472"/>
          </a:xfrm>
          <a:prstGeom prst="roundRect">
            <a:avLst>
              <a:gd name="adj" fmla="val 13158"/>
            </a:avLst>
          </a:prstGeom>
          <a:solidFill>
            <a:srgbClr val="F8FAFC"/>
          </a:solidFill>
          <a:ln w="10160">
            <a:solidFill>
              <a:srgbClr val="E2E8F0"/>
            </a:solidFill>
            <a:prstDash val="solid"/>
          </a:ln>
        </p:spPr>
        <p:txBody>
          <a:bodyPr/>
          <a:lstStyle/>
          <a:p>
            <a:endParaRPr lang="en-US"/>
          </a:p>
        </p:txBody>
      </p:sp>
      <p:sp>
        <p:nvSpPr>
          <p:cNvPr id="49" name="Text 47"/>
          <p:cNvSpPr/>
          <p:nvPr/>
        </p:nvSpPr>
        <p:spPr>
          <a:xfrm>
            <a:off x="8110728" y="4343400"/>
            <a:ext cx="1389888" cy="347472"/>
          </a:xfrm>
          <a:prstGeom prst="rect">
            <a:avLst/>
          </a:prstGeom>
          <a:noFill/>
          <a:ln/>
        </p:spPr>
        <p:txBody>
          <a:bodyPr wrap="square" lIns="0" tIns="0" rIns="0" bIns="0" rtlCol="0" anchor="ctr"/>
          <a:lstStyle/>
          <a:p>
            <a:pPr marL="0" indent="0" algn="ctr">
              <a:buNone/>
            </a:pPr>
            <a:r>
              <a:rPr lang="en-US" sz="750" b="1" dirty="0">
                <a:solidFill>
                  <a:srgbClr val="6366F1"/>
                </a:solidFill>
                <a:latin typeface="Consolas" pitchFamily="34" charset="0"/>
                <a:ea typeface="Consolas" pitchFamily="34" charset="-122"/>
                <a:cs typeface="Consolas" pitchFamily="34" charset="-120"/>
              </a:rPr>
              <a:t>Confidence Classification</a:t>
            </a:r>
            <a:endParaRPr lang="en-US" sz="750" dirty="0"/>
          </a:p>
        </p:txBody>
      </p:sp>
      <p:sp>
        <p:nvSpPr>
          <p:cNvPr id="50" name="Text 48"/>
          <p:cNvSpPr/>
          <p:nvPr/>
        </p:nvSpPr>
        <p:spPr>
          <a:xfrm>
            <a:off x="9564624" y="3108960"/>
            <a:ext cx="292608" cy="320040"/>
          </a:xfrm>
          <a:prstGeom prst="rect">
            <a:avLst/>
          </a:prstGeom>
          <a:noFill/>
          <a:ln/>
        </p:spPr>
        <p:txBody>
          <a:bodyPr wrap="square" lIns="0" tIns="0" rIns="0" bIns="0" rtlCol="0" anchor="ctr"/>
          <a:lstStyle/>
          <a:p>
            <a:pPr marL="0" indent="0" algn="ctr">
              <a:buNone/>
            </a:pPr>
            <a:r>
              <a:rPr lang="en-US" sz="1600" b="1" dirty="0">
                <a:solidFill>
                  <a:srgbClr val="94A3B8"/>
                </a:solidFill>
                <a:latin typeface="Segoe UI" pitchFamily="34" charset="0"/>
                <a:ea typeface="Segoe UI" pitchFamily="34" charset="-122"/>
                <a:cs typeface="Segoe UI" pitchFamily="34" charset="-120"/>
              </a:rPr>
              <a:t>→</a:t>
            </a:r>
            <a:endParaRPr lang="en-US" sz="1600" dirty="0"/>
          </a:p>
        </p:txBody>
      </p:sp>
      <p:sp>
        <p:nvSpPr>
          <p:cNvPr id="51" name="Shape 49"/>
          <p:cNvSpPr/>
          <p:nvPr/>
        </p:nvSpPr>
        <p:spPr>
          <a:xfrm>
            <a:off x="9784080" y="1783080"/>
            <a:ext cx="1664208" cy="3063240"/>
          </a:xfrm>
          <a:prstGeom prst="roundRect">
            <a:avLst>
              <a:gd name="adj" fmla="val 4396"/>
            </a:avLst>
          </a:prstGeom>
          <a:solidFill>
            <a:srgbClr val="FFFFFF"/>
          </a:solidFill>
          <a:ln w="12700">
            <a:solidFill>
              <a:srgbClr val="E2E8F0"/>
            </a:solidFill>
            <a:prstDash val="solid"/>
          </a:ln>
        </p:spPr>
        <p:txBody>
          <a:bodyPr/>
          <a:lstStyle/>
          <a:p>
            <a:endParaRPr lang="en-US"/>
          </a:p>
        </p:txBody>
      </p:sp>
      <p:sp>
        <p:nvSpPr>
          <p:cNvPr id="52" name="Shape 50"/>
          <p:cNvSpPr/>
          <p:nvPr/>
        </p:nvSpPr>
        <p:spPr>
          <a:xfrm>
            <a:off x="9802368" y="1801368"/>
            <a:ext cx="1627632" cy="45720"/>
          </a:xfrm>
          <a:prstGeom prst="roundRect">
            <a:avLst>
              <a:gd name="adj" fmla="val 40000"/>
            </a:avLst>
          </a:prstGeom>
          <a:solidFill>
            <a:srgbClr val="64748B"/>
          </a:solidFill>
          <a:ln w="12700">
            <a:solidFill>
              <a:srgbClr val="64748B"/>
            </a:solidFill>
            <a:prstDash val="solid"/>
          </a:ln>
        </p:spPr>
        <p:txBody>
          <a:bodyPr/>
          <a:lstStyle/>
          <a:p>
            <a:endParaRPr lang="en-US"/>
          </a:p>
        </p:txBody>
      </p:sp>
      <p:sp>
        <p:nvSpPr>
          <p:cNvPr id="53" name="Shape 51"/>
          <p:cNvSpPr/>
          <p:nvPr/>
        </p:nvSpPr>
        <p:spPr>
          <a:xfrm>
            <a:off x="9921240" y="1947672"/>
            <a:ext cx="969264" cy="219456"/>
          </a:xfrm>
          <a:prstGeom prst="roundRect">
            <a:avLst>
              <a:gd name="adj" fmla="val 50000"/>
            </a:avLst>
          </a:prstGeom>
          <a:solidFill>
            <a:srgbClr val="F1F5F9"/>
          </a:solidFill>
          <a:ln w="10160">
            <a:solidFill>
              <a:srgbClr val="CBD5E1"/>
            </a:solidFill>
            <a:prstDash val="solid"/>
          </a:ln>
        </p:spPr>
        <p:txBody>
          <a:bodyPr/>
          <a:lstStyle/>
          <a:p>
            <a:endParaRPr lang="en-US"/>
          </a:p>
        </p:txBody>
      </p:sp>
      <p:sp>
        <p:nvSpPr>
          <p:cNvPr id="54" name="Text 52"/>
          <p:cNvSpPr/>
          <p:nvPr/>
        </p:nvSpPr>
        <p:spPr>
          <a:xfrm>
            <a:off x="9921240" y="1947672"/>
            <a:ext cx="969264" cy="219456"/>
          </a:xfrm>
          <a:prstGeom prst="rect">
            <a:avLst/>
          </a:prstGeom>
          <a:noFill/>
          <a:ln/>
        </p:spPr>
        <p:txBody>
          <a:bodyPr wrap="square" lIns="0" tIns="0" rIns="0" bIns="0" rtlCol="0" anchor="ctr"/>
          <a:lstStyle/>
          <a:p>
            <a:pPr marL="0" indent="0" algn="ctr">
              <a:buNone/>
            </a:pPr>
            <a:r>
              <a:rPr lang="en-US" sz="800" b="1" dirty="0">
                <a:solidFill>
                  <a:srgbClr val="475569"/>
                </a:solidFill>
                <a:latin typeface="Segoe UI" pitchFamily="34" charset="0"/>
                <a:ea typeface="Segoe UI" pitchFamily="34" charset="-122"/>
                <a:cs typeface="Segoe UI" pitchFamily="34" charset="-120"/>
              </a:rPr>
              <a:t>STAGE 06</a:t>
            </a:r>
            <a:endParaRPr lang="en-US" sz="800" dirty="0"/>
          </a:p>
        </p:txBody>
      </p:sp>
      <p:sp>
        <p:nvSpPr>
          <p:cNvPr id="55" name="Text 53"/>
          <p:cNvSpPr/>
          <p:nvPr/>
        </p:nvSpPr>
        <p:spPr>
          <a:xfrm>
            <a:off x="9921240" y="2258568"/>
            <a:ext cx="1389888" cy="411480"/>
          </a:xfrm>
          <a:prstGeom prst="rect">
            <a:avLst/>
          </a:prstGeom>
          <a:noFill/>
          <a:ln/>
        </p:spPr>
        <p:txBody>
          <a:bodyPr wrap="square" lIns="0" tIns="0" rIns="0" bIns="0" rtlCol="0" anchor="t"/>
          <a:lstStyle/>
          <a:p>
            <a:pPr marL="0" indent="0">
              <a:lnSpc>
                <a:spcPts val="1400"/>
              </a:lnSpc>
              <a:buNone/>
            </a:pPr>
            <a:r>
              <a:rPr lang="en-US" sz="1150" b="1" dirty="0">
                <a:solidFill>
                  <a:srgbClr val="0F172A"/>
                </a:solidFill>
                <a:latin typeface="Segoe UI" pitchFamily="34" charset="0"/>
                <a:ea typeface="Segoe UI" pitchFamily="34" charset="-122"/>
                <a:cs typeface="Segoe UI" pitchFamily="34" charset="-120"/>
              </a:rPr>
              <a:t>Grounded Narration</a:t>
            </a:r>
            <a:endParaRPr lang="en-US" sz="1150" dirty="0"/>
          </a:p>
        </p:txBody>
      </p:sp>
      <p:sp>
        <p:nvSpPr>
          <p:cNvPr id="56" name="Text 54"/>
          <p:cNvSpPr/>
          <p:nvPr/>
        </p:nvSpPr>
        <p:spPr>
          <a:xfrm>
            <a:off x="9921240" y="2743200"/>
            <a:ext cx="1389888" cy="1325880"/>
          </a:xfrm>
          <a:prstGeom prst="rect">
            <a:avLst/>
          </a:prstGeom>
          <a:noFill/>
          <a:ln/>
        </p:spPr>
        <p:txBody>
          <a:bodyPr wrap="square" lIns="0" tIns="0" rIns="0" bIns="0" rtlCol="0" anchor="t"/>
          <a:lstStyle/>
          <a:p>
            <a:pPr marL="0" indent="0">
              <a:lnSpc>
                <a:spcPts val="1250"/>
              </a:lnSpc>
              <a:buNone/>
            </a:pPr>
            <a:r>
              <a:rPr lang="en-US" sz="880" dirty="0">
                <a:solidFill>
                  <a:srgbClr val="334155"/>
                </a:solidFill>
                <a:latin typeface="Segoe UI" pitchFamily="34" charset="0"/>
                <a:ea typeface="Segoe UI" pitchFamily="34" charset="-122"/>
                <a:cs typeface="Segoe UI" pitchFamily="34" charset="-120"/>
              </a:rPr>
              <a:t>LLM translates structured Evidence IDs into plain English and presents one-click remediation actions.</a:t>
            </a:r>
            <a:endParaRPr lang="en-US" sz="880" dirty="0"/>
          </a:p>
        </p:txBody>
      </p:sp>
      <p:sp>
        <p:nvSpPr>
          <p:cNvPr id="57" name="Shape 55"/>
          <p:cNvSpPr/>
          <p:nvPr/>
        </p:nvSpPr>
        <p:spPr>
          <a:xfrm>
            <a:off x="9921240" y="4343400"/>
            <a:ext cx="1389888" cy="347472"/>
          </a:xfrm>
          <a:prstGeom prst="roundRect">
            <a:avLst>
              <a:gd name="adj" fmla="val 13158"/>
            </a:avLst>
          </a:prstGeom>
          <a:solidFill>
            <a:srgbClr val="F8FAFC"/>
          </a:solidFill>
          <a:ln w="10160">
            <a:solidFill>
              <a:srgbClr val="E2E8F0"/>
            </a:solidFill>
            <a:prstDash val="solid"/>
          </a:ln>
        </p:spPr>
        <p:txBody>
          <a:bodyPr/>
          <a:lstStyle/>
          <a:p>
            <a:endParaRPr lang="en-US"/>
          </a:p>
        </p:txBody>
      </p:sp>
      <p:sp>
        <p:nvSpPr>
          <p:cNvPr id="58" name="Text 56"/>
          <p:cNvSpPr/>
          <p:nvPr/>
        </p:nvSpPr>
        <p:spPr>
          <a:xfrm>
            <a:off x="9921240" y="4343400"/>
            <a:ext cx="1389888" cy="347472"/>
          </a:xfrm>
          <a:prstGeom prst="rect">
            <a:avLst/>
          </a:prstGeom>
          <a:noFill/>
          <a:ln/>
        </p:spPr>
        <p:txBody>
          <a:bodyPr wrap="square" lIns="0" tIns="0" rIns="0" bIns="0" rtlCol="0" anchor="ctr"/>
          <a:lstStyle/>
          <a:p>
            <a:pPr marL="0" indent="0" algn="ctr">
              <a:buNone/>
            </a:pPr>
            <a:r>
              <a:rPr lang="en-US" sz="750" b="1" dirty="0">
                <a:solidFill>
                  <a:srgbClr val="64748B"/>
                </a:solidFill>
                <a:latin typeface="Consolas" pitchFamily="34" charset="0"/>
                <a:ea typeface="Consolas" pitchFamily="34" charset="-122"/>
                <a:cs typeface="Consolas" pitchFamily="34" charset="-120"/>
              </a:rPr>
              <a:t>Inspect / Revoke / Cap</a:t>
            </a:r>
            <a:endParaRPr lang="en-US" sz="750" dirty="0"/>
          </a:p>
        </p:txBody>
      </p:sp>
      <p:sp>
        <p:nvSpPr>
          <p:cNvPr id="59" name="Shape 57"/>
          <p:cNvSpPr/>
          <p:nvPr/>
        </p:nvSpPr>
        <p:spPr>
          <a:xfrm>
            <a:off x="731520" y="5074920"/>
            <a:ext cx="10744200" cy="1143000"/>
          </a:xfrm>
          <a:prstGeom prst="roundRect">
            <a:avLst>
              <a:gd name="adj" fmla="val 6400"/>
            </a:avLst>
          </a:prstGeom>
          <a:solidFill>
            <a:srgbClr val="FFFFFF"/>
          </a:solidFill>
          <a:ln w="12700">
            <a:solidFill>
              <a:srgbClr val="E2E8F0"/>
            </a:solidFill>
            <a:prstDash val="solid"/>
          </a:ln>
        </p:spPr>
        <p:txBody>
          <a:bodyPr/>
          <a:lstStyle/>
          <a:p>
            <a:endParaRPr lang="en-US"/>
          </a:p>
        </p:txBody>
      </p:sp>
      <p:sp>
        <p:nvSpPr>
          <p:cNvPr id="60" name="Shape 58"/>
          <p:cNvSpPr/>
          <p:nvPr/>
        </p:nvSpPr>
        <p:spPr>
          <a:xfrm>
            <a:off x="749808" y="5093208"/>
            <a:ext cx="10707624" cy="45720"/>
          </a:xfrm>
          <a:prstGeom prst="roundRect">
            <a:avLst>
              <a:gd name="adj" fmla="val 40000"/>
            </a:avLst>
          </a:prstGeom>
          <a:solidFill>
            <a:srgbClr val="10B981"/>
          </a:solidFill>
          <a:ln w="12700">
            <a:solidFill>
              <a:srgbClr val="10B981"/>
            </a:solidFill>
            <a:prstDash val="solid"/>
          </a:ln>
        </p:spPr>
        <p:txBody>
          <a:bodyPr/>
          <a:lstStyle/>
          <a:p>
            <a:endParaRPr lang="en-US"/>
          </a:p>
        </p:txBody>
      </p:sp>
      <p:sp>
        <p:nvSpPr>
          <p:cNvPr id="61" name="Text 59"/>
          <p:cNvSpPr/>
          <p:nvPr/>
        </p:nvSpPr>
        <p:spPr>
          <a:xfrm>
            <a:off x="960120" y="5193792"/>
            <a:ext cx="10241280" cy="201168"/>
          </a:xfrm>
          <a:prstGeom prst="rect">
            <a:avLst/>
          </a:prstGeom>
          <a:noFill/>
          <a:ln/>
        </p:spPr>
        <p:txBody>
          <a:bodyPr wrap="square" lIns="0" tIns="0" rIns="0" bIns="0" rtlCol="0" anchor="ctr"/>
          <a:lstStyle/>
          <a:p>
            <a:pPr marL="0" indent="0">
              <a:buNone/>
            </a:pPr>
            <a:r>
              <a:rPr lang="en-US" sz="900" b="1" dirty="0">
                <a:solidFill>
                  <a:srgbClr val="065F46"/>
                </a:solidFill>
                <a:latin typeface="Segoe UI" pitchFamily="34" charset="0"/>
                <a:ea typeface="Segoe UI" pitchFamily="34" charset="-122"/>
                <a:cs typeface="Segoe UI" pitchFamily="34" charset="-120"/>
              </a:rPr>
              <a:t>REAL-WORLD EXECUTION TRACE: THE 3-SECOND INVESTIGATION</a:t>
            </a:r>
            <a:endParaRPr lang="en-US" sz="900" dirty="0"/>
          </a:p>
        </p:txBody>
      </p:sp>
      <p:sp>
        <p:nvSpPr>
          <p:cNvPr id="62" name="Text 60"/>
          <p:cNvSpPr/>
          <p:nvPr/>
        </p:nvSpPr>
        <p:spPr>
          <a:xfrm>
            <a:off x="960120" y="5413248"/>
            <a:ext cx="10241280" cy="685800"/>
          </a:xfrm>
          <a:prstGeom prst="rect">
            <a:avLst/>
          </a:prstGeom>
          <a:noFill/>
          <a:ln/>
        </p:spPr>
        <p:txBody>
          <a:bodyPr wrap="square" lIns="0" tIns="0" rIns="0" bIns="0" rtlCol="0" anchor="t"/>
          <a:lstStyle/>
          <a:p>
            <a:pPr marL="0" indent="0">
              <a:lnSpc>
                <a:spcPts val="1300"/>
              </a:lnSpc>
              <a:buNone/>
            </a:pPr>
            <a:r>
              <a:rPr lang="en-US" sz="880" dirty="0">
                <a:solidFill>
                  <a:srgbClr val="334155"/>
                </a:solidFill>
                <a:latin typeface="Segoe UI" pitchFamily="34" charset="0"/>
                <a:ea typeface="Segoe UI" pitchFamily="34" charset="-122"/>
                <a:cs typeface="Segoe UI" pitchFamily="34" charset="-120"/>
              </a:rPr>
              <a:t>A Forta bot alerts: 'Unverified approval to 0x7A21...' → Sentinel intercepts alert → queries RPC state storage: confirms active allowance and wallet holds $2,840 USDC → checks proxy bytecode: identifies EIP-1967 proxy with single-key admin 0xABC9 rotated 48h ago with 0 timelock → calculates blast radius: $2,840 USDC (100% of liquid balance) → generates Evidence Log → LLM outputs 3-sentence grounded explanation → user clicks 'Set $50 Cap' before transaction broadcast.</a:t>
            </a:r>
            <a:endParaRPr lang="en-US" sz="880" dirty="0"/>
          </a:p>
        </p:txBody>
      </p:sp>
      <p:sp>
        <p:nvSpPr>
          <p:cNvPr id="63" name="Shape 61"/>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64" name="Text 62"/>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65" name="Text 63"/>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10 of 16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4206240" cy="256032"/>
          </a:xfrm>
          <a:prstGeom prst="roundRect">
            <a:avLst>
              <a:gd name="adj" fmla="val 50000"/>
            </a:avLst>
          </a:prstGeom>
          <a:solidFill>
            <a:srgbClr val="EEF2FF"/>
          </a:solidFill>
          <a:ln w="12700">
            <a:solidFill>
              <a:srgbClr val="C7D2FE"/>
            </a:solidFill>
            <a:prstDash val="solid"/>
          </a:ln>
        </p:spPr>
        <p:txBody>
          <a:bodyPr/>
          <a:lstStyle/>
          <a:p>
            <a:endParaRPr lang="en-US"/>
          </a:p>
        </p:txBody>
      </p:sp>
      <p:sp>
        <p:nvSpPr>
          <p:cNvPr id="3" name="Text 1"/>
          <p:cNvSpPr/>
          <p:nvPr/>
        </p:nvSpPr>
        <p:spPr>
          <a:xfrm>
            <a:off x="731520" y="384048"/>
            <a:ext cx="4206240" cy="256032"/>
          </a:xfrm>
          <a:prstGeom prst="rect">
            <a:avLst/>
          </a:prstGeom>
          <a:noFill/>
          <a:ln/>
        </p:spPr>
        <p:txBody>
          <a:bodyPr wrap="square" lIns="0" tIns="0" rIns="0" bIns="0" rtlCol="0" anchor="ctr"/>
          <a:lstStyle/>
          <a:p>
            <a:pPr marL="0" indent="0" algn="ctr">
              <a:buNone/>
            </a:pPr>
            <a:r>
              <a:rPr lang="en-US" sz="850" b="1" dirty="0">
                <a:solidFill>
                  <a:srgbClr val="4338CA"/>
                </a:solidFill>
                <a:latin typeface="Segoe UI" pitchFamily="34" charset="0"/>
                <a:ea typeface="Segoe UI" pitchFamily="34" charset="-122"/>
                <a:cs typeface="Segoe UI" pitchFamily="34" charset="-120"/>
              </a:rPr>
              <a:t>MULTIPLI INTEGRATION // ECOSYSTEM IMPACT</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Empowering the Multipli ecosystem with native evidence</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How Sentinel accelerates trust, institutional adoption, and security across Multipli.</a:t>
            </a:r>
            <a:endParaRPr lang="en-US" sz="1150" dirty="0"/>
          </a:p>
        </p:txBody>
      </p:sp>
      <p:sp>
        <p:nvSpPr>
          <p:cNvPr id="6" name="Shape 4"/>
          <p:cNvSpPr/>
          <p:nvPr/>
        </p:nvSpPr>
        <p:spPr>
          <a:xfrm>
            <a:off x="731520" y="1691640"/>
            <a:ext cx="5257800" cy="2103120"/>
          </a:xfrm>
          <a:prstGeom prst="roundRect">
            <a:avLst>
              <a:gd name="adj" fmla="val 3478"/>
            </a:avLst>
          </a:prstGeom>
          <a:solidFill>
            <a:srgbClr val="FFFFFF"/>
          </a:solidFill>
          <a:ln w="12700">
            <a:solidFill>
              <a:srgbClr val="E2E8F0"/>
            </a:solidFill>
            <a:prstDash val="solid"/>
          </a:ln>
        </p:spPr>
        <p:txBody>
          <a:bodyPr/>
          <a:lstStyle/>
          <a:p>
            <a:endParaRPr lang="en-US"/>
          </a:p>
        </p:txBody>
      </p:sp>
      <p:sp>
        <p:nvSpPr>
          <p:cNvPr id="7" name="Shape 5"/>
          <p:cNvSpPr/>
          <p:nvPr/>
        </p:nvSpPr>
        <p:spPr>
          <a:xfrm>
            <a:off x="749808" y="1709928"/>
            <a:ext cx="5221224" cy="45720"/>
          </a:xfrm>
          <a:prstGeom prst="roundRect">
            <a:avLst>
              <a:gd name="adj" fmla="val 40000"/>
            </a:avLst>
          </a:prstGeom>
          <a:solidFill>
            <a:srgbClr val="10B981"/>
          </a:solidFill>
          <a:ln w="12700">
            <a:solidFill>
              <a:srgbClr val="10B981"/>
            </a:solidFill>
            <a:prstDash val="solid"/>
          </a:ln>
        </p:spPr>
        <p:txBody>
          <a:bodyPr/>
          <a:lstStyle/>
          <a:p>
            <a:endParaRPr lang="en-US"/>
          </a:p>
        </p:txBody>
      </p:sp>
      <p:sp>
        <p:nvSpPr>
          <p:cNvPr id="8" name="Shape 6"/>
          <p:cNvSpPr/>
          <p:nvPr/>
        </p:nvSpPr>
        <p:spPr>
          <a:xfrm>
            <a:off x="960120" y="1892808"/>
            <a:ext cx="1229868" cy="219456"/>
          </a:xfrm>
          <a:prstGeom prst="roundRect">
            <a:avLst>
              <a:gd name="adj" fmla="val 50000"/>
            </a:avLst>
          </a:prstGeom>
          <a:solidFill>
            <a:srgbClr val="ECFDF5"/>
          </a:solidFill>
          <a:ln w="10160">
            <a:solidFill>
              <a:srgbClr val="A7F3D0"/>
            </a:solidFill>
            <a:prstDash val="solid"/>
          </a:ln>
        </p:spPr>
        <p:txBody>
          <a:bodyPr/>
          <a:lstStyle/>
          <a:p>
            <a:endParaRPr lang="en-US"/>
          </a:p>
        </p:txBody>
      </p:sp>
      <p:sp>
        <p:nvSpPr>
          <p:cNvPr id="9" name="Text 7"/>
          <p:cNvSpPr/>
          <p:nvPr/>
        </p:nvSpPr>
        <p:spPr>
          <a:xfrm>
            <a:off x="960120" y="1892808"/>
            <a:ext cx="1229868" cy="219456"/>
          </a:xfrm>
          <a:prstGeom prst="rect">
            <a:avLst/>
          </a:prstGeom>
          <a:noFill/>
          <a:ln/>
        </p:spPr>
        <p:txBody>
          <a:bodyPr wrap="square" lIns="0" tIns="0" rIns="0" bIns="0" rtlCol="0" anchor="ctr"/>
          <a:lstStyle/>
          <a:p>
            <a:pPr marL="0" indent="0" algn="ctr">
              <a:buNone/>
            </a:pPr>
            <a:r>
              <a:rPr lang="en-US" sz="800" b="1" dirty="0">
                <a:solidFill>
                  <a:srgbClr val="065F46"/>
                </a:solidFill>
                <a:latin typeface="Segoe UI" pitchFamily="34" charset="0"/>
                <a:ea typeface="Segoe UI" pitchFamily="34" charset="-122"/>
                <a:cs typeface="Segoe UI" pitchFamily="34" charset="-120"/>
              </a:rPr>
              <a:t>CROSS-CHAIN</a:t>
            </a:r>
            <a:endParaRPr lang="en-US" sz="800" dirty="0"/>
          </a:p>
        </p:txBody>
      </p:sp>
      <p:sp>
        <p:nvSpPr>
          <p:cNvPr id="10" name="Text 8"/>
          <p:cNvSpPr/>
          <p:nvPr/>
        </p:nvSpPr>
        <p:spPr>
          <a:xfrm>
            <a:off x="960120" y="2194560"/>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01  Cross-Chain Reputation Synchronization</a:t>
            </a:r>
            <a:endParaRPr lang="en-US" sz="1300" dirty="0"/>
          </a:p>
        </p:txBody>
      </p:sp>
      <p:sp>
        <p:nvSpPr>
          <p:cNvPr id="11" name="Text 9"/>
          <p:cNvSpPr/>
          <p:nvPr/>
        </p:nvSpPr>
        <p:spPr>
          <a:xfrm>
            <a:off x="960120" y="2532888"/>
            <a:ext cx="4800600" cy="777240"/>
          </a:xfrm>
          <a:prstGeom prst="rect">
            <a:avLst/>
          </a:prstGeom>
          <a:noFill/>
          <a:ln/>
        </p:spPr>
        <p:txBody>
          <a:bodyPr wrap="square" lIns="0" tIns="0" rIns="0" bIns="0" rtlCol="0" anchor="t"/>
          <a:lstStyle/>
          <a:p>
            <a:pPr marL="0" indent="0">
              <a:lnSpc>
                <a:spcPts val="1350"/>
              </a:lnSpc>
              <a:buNone/>
            </a:pPr>
            <a:r>
              <a:rPr lang="en-US" sz="920" dirty="0">
                <a:solidFill>
                  <a:srgbClr val="334155"/>
                </a:solidFill>
                <a:latin typeface="Segoe UI" pitchFamily="34" charset="0"/>
                <a:ea typeface="Segoe UI" pitchFamily="34" charset="-122"/>
                <a:cs typeface="Segoe UI" pitchFamily="34" charset="-120"/>
              </a:rPr>
              <a:t>Multipli's multi-chain architecture requires unified reputation. Sentinel aggregates contract and wallet provenance across Ethereum, Arbitrum, Base, and Multipli — preventing bad actors from migrating cleanly to Multipli after exploits elsewhere.</a:t>
            </a:r>
            <a:endParaRPr lang="en-US" sz="920" dirty="0"/>
          </a:p>
        </p:txBody>
      </p:sp>
      <p:sp>
        <p:nvSpPr>
          <p:cNvPr id="12" name="Shape 10"/>
          <p:cNvSpPr/>
          <p:nvPr/>
        </p:nvSpPr>
        <p:spPr>
          <a:xfrm>
            <a:off x="960120" y="3355848"/>
            <a:ext cx="4800600" cy="329184"/>
          </a:xfrm>
          <a:prstGeom prst="roundRect">
            <a:avLst>
              <a:gd name="adj" fmla="val 13889"/>
            </a:avLst>
          </a:prstGeom>
          <a:solidFill>
            <a:srgbClr val="F8FAFC"/>
          </a:solidFill>
          <a:ln w="10160">
            <a:solidFill>
              <a:srgbClr val="E2E8F0"/>
            </a:solidFill>
            <a:prstDash val="solid"/>
          </a:ln>
        </p:spPr>
        <p:txBody>
          <a:bodyPr/>
          <a:lstStyle/>
          <a:p>
            <a:endParaRPr lang="en-US"/>
          </a:p>
        </p:txBody>
      </p:sp>
      <p:sp>
        <p:nvSpPr>
          <p:cNvPr id="13" name="Text 11"/>
          <p:cNvSpPr/>
          <p:nvPr/>
        </p:nvSpPr>
        <p:spPr>
          <a:xfrm>
            <a:off x="1051560" y="3355848"/>
            <a:ext cx="4617720" cy="329184"/>
          </a:xfrm>
          <a:prstGeom prst="rect">
            <a:avLst/>
          </a:prstGeom>
          <a:noFill/>
          <a:ln/>
        </p:spPr>
        <p:txBody>
          <a:bodyPr wrap="square" lIns="0" tIns="0" rIns="0" bIns="0" rtlCol="0" anchor="ctr"/>
          <a:lstStyle/>
          <a:p>
            <a:pPr marL="0" indent="0">
              <a:buNone/>
            </a:pPr>
            <a:r>
              <a:rPr lang="en-US" sz="820" b="1" dirty="0">
                <a:solidFill>
                  <a:srgbClr val="10B981"/>
                </a:solidFill>
                <a:latin typeface="Segoe UI" pitchFamily="34" charset="0"/>
                <a:ea typeface="Segoe UI" pitchFamily="34" charset="-122"/>
                <a:cs typeface="Segoe UI" pitchFamily="34" charset="-120"/>
              </a:rPr>
              <a:t>Key Multipli Value: Stops serial exploiters from hopping chains.</a:t>
            </a:r>
            <a:endParaRPr lang="en-US" sz="820" dirty="0"/>
          </a:p>
        </p:txBody>
      </p:sp>
      <p:sp>
        <p:nvSpPr>
          <p:cNvPr id="14" name="Shape 12"/>
          <p:cNvSpPr/>
          <p:nvPr/>
        </p:nvSpPr>
        <p:spPr>
          <a:xfrm>
            <a:off x="6172200" y="1691640"/>
            <a:ext cx="5257800" cy="2103120"/>
          </a:xfrm>
          <a:prstGeom prst="roundRect">
            <a:avLst>
              <a:gd name="adj" fmla="val 3478"/>
            </a:avLst>
          </a:prstGeom>
          <a:solidFill>
            <a:srgbClr val="FFFFFF"/>
          </a:solidFill>
          <a:ln w="12700">
            <a:solidFill>
              <a:srgbClr val="E2E8F0"/>
            </a:solidFill>
            <a:prstDash val="solid"/>
          </a:ln>
        </p:spPr>
        <p:txBody>
          <a:bodyPr/>
          <a:lstStyle/>
          <a:p>
            <a:endParaRPr lang="en-US"/>
          </a:p>
        </p:txBody>
      </p:sp>
      <p:sp>
        <p:nvSpPr>
          <p:cNvPr id="15" name="Shape 13"/>
          <p:cNvSpPr/>
          <p:nvPr/>
        </p:nvSpPr>
        <p:spPr>
          <a:xfrm>
            <a:off x="6190488" y="1709928"/>
            <a:ext cx="522122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16" name="Shape 14"/>
          <p:cNvSpPr/>
          <p:nvPr/>
        </p:nvSpPr>
        <p:spPr>
          <a:xfrm>
            <a:off x="6400800" y="1892808"/>
            <a:ext cx="1837944"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17" name="Text 15"/>
          <p:cNvSpPr/>
          <p:nvPr/>
        </p:nvSpPr>
        <p:spPr>
          <a:xfrm>
            <a:off x="6400800" y="1892808"/>
            <a:ext cx="1837944"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INSTITUTIONAL DEFI</a:t>
            </a:r>
            <a:endParaRPr lang="en-US" sz="800" dirty="0"/>
          </a:p>
        </p:txBody>
      </p:sp>
      <p:sp>
        <p:nvSpPr>
          <p:cNvPr id="18" name="Text 16"/>
          <p:cNvSpPr/>
          <p:nvPr/>
        </p:nvSpPr>
        <p:spPr>
          <a:xfrm>
            <a:off x="6400800" y="2194560"/>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02  Institutional DeFi Yield Guard</a:t>
            </a:r>
            <a:endParaRPr lang="en-US" sz="1300" dirty="0"/>
          </a:p>
        </p:txBody>
      </p:sp>
      <p:sp>
        <p:nvSpPr>
          <p:cNvPr id="19" name="Text 17"/>
          <p:cNvSpPr/>
          <p:nvPr/>
        </p:nvSpPr>
        <p:spPr>
          <a:xfrm>
            <a:off x="6400800" y="2532888"/>
            <a:ext cx="4800600" cy="777240"/>
          </a:xfrm>
          <a:prstGeom prst="rect">
            <a:avLst/>
          </a:prstGeom>
          <a:noFill/>
          <a:ln/>
        </p:spPr>
        <p:txBody>
          <a:bodyPr wrap="square" lIns="0" tIns="0" rIns="0" bIns="0" rtlCol="0" anchor="t"/>
          <a:lstStyle/>
          <a:p>
            <a:pPr marL="0" indent="0">
              <a:lnSpc>
                <a:spcPts val="1350"/>
              </a:lnSpc>
              <a:buNone/>
            </a:pPr>
            <a:r>
              <a:rPr lang="en-US" sz="920" dirty="0">
                <a:solidFill>
                  <a:srgbClr val="334155"/>
                </a:solidFill>
                <a:latin typeface="Segoe UI" pitchFamily="34" charset="0"/>
                <a:ea typeface="Segoe UI" pitchFamily="34" charset="-122"/>
                <a:cs typeface="Segoe UI" pitchFamily="34" charset="-120"/>
              </a:rPr>
              <a:t>Institutions depositing into Multipli yield vaults and liquid staking protocols require strict exposure audits. Sentinel provides real-time blast-radius audits, verifying that underlying strategy contracts have immutable proxies and enforced timelocks.</a:t>
            </a:r>
            <a:endParaRPr lang="en-US" sz="920" dirty="0"/>
          </a:p>
        </p:txBody>
      </p:sp>
      <p:sp>
        <p:nvSpPr>
          <p:cNvPr id="20" name="Shape 18"/>
          <p:cNvSpPr/>
          <p:nvPr/>
        </p:nvSpPr>
        <p:spPr>
          <a:xfrm>
            <a:off x="6400800" y="3355848"/>
            <a:ext cx="4800600" cy="329184"/>
          </a:xfrm>
          <a:prstGeom prst="roundRect">
            <a:avLst>
              <a:gd name="adj" fmla="val 13889"/>
            </a:avLst>
          </a:prstGeom>
          <a:solidFill>
            <a:srgbClr val="F8FAFC"/>
          </a:solidFill>
          <a:ln w="10160">
            <a:solidFill>
              <a:srgbClr val="E2E8F0"/>
            </a:solidFill>
            <a:prstDash val="solid"/>
          </a:ln>
        </p:spPr>
        <p:txBody>
          <a:bodyPr/>
          <a:lstStyle/>
          <a:p>
            <a:endParaRPr lang="en-US"/>
          </a:p>
        </p:txBody>
      </p:sp>
      <p:sp>
        <p:nvSpPr>
          <p:cNvPr id="21" name="Text 19"/>
          <p:cNvSpPr/>
          <p:nvPr/>
        </p:nvSpPr>
        <p:spPr>
          <a:xfrm>
            <a:off x="6492240" y="3355848"/>
            <a:ext cx="4617720" cy="329184"/>
          </a:xfrm>
          <a:prstGeom prst="rect">
            <a:avLst/>
          </a:prstGeom>
          <a:noFill/>
          <a:ln/>
        </p:spPr>
        <p:txBody>
          <a:bodyPr wrap="square" lIns="0" tIns="0" rIns="0" bIns="0" rtlCol="0" anchor="ctr"/>
          <a:lstStyle/>
          <a:p>
            <a:pPr marL="0" indent="0">
              <a:buNone/>
            </a:pPr>
            <a:r>
              <a:rPr lang="en-US" sz="820" b="1" dirty="0">
                <a:solidFill>
                  <a:srgbClr val="6366F1"/>
                </a:solidFill>
                <a:latin typeface="Segoe UI" pitchFamily="34" charset="0"/>
                <a:ea typeface="Segoe UI" pitchFamily="34" charset="-122"/>
                <a:cs typeface="Segoe UI" pitchFamily="34" charset="-120"/>
              </a:rPr>
              <a:t>Key Multipli Value: Gives institutional LPs verifiable security guarantees.</a:t>
            </a:r>
            <a:endParaRPr lang="en-US" sz="820" dirty="0"/>
          </a:p>
        </p:txBody>
      </p:sp>
      <p:sp>
        <p:nvSpPr>
          <p:cNvPr id="22" name="Shape 20"/>
          <p:cNvSpPr/>
          <p:nvPr/>
        </p:nvSpPr>
        <p:spPr>
          <a:xfrm>
            <a:off x="731520" y="3931920"/>
            <a:ext cx="5257800" cy="2103120"/>
          </a:xfrm>
          <a:prstGeom prst="roundRect">
            <a:avLst>
              <a:gd name="adj" fmla="val 3478"/>
            </a:avLst>
          </a:prstGeom>
          <a:solidFill>
            <a:srgbClr val="FFFFFF"/>
          </a:solidFill>
          <a:ln w="12700">
            <a:solidFill>
              <a:srgbClr val="E2E8F0"/>
            </a:solidFill>
            <a:prstDash val="solid"/>
          </a:ln>
        </p:spPr>
        <p:txBody>
          <a:bodyPr/>
          <a:lstStyle/>
          <a:p>
            <a:endParaRPr lang="en-US"/>
          </a:p>
        </p:txBody>
      </p:sp>
      <p:sp>
        <p:nvSpPr>
          <p:cNvPr id="23" name="Shape 21"/>
          <p:cNvSpPr/>
          <p:nvPr/>
        </p:nvSpPr>
        <p:spPr>
          <a:xfrm>
            <a:off x="749808" y="3950208"/>
            <a:ext cx="5221224" cy="45720"/>
          </a:xfrm>
          <a:prstGeom prst="roundRect">
            <a:avLst>
              <a:gd name="adj" fmla="val 40000"/>
            </a:avLst>
          </a:prstGeom>
          <a:solidFill>
            <a:srgbClr val="F59E0B"/>
          </a:solidFill>
          <a:ln w="12700">
            <a:solidFill>
              <a:srgbClr val="F59E0B"/>
            </a:solidFill>
            <a:prstDash val="solid"/>
          </a:ln>
        </p:spPr>
        <p:txBody>
          <a:bodyPr/>
          <a:lstStyle/>
          <a:p>
            <a:endParaRPr lang="en-US"/>
          </a:p>
        </p:txBody>
      </p:sp>
      <p:sp>
        <p:nvSpPr>
          <p:cNvPr id="24" name="Shape 22"/>
          <p:cNvSpPr/>
          <p:nvPr/>
        </p:nvSpPr>
        <p:spPr>
          <a:xfrm>
            <a:off x="960120" y="4133088"/>
            <a:ext cx="1751076" cy="219456"/>
          </a:xfrm>
          <a:prstGeom prst="roundRect">
            <a:avLst>
              <a:gd name="adj" fmla="val 50000"/>
            </a:avLst>
          </a:prstGeom>
          <a:solidFill>
            <a:srgbClr val="FFFBEB"/>
          </a:solidFill>
          <a:ln w="10160">
            <a:solidFill>
              <a:srgbClr val="FDE68A"/>
            </a:solidFill>
            <a:prstDash val="solid"/>
          </a:ln>
        </p:spPr>
        <p:txBody>
          <a:bodyPr/>
          <a:lstStyle/>
          <a:p>
            <a:endParaRPr lang="en-US"/>
          </a:p>
        </p:txBody>
      </p:sp>
      <p:sp>
        <p:nvSpPr>
          <p:cNvPr id="25" name="Text 23"/>
          <p:cNvSpPr/>
          <p:nvPr/>
        </p:nvSpPr>
        <p:spPr>
          <a:xfrm>
            <a:off x="960120" y="4133088"/>
            <a:ext cx="1751076" cy="219456"/>
          </a:xfrm>
          <a:prstGeom prst="rect">
            <a:avLst/>
          </a:prstGeom>
          <a:noFill/>
          <a:ln/>
        </p:spPr>
        <p:txBody>
          <a:bodyPr wrap="square" lIns="0" tIns="0" rIns="0" bIns="0" rtlCol="0" anchor="ctr"/>
          <a:lstStyle/>
          <a:p>
            <a:pPr marL="0" indent="0" algn="ctr">
              <a:buNone/>
            </a:pPr>
            <a:r>
              <a:rPr lang="en-US" sz="800" b="1" dirty="0">
                <a:solidFill>
                  <a:srgbClr val="92400E"/>
                </a:solidFill>
                <a:latin typeface="Segoe UI" pitchFamily="34" charset="0"/>
                <a:ea typeface="Segoe UI" pitchFamily="34" charset="-122"/>
                <a:cs typeface="Segoe UI" pitchFamily="34" charset="-120"/>
              </a:rPr>
              <a:t>DEVELOPER TOOLING</a:t>
            </a:r>
            <a:endParaRPr lang="en-US" sz="800" dirty="0"/>
          </a:p>
        </p:txBody>
      </p:sp>
      <p:sp>
        <p:nvSpPr>
          <p:cNvPr id="26" name="Text 24"/>
          <p:cNvSpPr/>
          <p:nvPr/>
        </p:nvSpPr>
        <p:spPr>
          <a:xfrm>
            <a:off x="960120" y="4434840"/>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03  Autonomous Protocol Attestation</a:t>
            </a:r>
            <a:endParaRPr lang="en-US" sz="1300" dirty="0"/>
          </a:p>
        </p:txBody>
      </p:sp>
      <p:sp>
        <p:nvSpPr>
          <p:cNvPr id="27" name="Text 25"/>
          <p:cNvSpPr/>
          <p:nvPr/>
        </p:nvSpPr>
        <p:spPr>
          <a:xfrm>
            <a:off x="960120" y="4773168"/>
            <a:ext cx="4800600" cy="777240"/>
          </a:xfrm>
          <a:prstGeom prst="rect">
            <a:avLst/>
          </a:prstGeom>
          <a:noFill/>
          <a:ln/>
        </p:spPr>
        <p:txBody>
          <a:bodyPr wrap="square" lIns="0" tIns="0" rIns="0" bIns="0" rtlCol="0" anchor="t"/>
          <a:lstStyle/>
          <a:p>
            <a:pPr marL="0" indent="0">
              <a:lnSpc>
                <a:spcPts val="1350"/>
              </a:lnSpc>
              <a:buNone/>
            </a:pPr>
            <a:r>
              <a:rPr lang="en-US" sz="920" dirty="0">
                <a:solidFill>
                  <a:srgbClr val="334155"/>
                </a:solidFill>
                <a:latin typeface="Segoe UI" pitchFamily="34" charset="0"/>
                <a:ea typeface="Segoe UI" pitchFamily="34" charset="-122"/>
                <a:cs typeface="Segoe UI" pitchFamily="34" charset="-120"/>
              </a:rPr>
              <a:t>When new developers deploy smart contracts on Multipli, Sentinel can autonomously run an evidence scan: verifying bytecode against verified source, checking admin multi-sig thresholds, and issuing a cryptographic attestation of transparency.</a:t>
            </a:r>
            <a:endParaRPr lang="en-US" sz="920" dirty="0"/>
          </a:p>
        </p:txBody>
      </p:sp>
      <p:sp>
        <p:nvSpPr>
          <p:cNvPr id="28" name="Shape 26"/>
          <p:cNvSpPr/>
          <p:nvPr/>
        </p:nvSpPr>
        <p:spPr>
          <a:xfrm>
            <a:off x="960120" y="5596128"/>
            <a:ext cx="4800600" cy="329184"/>
          </a:xfrm>
          <a:prstGeom prst="roundRect">
            <a:avLst>
              <a:gd name="adj" fmla="val 13889"/>
            </a:avLst>
          </a:prstGeom>
          <a:solidFill>
            <a:srgbClr val="F8FAFC"/>
          </a:solidFill>
          <a:ln w="10160">
            <a:solidFill>
              <a:srgbClr val="E2E8F0"/>
            </a:solidFill>
            <a:prstDash val="solid"/>
          </a:ln>
        </p:spPr>
        <p:txBody>
          <a:bodyPr/>
          <a:lstStyle/>
          <a:p>
            <a:endParaRPr lang="en-US"/>
          </a:p>
        </p:txBody>
      </p:sp>
      <p:sp>
        <p:nvSpPr>
          <p:cNvPr id="29" name="Text 27"/>
          <p:cNvSpPr/>
          <p:nvPr/>
        </p:nvSpPr>
        <p:spPr>
          <a:xfrm>
            <a:off x="1051560" y="5596128"/>
            <a:ext cx="4617720" cy="329184"/>
          </a:xfrm>
          <a:prstGeom prst="rect">
            <a:avLst/>
          </a:prstGeom>
          <a:noFill/>
          <a:ln/>
        </p:spPr>
        <p:txBody>
          <a:bodyPr wrap="square" lIns="0" tIns="0" rIns="0" bIns="0" rtlCol="0" anchor="ctr"/>
          <a:lstStyle/>
          <a:p>
            <a:pPr marL="0" indent="0">
              <a:buNone/>
            </a:pPr>
            <a:r>
              <a:rPr lang="en-US" sz="820" b="1" dirty="0">
                <a:solidFill>
                  <a:srgbClr val="F59E0B"/>
                </a:solidFill>
                <a:latin typeface="Segoe UI" pitchFamily="34" charset="0"/>
                <a:ea typeface="Segoe UI" pitchFamily="34" charset="-122"/>
                <a:cs typeface="Segoe UI" pitchFamily="34" charset="-120"/>
              </a:rPr>
              <a:t>Key Multipli Value: Instantly bootstraps trust for new Multipli dApps.</a:t>
            </a:r>
            <a:endParaRPr lang="en-US" sz="820" dirty="0"/>
          </a:p>
        </p:txBody>
      </p:sp>
      <p:sp>
        <p:nvSpPr>
          <p:cNvPr id="30" name="Shape 28"/>
          <p:cNvSpPr/>
          <p:nvPr/>
        </p:nvSpPr>
        <p:spPr>
          <a:xfrm>
            <a:off x="6172200" y="3931920"/>
            <a:ext cx="5257800" cy="2103120"/>
          </a:xfrm>
          <a:prstGeom prst="roundRect">
            <a:avLst>
              <a:gd name="adj" fmla="val 3478"/>
            </a:avLst>
          </a:prstGeom>
          <a:solidFill>
            <a:srgbClr val="FFFFFF"/>
          </a:solidFill>
          <a:ln w="12700">
            <a:solidFill>
              <a:srgbClr val="E2E8F0"/>
            </a:solidFill>
            <a:prstDash val="solid"/>
          </a:ln>
        </p:spPr>
        <p:txBody>
          <a:bodyPr/>
          <a:lstStyle/>
          <a:p>
            <a:endParaRPr lang="en-US"/>
          </a:p>
        </p:txBody>
      </p:sp>
      <p:sp>
        <p:nvSpPr>
          <p:cNvPr id="31" name="Shape 29"/>
          <p:cNvSpPr/>
          <p:nvPr/>
        </p:nvSpPr>
        <p:spPr>
          <a:xfrm>
            <a:off x="6190488" y="3950208"/>
            <a:ext cx="5221224" cy="45720"/>
          </a:xfrm>
          <a:prstGeom prst="roundRect">
            <a:avLst>
              <a:gd name="adj" fmla="val 40000"/>
            </a:avLst>
          </a:prstGeom>
          <a:solidFill>
            <a:srgbClr val="64748B"/>
          </a:solidFill>
          <a:ln w="12700">
            <a:solidFill>
              <a:srgbClr val="64748B"/>
            </a:solidFill>
            <a:prstDash val="solid"/>
          </a:ln>
        </p:spPr>
        <p:txBody>
          <a:bodyPr/>
          <a:lstStyle/>
          <a:p>
            <a:endParaRPr lang="en-US"/>
          </a:p>
        </p:txBody>
      </p:sp>
      <p:sp>
        <p:nvSpPr>
          <p:cNvPr id="32" name="Shape 30"/>
          <p:cNvSpPr/>
          <p:nvPr/>
        </p:nvSpPr>
        <p:spPr>
          <a:xfrm>
            <a:off x="6400800" y="4133088"/>
            <a:ext cx="1490472" cy="219456"/>
          </a:xfrm>
          <a:prstGeom prst="roundRect">
            <a:avLst>
              <a:gd name="adj" fmla="val 50000"/>
            </a:avLst>
          </a:prstGeom>
          <a:solidFill>
            <a:srgbClr val="F1F5F9"/>
          </a:solidFill>
          <a:ln w="10160">
            <a:solidFill>
              <a:srgbClr val="CBD5E1"/>
            </a:solidFill>
            <a:prstDash val="solid"/>
          </a:ln>
        </p:spPr>
        <p:txBody>
          <a:bodyPr/>
          <a:lstStyle/>
          <a:p>
            <a:endParaRPr lang="en-US"/>
          </a:p>
        </p:txBody>
      </p:sp>
      <p:sp>
        <p:nvSpPr>
          <p:cNvPr id="33" name="Text 31"/>
          <p:cNvSpPr/>
          <p:nvPr/>
        </p:nvSpPr>
        <p:spPr>
          <a:xfrm>
            <a:off x="6400800" y="4133088"/>
            <a:ext cx="1490472" cy="219456"/>
          </a:xfrm>
          <a:prstGeom prst="rect">
            <a:avLst/>
          </a:prstGeom>
          <a:noFill/>
          <a:ln/>
        </p:spPr>
        <p:txBody>
          <a:bodyPr wrap="square" lIns="0" tIns="0" rIns="0" bIns="0" rtlCol="0" anchor="ctr"/>
          <a:lstStyle/>
          <a:p>
            <a:pPr marL="0" indent="0" algn="ctr">
              <a:buNone/>
            </a:pPr>
            <a:r>
              <a:rPr lang="en-US" sz="800" b="1" dirty="0">
                <a:solidFill>
                  <a:srgbClr val="475569"/>
                </a:solidFill>
                <a:latin typeface="Segoe UI" pitchFamily="34" charset="0"/>
                <a:ea typeface="Segoe UI" pitchFamily="34" charset="-122"/>
                <a:cs typeface="Segoe UI" pitchFamily="34" charset="-120"/>
              </a:rPr>
              <a:t>COMPOSABLE SDK</a:t>
            </a:r>
            <a:endParaRPr lang="en-US" sz="800" dirty="0"/>
          </a:p>
        </p:txBody>
      </p:sp>
      <p:sp>
        <p:nvSpPr>
          <p:cNvPr id="34" name="Text 32"/>
          <p:cNvSpPr/>
          <p:nvPr/>
        </p:nvSpPr>
        <p:spPr>
          <a:xfrm>
            <a:off x="6400800" y="4434840"/>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04  Composable Security API for Multipli dApps</a:t>
            </a:r>
            <a:endParaRPr lang="en-US" sz="1300" dirty="0"/>
          </a:p>
        </p:txBody>
      </p:sp>
      <p:sp>
        <p:nvSpPr>
          <p:cNvPr id="35" name="Text 33"/>
          <p:cNvSpPr/>
          <p:nvPr/>
        </p:nvSpPr>
        <p:spPr>
          <a:xfrm>
            <a:off x="6400800" y="4773168"/>
            <a:ext cx="4800600" cy="777240"/>
          </a:xfrm>
          <a:prstGeom prst="rect">
            <a:avLst/>
          </a:prstGeom>
          <a:noFill/>
          <a:ln/>
        </p:spPr>
        <p:txBody>
          <a:bodyPr wrap="square" lIns="0" tIns="0" rIns="0" bIns="0" rtlCol="0" anchor="t"/>
          <a:lstStyle/>
          <a:p>
            <a:pPr marL="0" indent="0">
              <a:lnSpc>
                <a:spcPts val="1350"/>
              </a:lnSpc>
              <a:buNone/>
            </a:pPr>
            <a:r>
              <a:rPr lang="en-US" sz="920" dirty="0">
                <a:solidFill>
                  <a:srgbClr val="334155"/>
                </a:solidFill>
                <a:latin typeface="Segoe UI" pitchFamily="34" charset="0"/>
                <a:ea typeface="Segoe UI" pitchFamily="34" charset="-122"/>
                <a:cs typeface="Segoe UI" pitchFamily="34" charset="-120"/>
              </a:rPr>
              <a:t>Developers on Multipli can embed Sentinel Investigation Cards directly into their frontends via lightweight SDK. Instead of terrifying users with generic browser warnings, dApps can show clear, inspectable explanations of required permissions.</a:t>
            </a:r>
            <a:endParaRPr lang="en-US" sz="920" dirty="0"/>
          </a:p>
        </p:txBody>
      </p:sp>
      <p:sp>
        <p:nvSpPr>
          <p:cNvPr id="36" name="Shape 34"/>
          <p:cNvSpPr/>
          <p:nvPr/>
        </p:nvSpPr>
        <p:spPr>
          <a:xfrm>
            <a:off x="6400800" y="5596128"/>
            <a:ext cx="4800600" cy="329184"/>
          </a:xfrm>
          <a:prstGeom prst="roundRect">
            <a:avLst>
              <a:gd name="adj" fmla="val 13889"/>
            </a:avLst>
          </a:prstGeom>
          <a:solidFill>
            <a:srgbClr val="F8FAFC"/>
          </a:solidFill>
          <a:ln w="10160">
            <a:solidFill>
              <a:srgbClr val="E2E8F0"/>
            </a:solidFill>
            <a:prstDash val="solid"/>
          </a:ln>
        </p:spPr>
        <p:txBody>
          <a:bodyPr/>
          <a:lstStyle/>
          <a:p>
            <a:endParaRPr lang="en-US"/>
          </a:p>
        </p:txBody>
      </p:sp>
      <p:sp>
        <p:nvSpPr>
          <p:cNvPr id="37" name="Text 35"/>
          <p:cNvSpPr/>
          <p:nvPr/>
        </p:nvSpPr>
        <p:spPr>
          <a:xfrm>
            <a:off x="6492240" y="5596128"/>
            <a:ext cx="4617720" cy="329184"/>
          </a:xfrm>
          <a:prstGeom prst="rect">
            <a:avLst/>
          </a:prstGeom>
          <a:noFill/>
          <a:ln/>
        </p:spPr>
        <p:txBody>
          <a:bodyPr wrap="square" lIns="0" tIns="0" rIns="0" bIns="0" rtlCol="0" anchor="ctr"/>
          <a:lstStyle/>
          <a:p>
            <a:pPr marL="0" indent="0">
              <a:buNone/>
            </a:pPr>
            <a:r>
              <a:rPr lang="en-US" sz="820" b="1" dirty="0">
                <a:solidFill>
                  <a:srgbClr val="64748B"/>
                </a:solidFill>
                <a:latin typeface="Segoe UI" pitchFamily="34" charset="0"/>
                <a:ea typeface="Segoe UI" pitchFamily="34" charset="-122"/>
                <a:cs typeface="Segoe UI" pitchFamily="34" charset="-120"/>
              </a:rPr>
              <a:t>Key Multipli Value: Reduces user drop-off during onboarding and signing.</a:t>
            </a:r>
            <a:endParaRPr lang="en-US" sz="820" dirty="0"/>
          </a:p>
        </p:txBody>
      </p:sp>
      <p:sp>
        <p:nvSpPr>
          <p:cNvPr id="38" name="Shape 36"/>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39" name="Text 37"/>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40" name="Text 38"/>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12 of 16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2944368" cy="256032"/>
          </a:xfrm>
          <a:prstGeom prst="roundRect">
            <a:avLst>
              <a:gd name="adj" fmla="val 50000"/>
            </a:avLst>
          </a:prstGeom>
          <a:solidFill>
            <a:srgbClr val="EEF2FF"/>
          </a:solidFill>
          <a:ln w="12700">
            <a:solidFill>
              <a:srgbClr val="C7D2FE"/>
            </a:solidFill>
            <a:prstDash val="solid"/>
          </a:ln>
        </p:spPr>
        <p:txBody>
          <a:bodyPr/>
          <a:lstStyle/>
          <a:p>
            <a:endParaRPr lang="en-US"/>
          </a:p>
        </p:txBody>
      </p:sp>
      <p:sp>
        <p:nvSpPr>
          <p:cNvPr id="3" name="Text 1"/>
          <p:cNvSpPr/>
          <p:nvPr/>
        </p:nvSpPr>
        <p:spPr>
          <a:xfrm>
            <a:off x="731520" y="384048"/>
            <a:ext cx="2944368" cy="256032"/>
          </a:xfrm>
          <a:prstGeom prst="rect">
            <a:avLst/>
          </a:prstGeom>
          <a:noFill/>
          <a:ln/>
        </p:spPr>
        <p:txBody>
          <a:bodyPr wrap="square" lIns="0" tIns="0" rIns="0" bIns="0" rtlCol="0" anchor="ctr"/>
          <a:lstStyle/>
          <a:p>
            <a:pPr marL="0" indent="0" algn="ctr">
              <a:buNone/>
            </a:pPr>
            <a:r>
              <a:rPr lang="en-US" sz="850" b="1" dirty="0">
                <a:solidFill>
                  <a:srgbClr val="4338CA"/>
                </a:solidFill>
                <a:latin typeface="Segoe UI" pitchFamily="34" charset="0"/>
                <a:ea typeface="Segoe UI" pitchFamily="34" charset="-122"/>
                <a:cs typeface="Segoe UI" pitchFamily="34" charset="-120"/>
              </a:rPr>
              <a:t>PHILOSOPHY // PARADIGM SHIFT</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A different security UX: from fear to human agency</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Transforming the broken dynamic between security tools and Web3 users.</a:t>
            </a:r>
            <a:endParaRPr lang="en-US" sz="1150" dirty="0"/>
          </a:p>
        </p:txBody>
      </p:sp>
      <p:sp>
        <p:nvSpPr>
          <p:cNvPr id="6" name="Shape 4"/>
          <p:cNvSpPr/>
          <p:nvPr/>
        </p:nvSpPr>
        <p:spPr>
          <a:xfrm>
            <a:off x="731520" y="1691640"/>
            <a:ext cx="5257800" cy="3657600"/>
          </a:xfrm>
          <a:prstGeom prst="roundRect">
            <a:avLst>
              <a:gd name="adj" fmla="val 2000"/>
            </a:avLst>
          </a:prstGeom>
          <a:solidFill>
            <a:srgbClr val="FFFFFF"/>
          </a:solidFill>
          <a:ln w="15240">
            <a:solidFill>
              <a:srgbClr val="FECDD3"/>
            </a:solidFill>
            <a:prstDash val="solid"/>
          </a:ln>
        </p:spPr>
        <p:txBody>
          <a:bodyPr/>
          <a:lstStyle/>
          <a:p>
            <a:endParaRPr lang="en-US"/>
          </a:p>
        </p:txBody>
      </p:sp>
      <p:sp>
        <p:nvSpPr>
          <p:cNvPr id="7" name="Shape 5"/>
          <p:cNvSpPr/>
          <p:nvPr/>
        </p:nvSpPr>
        <p:spPr>
          <a:xfrm>
            <a:off x="749808" y="1709928"/>
            <a:ext cx="5221224" cy="45720"/>
          </a:xfrm>
          <a:prstGeom prst="roundRect">
            <a:avLst>
              <a:gd name="adj" fmla="val 40000"/>
            </a:avLst>
          </a:prstGeom>
          <a:solidFill>
            <a:srgbClr val="F43F5E"/>
          </a:solidFill>
          <a:ln w="12700">
            <a:solidFill>
              <a:srgbClr val="F43F5E"/>
            </a:solidFill>
            <a:prstDash val="solid"/>
          </a:ln>
        </p:spPr>
        <p:txBody>
          <a:bodyPr/>
          <a:lstStyle/>
          <a:p>
            <a:endParaRPr lang="en-US"/>
          </a:p>
        </p:txBody>
      </p:sp>
      <p:sp>
        <p:nvSpPr>
          <p:cNvPr id="8" name="Shape 6"/>
          <p:cNvSpPr/>
          <p:nvPr/>
        </p:nvSpPr>
        <p:spPr>
          <a:xfrm>
            <a:off x="960120" y="1920240"/>
            <a:ext cx="3140964" cy="219456"/>
          </a:xfrm>
          <a:prstGeom prst="roundRect">
            <a:avLst>
              <a:gd name="adj" fmla="val 50000"/>
            </a:avLst>
          </a:prstGeom>
          <a:solidFill>
            <a:srgbClr val="FFF1F2"/>
          </a:solidFill>
          <a:ln w="10160">
            <a:solidFill>
              <a:srgbClr val="FECDD3"/>
            </a:solidFill>
            <a:prstDash val="solid"/>
          </a:ln>
        </p:spPr>
        <p:txBody>
          <a:bodyPr/>
          <a:lstStyle/>
          <a:p>
            <a:endParaRPr lang="en-US"/>
          </a:p>
        </p:txBody>
      </p:sp>
      <p:sp>
        <p:nvSpPr>
          <p:cNvPr id="9" name="Text 7"/>
          <p:cNvSpPr/>
          <p:nvPr/>
        </p:nvSpPr>
        <p:spPr>
          <a:xfrm>
            <a:off x="960120" y="1920240"/>
            <a:ext cx="3140964" cy="219456"/>
          </a:xfrm>
          <a:prstGeom prst="rect">
            <a:avLst/>
          </a:prstGeom>
          <a:noFill/>
          <a:ln/>
        </p:spPr>
        <p:txBody>
          <a:bodyPr wrap="square" lIns="0" tIns="0" rIns="0" bIns="0" rtlCol="0" anchor="ctr"/>
          <a:lstStyle/>
          <a:p>
            <a:pPr marL="0" indent="0" algn="ctr">
              <a:buNone/>
            </a:pPr>
            <a:r>
              <a:rPr lang="en-US" sz="800" b="1" dirty="0">
                <a:solidFill>
                  <a:srgbClr val="9F1239"/>
                </a:solidFill>
                <a:latin typeface="Segoe UI" pitchFamily="34" charset="0"/>
                <a:ea typeface="Segoe UI" pitchFamily="34" charset="-122"/>
                <a:cs typeface="Segoe UI" pitchFamily="34" charset="-120"/>
              </a:rPr>
              <a:t>THE STATUS QUO // BROKEN DYNAMICS</a:t>
            </a:r>
            <a:endParaRPr lang="en-US" sz="800" dirty="0"/>
          </a:p>
        </p:txBody>
      </p:sp>
      <p:sp>
        <p:nvSpPr>
          <p:cNvPr id="10" name="Text 8"/>
          <p:cNvSpPr/>
          <p:nvPr/>
        </p:nvSpPr>
        <p:spPr>
          <a:xfrm>
            <a:off x="960120" y="2240280"/>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Opaque Scores, Alarm Fatigue, &amp; False Dichotomies</a:t>
            </a:r>
            <a:endParaRPr lang="en-US" sz="1300" dirty="0"/>
          </a:p>
        </p:txBody>
      </p:sp>
      <p:sp>
        <p:nvSpPr>
          <p:cNvPr id="11" name="Text 9"/>
          <p:cNvSpPr/>
          <p:nvPr/>
        </p:nvSpPr>
        <p:spPr>
          <a:xfrm>
            <a:off x="960120" y="2651760"/>
            <a:ext cx="4800600" cy="201168"/>
          </a:xfrm>
          <a:prstGeom prst="rect">
            <a:avLst/>
          </a:prstGeom>
          <a:noFill/>
          <a:ln/>
        </p:spPr>
        <p:txBody>
          <a:bodyPr wrap="square" lIns="0" tIns="0" rIns="0" bIns="0" rtlCol="0" anchor="ctr"/>
          <a:lstStyle/>
          <a:p>
            <a:pPr marL="0" indent="0">
              <a:buNone/>
            </a:pPr>
            <a:r>
              <a:rPr lang="en-US" sz="950" b="1" dirty="0">
                <a:solidFill>
                  <a:srgbClr val="9F1239"/>
                </a:solidFill>
                <a:latin typeface="Segoe UI" pitchFamily="34" charset="0"/>
                <a:ea typeface="Segoe UI" pitchFamily="34" charset="-122"/>
                <a:cs typeface="Segoe UI" pitchFamily="34" charset="-120"/>
              </a:rPr>
              <a:t>❌  Opaque 'Risk Scores' (e.g. 87/100)</a:t>
            </a:r>
            <a:endParaRPr lang="en-US" sz="950" dirty="0"/>
          </a:p>
        </p:txBody>
      </p:sp>
      <p:sp>
        <p:nvSpPr>
          <p:cNvPr id="12" name="Text 10"/>
          <p:cNvSpPr/>
          <p:nvPr/>
        </p:nvSpPr>
        <p:spPr>
          <a:xfrm>
            <a:off x="1234440" y="2852928"/>
            <a:ext cx="4526280" cy="384048"/>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Users receive arbitrary numbers without understanding what is actually measured vs what is modeled.</a:t>
            </a:r>
            <a:endParaRPr lang="en-US" sz="850" dirty="0"/>
          </a:p>
        </p:txBody>
      </p:sp>
      <p:sp>
        <p:nvSpPr>
          <p:cNvPr id="13" name="Text 11"/>
          <p:cNvSpPr/>
          <p:nvPr/>
        </p:nvSpPr>
        <p:spPr>
          <a:xfrm>
            <a:off x="960120" y="3291840"/>
            <a:ext cx="4800600" cy="201168"/>
          </a:xfrm>
          <a:prstGeom prst="rect">
            <a:avLst/>
          </a:prstGeom>
          <a:noFill/>
          <a:ln/>
        </p:spPr>
        <p:txBody>
          <a:bodyPr wrap="square" lIns="0" tIns="0" rIns="0" bIns="0" rtlCol="0" anchor="ctr"/>
          <a:lstStyle/>
          <a:p>
            <a:pPr marL="0" indent="0">
              <a:buNone/>
            </a:pPr>
            <a:r>
              <a:rPr lang="en-US" sz="950" b="1" dirty="0">
                <a:solidFill>
                  <a:srgbClr val="9F1239"/>
                </a:solidFill>
                <a:latin typeface="Segoe UI" pitchFamily="34" charset="0"/>
                <a:ea typeface="Segoe UI" pitchFamily="34" charset="-122"/>
                <a:cs typeface="Segoe UI" pitchFamily="34" charset="-120"/>
              </a:rPr>
              <a:t>❌  Constant Alarm Fatigue</a:t>
            </a:r>
            <a:endParaRPr lang="en-US" sz="950" dirty="0"/>
          </a:p>
        </p:txBody>
      </p:sp>
      <p:sp>
        <p:nvSpPr>
          <p:cNvPr id="14" name="Text 12"/>
          <p:cNvSpPr/>
          <p:nvPr/>
        </p:nvSpPr>
        <p:spPr>
          <a:xfrm>
            <a:off x="1234440" y="3493008"/>
            <a:ext cx="4526280" cy="384048"/>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Dozens of generic red popups per week train users to ignore warnings and blindly click 'Proceed anyway'.</a:t>
            </a:r>
            <a:endParaRPr lang="en-US" sz="850" dirty="0"/>
          </a:p>
        </p:txBody>
      </p:sp>
      <p:sp>
        <p:nvSpPr>
          <p:cNvPr id="15" name="Text 13"/>
          <p:cNvSpPr/>
          <p:nvPr/>
        </p:nvSpPr>
        <p:spPr>
          <a:xfrm>
            <a:off x="960120" y="3931920"/>
            <a:ext cx="4800600" cy="201168"/>
          </a:xfrm>
          <a:prstGeom prst="rect">
            <a:avLst/>
          </a:prstGeom>
          <a:noFill/>
          <a:ln/>
        </p:spPr>
        <p:txBody>
          <a:bodyPr wrap="square" lIns="0" tIns="0" rIns="0" bIns="0" rtlCol="0" anchor="ctr"/>
          <a:lstStyle/>
          <a:p>
            <a:pPr marL="0" indent="0">
              <a:buNone/>
            </a:pPr>
            <a:r>
              <a:rPr lang="en-US" sz="950" b="1" dirty="0">
                <a:solidFill>
                  <a:srgbClr val="9F1239"/>
                </a:solidFill>
                <a:latin typeface="Segoe UI" pitchFamily="34" charset="0"/>
                <a:ea typeface="Segoe UI" pitchFamily="34" charset="-122"/>
                <a:cs typeface="Segoe UI" pitchFamily="34" charset="-120"/>
              </a:rPr>
              <a:t>❌  Binary Lockouts (Approve vs Block)</a:t>
            </a:r>
            <a:endParaRPr lang="en-US" sz="950" dirty="0"/>
          </a:p>
        </p:txBody>
      </p:sp>
      <p:sp>
        <p:nvSpPr>
          <p:cNvPr id="16" name="Text 14"/>
          <p:cNvSpPr/>
          <p:nvPr/>
        </p:nvSpPr>
        <p:spPr>
          <a:xfrm>
            <a:off x="1234440" y="4133088"/>
            <a:ext cx="4526280" cy="384048"/>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Treats the human as an adversary. Blocks transactions without offering nuanced options like spending caps.</a:t>
            </a:r>
            <a:endParaRPr lang="en-US" sz="850" dirty="0"/>
          </a:p>
        </p:txBody>
      </p:sp>
      <p:sp>
        <p:nvSpPr>
          <p:cNvPr id="17" name="Text 15"/>
          <p:cNvSpPr/>
          <p:nvPr/>
        </p:nvSpPr>
        <p:spPr>
          <a:xfrm>
            <a:off x="960120" y="4572000"/>
            <a:ext cx="4800600" cy="201168"/>
          </a:xfrm>
          <a:prstGeom prst="rect">
            <a:avLst/>
          </a:prstGeom>
          <a:noFill/>
          <a:ln/>
        </p:spPr>
        <p:txBody>
          <a:bodyPr wrap="square" lIns="0" tIns="0" rIns="0" bIns="0" rtlCol="0" anchor="ctr"/>
          <a:lstStyle/>
          <a:p>
            <a:pPr marL="0" indent="0">
              <a:buNone/>
            </a:pPr>
            <a:r>
              <a:rPr lang="en-US" sz="950" b="1" dirty="0">
                <a:solidFill>
                  <a:srgbClr val="9F1239"/>
                </a:solidFill>
                <a:latin typeface="Segoe UI" pitchFamily="34" charset="0"/>
                <a:ea typeface="Segoe UI" pitchFamily="34" charset="-122"/>
                <a:cs typeface="Segoe UI" pitchFamily="34" charset="-120"/>
              </a:rPr>
              <a:t>❌  Black-Box AI Hallucinations</a:t>
            </a:r>
            <a:endParaRPr lang="en-US" sz="950" dirty="0"/>
          </a:p>
        </p:txBody>
      </p:sp>
      <p:sp>
        <p:nvSpPr>
          <p:cNvPr id="18" name="Text 16"/>
          <p:cNvSpPr/>
          <p:nvPr/>
        </p:nvSpPr>
        <p:spPr>
          <a:xfrm>
            <a:off x="1234440" y="4773168"/>
            <a:ext cx="4526280" cy="384048"/>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Pasting contract code into LLMs produces persuasive but completely ungrounded security advice.</a:t>
            </a:r>
            <a:endParaRPr lang="en-US" sz="850" dirty="0"/>
          </a:p>
        </p:txBody>
      </p:sp>
      <p:sp>
        <p:nvSpPr>
          <p:cNvPr id="19" name="Shape 17"/>
          <p:cNvSpPr/>
          <p:nvPr/>
        </p:nvSpPr>
        <p:spPr>
          <a:xfrm>
            <a:off x="6172200" y="1691640"/>
            <a:ext cx="5257800" cy="3657600"/>
          </a:xfrm>
          <a:prstGeom prst="roundRect">
            <a:avLst>
              <a:gd name="adj" fmla="val 2000"/>
            </a:avLst>
          </a:prstGeom>
          <a:solidFill>
            <a:srgbClr val="FFFFFF"/>
          </a:solidFill>
          <a:ln w="15240">
            <a:solidFill>
              <a:srgbClr val="A7F3D0"/>
            </a:solidFill>
            <a:prstDash val="solid"/>
          </a:ln>
        </p:spPr>
        <p:txBody>
          <a:bodyPr/>
          <a:lstStyle/>
          <a:p>
            <a:endParaRPr lang="en-US"/>
          </a:p>
        </p:txBody>
      </p:sp>
      <p:sp>
        <p:nvSpPr>
          <p:cNvPr id="20" name="Shape 18"/>
          <p:cNvSpPr/>
          <p:nvPr/>
        </p:nvSpPr>
        <p:spPr>
          <a:xfrm>
            <a:off x="6190488" y="1709928"/>
            <a:ext cx="5221224" cy="45720"/>
          </a:xfrm>
          <a:prstGeom prst="roundRect">
            <a:avLst>
              <a:gd name="adj" fmla="val 40000"/>
            </a:avLst>
          </a:prstGeom>
          <a:solidFill>
            <a:srgbClr val="10B981"/>
          </a:solidFill>
          <a:ln w="12700">
            <a:solidFill>
              <a:srgbClr val="10B981"/>
            </a:solidFill>
            <a:prstDash val="solid"/>
          </a:ln>
        </p:spPr>
        <p:txBody>
          <a:bodyPr/>
          <a:lstStyle/>
          <a:p>
            <a:endParaRPr lang="en-US"/>
          </a:p>
        </p:txBody>
      </p:sp>
      <p:sp>
        <p:nvSpPr>
          <p:cNvPr id="21" name="Shape 19"/>
          <p:cNvSpPr/>
          <p:nvPr/>
        </p:nvSpPr>
        <p:spPr>
          <a:xfrm>
            <a:off x="6400800" y="1920240"/>
            <a:ext cx="3488436" cy="219456"/>
          </a:xfrm>
          <a:prstGeom prst="roundRect">
            <a:avLst>
              <a:gd name="adj" fmla="val 50000"/>
            </a:avLst>
          </a:prstGeom>
          <a:solidFill>
            <a:srgbClr val="ECFDF5"/>
          </a:solidFill>
          <a:ln w="10160">
            <a:solidFill>
              <a:srgbClr val="A7F3D0"/>
            </a:solidFill>
            <a:prstDash val="solid"/>
          </a:ln>
        </p:spPr>
        <p:txBody>
          <a:bodyPr/>
          <a:lstStyle/>
          <a:p>
            <a:endParaRPr lang="en-US"/>
          </a:p>
        </p:txBody>
      </p:sp>
      <p:sp>
        <p:nvSpPr>
          <p:cNvPr id="22" name="Text 20"/>
          <p:cNvSpPr/>
          <p:nvPr/>
        </p:nvSpPr>
        <p:spPr>
          <a:xfrm>
            <a:off x="6400800" y="1920240"/>
            <a:ext cx="3488436" cy="219456"/>
          </a:xfrm>
          <a:prstGeom prst="rect">
            <a:avLst/>
          </a:prstGeom>
          <a:noFill/>
          <a:ln/>
        </p:spPr>
        <p:txBody>
          <a:bodyPr wrap="square" lIns="0" tIns="0" rIns="0" bIns="0" rtlCol="0" anchor="ctr"/>
          <a:lstStyle/>
          <a:p>
            <a:pPr marL="0" indent="0" algn="ctr">
              <a:buNone/>
            </a:pPr>
            <a:r>
              <a:rPr lang="en-US" sz="800" b="1" dirty="0">
                <a:solidFill>
                  <a:srgbClr val="065F46"/>
                </a:solidFill>
                <a:latin typeface="Segoe UI" pitchFamily="34" charset="0"/>
                <a:ea typeface="Segoe UI" pitchFamily="34" charset="-122"/>
                <a:cs typeface="Segoe UI" pitchFamily="34" charset="-120"/>
              </a:rPr>
              <a:t>THE SENTINEL PARADIGM // HUMAN AGENCY</a:t>
            </a:r>
            <a:endParaRPr lang="en-US" sz="800" dirty="0"/>
          </a:p>
        </p:txBody>
      </p:sp>
      <p:sp>
        <p:nvSpPr>
          <p:cNvPr id="23" name="Text 21"/>
          <p:cNvSpPr/>
          <p:nvPr/>
        </p:nvSpPr>
        <p:spPr>
          <a:xfrm>
            <a:off x="6400800" y="2240280"/>
            <a:ext cx="4800600" cy="292608"/>
          </a:xfrm>
          <a:prstGeom prst="rect">
            <a:avLst/>
          </a:prstGeom>
          <a:noFill/>
          <a:ln/>
        </p:spPr>
        <p:txBody>
          <a:bodyPr wrap="square" lIns="0" tIns="0" rIns="0" bIns="0" rtlCol="0" anchor="ctr"/>
          <a:lstStyle/>
          <a:p>
            <a:pPr marL="0" indent="0">
              <a:buNone/>
            </a:pPr>
            <a:r>
              <a:rPr lang="en-US" sz="1300" b="1" dirty="0">
                <a:solidFill>
                  <a:srgbClr val="0F172A"/>
                </a:solidFill>
                <a:latin typeface="Segoe UI" pitchFamily="34" charset="0"/>
                <a:ea typeface="Segoe UI" pitchFamily="34" charset="-122"/>
                <a:cs typeface="Segoe UI" pitchFamily="34" charset="-120"/>
              </a:rPr>
              <a:t>Verifiable Evidence, Grounded Narration, &amp; Informed Control</a:t>
            </a:r>
            <a:endParaRPr lang="en-US" sz="1300" dirty="0"/>
          </a:p>
        </p:txBody>
      </p:sp>
      <p:sp>
        <p:nvSpPr>
          <p:cNvPr id="24" name="Text 22"/>
          <p:cNvSpPr/>
          <p:nvPr/>
        </p:nvSpPr>
        <p:spPr>
          <a:xfrm>
            <a:off x="6400800" y="2651760"/>
            <a:ext cx="4800600" cy="201168"/>
          </a:xfrm>
          <a:prstGeom prst="rect">
            <a:avLst/>
          </a:prstGeom>
          <a:noFill/>
          <a:ln/>
        </p:spPr>
        <p:txBody>
          <a:bodyPr wrap="square" lIns="0" tIns="0" rIns="0" bIns="0" rtlCol="0" anchor="ctr"/>
          <a:lstStyle/>
          <a:p>
            <a:pPr marL="0" indent="0">
              <a:buNone/>
            </a:pPr>
            <a:r>
              <a:rPr lang="en-US" sz="950" b="1" dirty="0">
                <a:solidFill>
                  <a:srgbClr val="065F46"/>
                </a:solidFill>
                <a:latin typeface="Segoe UI" pitchFamily="34" charset="0"/>
                <a:ea typeface="Segoe UI" pitchFamily="34" charset="-122"/>
                <a:cs typeface="Segoe UI" pitchFamily="34" charset="-120"/>
              </a:rPr>
              <a:t>✅  Verifiable Blast Radius ($ at Risk)</a:t>
            </a:r>
            <a:endParaRPr lang="en-US" sz="950" dirty="0"/>
          </a:p>
        </p:txBody>
      </p:sp>
      <p:sp>
        <p:nvSpPr>
          <p:cNvPr id="25" name="Text 23"/>
          <p:cNvSpPr/>
          <p:nvPr/>
        </p:nvSpPr>
        <p:spPr>
          <a:xfrm>
            <a:off x="6675120" y="2852928"/>
            <a:ext cx="4526280" cy="384048"/>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Names exact dollar amounts currently exposed: '$2,840 USDC exposed via unverified admin key'.</a:t>
            </a:r>
            <a:endParaRPr lang="en-US" sz="850" dirty="0"/>
          </a:p>
        </p:txBody>
      </p:sp>
      <p:sp>
        <p:nvSpPr>
          <p:cNvPr id="26" name="Text 24"/>
          <p:cNvSpPr/>
          <p:nvPr/>
        </p:nvSpPr>
        <p:spPr>
          <a:xfrm>
            <a:off x="6400800" y="3291840"/>
            <a:ext cx="4800600" cy="201168"/>
          </a:xfrm>
          <a:prstGeom prst="rect">
            <a:avLst/>
          </a:prstGeom>
          <a:noFill/>
          <a:ln/>
        </p:spPr>
        <p:txBody>
          <a:bodyPr wrap="square" lIns="0" tIns="0" rIns="0" bIns="0" rtlCol="0" anchor="ctr"/>
          <a:lstStyle/>
          <a:p>
            <a:pPr marL="0" indent="0">
              <a:buNone/>
            </a:pPr>
            <a:r>
              <a:rPr lang="en-US" sz="950" b="1" dirty="0">
                <a:solidFill>
                  <a:srgbClr val="065F46"/>
                </a:solidFill>
                <a:latin typeface="Segoe UI" pitchFamily="34" charset="0"/>
                <a:ea typeface="Segoe UI" pitchFamily="34" charset="-122"/>
                <a:cs typeface="Segoe UI" pitchFamily="34" charset="-120"/>
              </a:rPr>
              <a:t>✅  Decomposable, Actionable Intelligence</a:t>
            </a:r>
            <a:endParaRPr lang="en-US" sz="950" dirty="0"/>
          </a:p>
        </p:txBody>
      </p:sp>
      <p:sp>
        <p:nvSpPr>
          <p:cNvPr id="27" name="Text 25"/>
          <p:cNvSpPr/>
          <p:nvPr/>
        </p:nvSpPr>
        <p:spPr>
          <a:xfrm>
            <a:off x="6675120" y="3493008"/>
            <a:ext cx="4526280" cy="384048"/>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Fewer, higher-context alerts. Users can click any reason to see the exact transaction hash and block proof.</a:t>
            </a:r>
            <a:endParaRPr lang="en-US" sz="850" dirty="0"/>
          </a:p>
        </p:txBody>
      </p:sp>
      <p:sp>
        <p:nvSpPr>
          <p:cNvPr id="28" name="Text 26"/>
          <p:cNvSpPr/>
          <p:nvPr/>
        </p:nvSpPr>
        <p:spPr>
          <a:xfrm>
            <a:off x="6400800" y="3931920"/>
            <a:ext cx="4800600" cy="201168"/>
          </a:xfrm>
          <a:prstGeom prst="rect">
            <a:avLst/>
          </a:prstGeom>
          <a:noFill/>
          <a:ln/>
        </p:spPr>
        <p:txBody>
          <a:bodyPr wrap="square" lIns="0" tIns="0" rIns="0" bIns="0" rtlCol="0" anchor="ctr"/>
          <a:lstStyle/>
          <a:p>
            <a:pPr marL="0" indent="0">
              <a:buNone/>
            </a:pPr>
            <a:r>
              <a:rPr lang="en-US" sz="950" b="1" dirty="0">
                <a:solidFill>
                  <a:srgbClr val="065F46"/>
                </a:solidFill>
                <a:latin typeface="Segoe UI" pitchFamily="34" charset="0"/>
                <a:ea typeface="Segoe UI" pitchFamily="34" charset="-122"/>
                <a:cs typeface="Segoe UI" pitchFamily="34" charset="-120"/>
              </a:rPr>
              <a:t>✅  Nuanced User Agency (Set Exact Caps)</a:t>
            </a:r>
            <a:endParaRPr lang="en-US" sz="950" dirty="0"/>
          </a:p>
        </p:txBody>
      </p:sp>
      <p:sp>
        <p:nvSpPr>
          <p:cNvPr id="29" name="Text 27"/>
          <p:cNvSpPr/>
          <p:nvPr/>
        </p:nvSpPr>
        <p:spPr>
          <a:xfrm>
            <a:off x="6675120" y="4133088"/>
            <a:ext cx="4526280" cy="384048"/>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Empowers the user: cancel, inspect raw proofs, or adjust the approval cap to an exact amount ($50).</a:t>
            </a:r>
            <a:endParaRPr lang="en-US" sz="850" dirty="0"/>
          </a:p>
        </p:txBody>
      </p:sp>
      <p:sp>
        <p:nvSpPr>
          <p:cNvPr id="30" name="Text 28"/>
          <p:cNvSpPr/>
          <p:nvPr/>
        </p:nvSpPr>
        <p:spPr>
          <a:xfrm>
            <a:off x="6400800" y="4572000"/>
            <a:ext cx="4800600" cy="201168"/>
          </a:xfrm>
          <a:prstGeom prst="rect">
            <a:avLst/>
          </a:prstGeom>
          <a:noFill/>
          <a:ln/>
        </p:spPr>
        <p:txBody>
          <a:bodyPr wrap="square" lIns="0" tIns="0" rIns="0" bIns="0" rtlCol="0" anchor="ctr"/>
          <a:lstStyle/>
          <a:p>
            <a:pPr marL="0" indent="0">
              <a:buNone/>
            </a:pPr>
            <a:r>
              <a:rPr lang="en-US" sz="950" b="1" dirty="0">
                <a:solidFill>
                  <a:srgbClr val="065F46"/>
                </a:solidFill>
                <a:latin typeface="Segoe UI" pitchFamily="34" charset="0"/>
                <a:ea typeface="Segoe UI" pitchFamily="34" charset="-122"/>
                <a:cs typeface="Segoe UI" pitchFamily="34" charset="-120"/>
              </a:rPr>
              <a:t>✅  AI as Narrator, Never Witness</a:t>
            </a:r>
            <a:endParaRPr lang="en-US" sz="950" dirty="0"/>
          </a:p>
        </p:txBody>
      </p:sp>
      <p:sp>
        <p:nvSpPr>
          <p:cNvPr id="31" name="Text 29"/>
          <p:cNvSpPr/>
          <p:nvPr/>
        </p:nvSpPr>
        <p:spPr>
          <a:xfrm>
            <a:off x="6675120" y="4773168"/>
            <a:ext cx="4526280" cy="384048"/>
          </a:xfrm>
          <a:prstGeom prst="rect">
            <a:avLst/>
          </a:prstGeom>
          <a:noFill/>
          <a:ln/>
        </p:spPr>
        <p:txBody>
          <a:bodyPr wrap="square" lIns="0" tIns="0" rIns="0" bIns="0" rtlCol="0" anchor="ctr"/>
          <a:lstStyle/>
          <a:p>
            <a:pPr marL="0" indent="0">
              <a:lnSpc>
                <a:spcPts val="1100"/>
              </a:lnSpc>
              <a:buNone/>
            </a:pPr>
            <a:r>
              <a:rPr lang="en-US" sz="850" dirty="0">
                <a:solidFill>
                  <a:srgbClr val="334155"/>
                </a:solidFill>
                <a:latin typeface="Segoe UI" pitchFamily="34" charset="0"/>
                <a:ea typeface="Segoe UI" pitchFamily="34" charset="-122"/>
                <a:cs typeface="Segoe UI" pitchFamily="34" charset="-120"/>
              </a:rPr>
              <a:t>100% deterministic blockchain facts first; the LLM only translates structured proof IDs into plain English.</a:t>
            </a:r>
            <a:endParaRPr lang="en-US" sz="850" dirty="0"/>
          </a:p>
        </p:txBody>
      </p:sp>
      <p:sp>
        <p:nvSpPr>
          <p:cNvPr id="32" name="Shape 30"/>
          <p:cNvSpPr/>
          <p:nvPr/>
        </p:nvSpPr>
        <p:spPr>
          <a:xfrm>
            <a:off x="731520" y="5486400"/>
            <a:ext cx="10698480" cy="731520"/>
          </a:xfrm>
          <a:prstGeom prst="roundRect">
            <a:avLst>
              <a:gd name="adj" fmla="val 10000"/>
            </a:avLst>
          </a:prstGeom>
          <a:solidFill>
            <a:srgbClr val="EEF2FF"/>
          </a:solidFill>
          <a:ln w="12700">
            <a:solidFill>
              <a:srgbClr val="C7D2FE"/>
            </a:solidFill>
            <a:prstDash val="solid"/>
          </a:ln>
        </p:spPr>
        <p:txBody>
          <a:bodyPr/>
          <a:lstStyle/>
          <a:p>
            <a:endParaRPr lang="en-US"/>
          </a:p>
        </p:txBody>
      </p:sp>
      <p:sp>
        <p:nvSpPr>
          <p:cNvPr id="33" name="Shape 31"/>
          <p:cNvSpPr/>
          <p:nvPr/>
        </p:nvSpPr>
        <p:spPr>
          <a:xfrm>
            <a:off x="749808" y="5504688"/>
            <a:ext cx="1066190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34" name="Text 32"/>
          <p:cNvSpPr/>
          <p:nvPr/>
        </p:nvSpPr>
        <p:spPr>
          <a:xfrm>
            <a:off x="914400" y="5559552"/>
            <a:ext cx="10332720" cy="292608"/>
          </a:xfrm>
          <a:prstGeom prst="rect">
            <a:avLst/>
          </a:prstGeom>
          <a:noFill/>
          <a:ln/>
        </p:spPr>
        <p:txBody>
          <a:bodyPr wrap="square" lIns="0" tIns="0" rIns="0" bIns="0" rtlCol="0" anchor="ctr"/>
          <a:lstStyle/>
          <a:p>
            <a:pPr marL="0" indent="0" algn="ctr">
              <a:buNone/>
            </a:pPr>
            <a:r>
              <a:rPr lang="en-US" sz="1250" b="1" i="1" dirty="0">
                <a:solidFill>
                  <a:srgbClr val="0F172A"/>
                </a:solidFill>
                <a:latin typeface="Segoe UI" pitchFamily="34" charset="0"/>
                <a:ea typeface="Segoe UI" pitchFamily="34" charset="-122"/>
                <a:cs typeface="Segoe UI" pitchFamily="34" charset="-120"/>
              </a:rPr>
              <a:t>“Why did the system warn me — and can I verify the reason myself?”</a:t>
            </a:r>
            <a:endParaRPr lang="en-US" sz="1250" dirty="0"/>
          </a:p>
        </p:txBody>
      </p:sp>
      <p:sp>
        <p:nvSpPr>
          <p:cNvPr id="35" name="Text 33"/>
          <p:cNvSpPr/>
          <p:nvPr/>
        </p:nvSpPr>
        <p:spPr>
          <a:xfrm>
            <a:off x="914400" y="5870448"/>
            <a:ext cx="10332720" cy="228600"/>
          </a:xfrm>
          <a:prstGeom prst="rect">
            <a:avLst/>
          </a:prstGeom>
          <a:noFill/>
          <a:ln/>
        </p:spPr>
        <p:txBody>
          <a:bodyPr wrap="square" lIns="0" tIns="0" rIns="0" bIns="0" rtlCol="0" anchor="ctr"/>
          <a:lstStyle/>
          <a:p>
            <a:pPr marL="0" indent="0" algn="ctr">
              <a:buNone/>
            </a:pPr>
            <a:r>
              <a:rPr lang="en-US" sz="950" dirty="0">
                <a:solidFill>
                  <a:srgbClr val="4338CA"/>
                </a:solidFill>
                <a:latin typeface="Segoe UI" pitchFamily="34" charset="0"/>
                <a:ea typeface="Segoe UI" pitchFamily="34" charset="-122"/>
                <a:cs typeface="Segoe UI" pitchFamily="34" charset="-120"/>
              </a:rPr>
              <a:t>Sentinel answers both questions with cryptographic certainty.</a:t>
            </a:r>
            <a:endParaRPr lang="en-US" sz="950" dirty="0"/>
          </a:p>
        </p:txBody>
      </p:sp>
      <p:sp>
        <p:nvSpPr>
          <p:cNvPr id="36" name="Shape 34"/>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37" name="Text 35"/>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38" name="Text 36"/>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14 of 16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31520" y="384048"/>
            <a:ext cx="4626864" cy="256032"/>
          </a:xfrm>
          <a:prstGeom prst="roundRect">
            <a:avLst>
              <a:gd name="adj" fmla="val 50000"/>
            </a:avLst>
          </a:prstGeom>
          <a:solidFill>
            <a:srgbClr val="EEF2FF"/>
          </a:solidFill>
          <a:ln w="12700">
            <a:solidFill>
              <a:srgbClr val="C7D2FE"/>
            </a:solidFill>
            <a:prstDash val="solid"/>
          </a:ln>
        </p:spPr>
        <p:txBody>
          <a:bodyPr/>
          <a:lstStyle/>
          <a:p>
            <a:endParaRPr lang="en-US"/>
          </a:p>
        </p:txBody>
      </p:sp>
      <p:sp>
        <p:nvSpPr>
          <p:cNvPr id="3" name="Text 1"/>
          <p:cNvSpPr/>
          <p:nvPr/>
        </p:nvSpPr>
        <p:spPr>
          <a:xfrm>
            <a:off x="731520" y="384048"/>
            <a:ext cx="4626864" cy="256032"/>
          </a:xfrm>
          <a:prstGeom prst="rect">
            <a:avLst/>
          </a:prstGeom>
          <a:noFill/>
          <a:ln/>
        </p:spPr>
        <p:txBody>
          <a:bodyPr wrap="square" lIns="0" tIns="0" rIns="0" bIns="0" rtlCol="0" anchor="ctr"/>
          <a:lstStyle/>
          <a:p>
            <a:pPr marL="0" indent="0" algn="ctr">
              <a:buNone/>
            </a:pPr>
            <a:r>
              <a:rPr lang="en-US" sz="850" b="1" dirty="0">
                <a:solidFill>
                  <a:srgbClr val="4338CA"/>
                </a:solidFill>
                <a:latin typeface="Segoe UI" pitchFamily="34" charset="0"/>
                <a:ea typeface="Segoe UI" pitchFamily="34" charset="-122"/>
                <a:cs typeface="Segoe UI" pitchFamily="34" charset="-120"/>
              </a:rPr>
              <a:t>APPENDIX // RESEARCH METHODOLOGY &amp; CITATIONS</a:t>
            </a:r>
            <a:endParaRPr lang="en-US" sz="850" dirty="0"/>
          </a:p>
        </p:txBody>
      </p:sp>
      <p:sp>
        <p:nvSpPr>
          <p:cNvPr id="4" name="Text 2"/>
          <p:cNvSpPr/>
          <p:nvPr/>
        </p:nvSpPr>
        <p:spPr>
          <a:xfrm>
            <a:off x="731520" y="676656"/>
            <a:ext cx="10698480" cy="502920"/>
          </a:xfrm>
          <a:prstGeom prst="rect">
            <a:avLst/>
          </a:prstGeom>
          <a:noFill/>
          <a:ln/>
        </p:spPr>
        <p:txBody>
          <a:bodyPr wrap="square" lIns="0" tIns="0" rIns="0" bIns="0" rtlCol="0" anchor="t"/>
          <a:lstStyle/>
          <a:p>
            <a:pPr marL="0" indent="0">
              <a:buNone/>
            </a:pPr>
            <a:r>
              <a:rPr lang="en-US" sz="2300" b="1" dirty="0">
                <a:solidFill>
                  <a:srgbClr val="0F172A"/>
                </a:solidFill>
                <a:latin typeface="Segoe UI" pitchFamily="34" charset="0"/>
                <a:ea typeface="Segoe UI" pitchFamily="34" charset="-122"/>
                <a:cs typeface="Segoe UI" pitchFamily="34" charset="-120"/>
              </a:rPr>
              <a:t>Competitive research: official sources &amp; verified metrics</a:t>
            </a:r>
            <a:endParaRPr lang="en-US" sz="2300" dirty="0"/>
          </a:p>
        </p:txBody>
      </p:sp>
      <p:sp>
        <p:nvSpPr>
          <p:cNvPr id="5" name="Text 3"/>
          <p:cNvSpPr/>
          <p:nvPr/>
        </p:nvSpPr>
        <p:spPr>
          <a:xfrm>
            <a:off x="731520" y="1188720"/>
            <a:ext cx="10698480" cy="320040"/>
          </a:xfrm>
          <a:prstGeom prst="rect">
            <a:avLst/>
          </a:prstGeom>
          <a:noFill/>
          <a:ln/>
        </p:spPr>
        <p:txBody>
          <a:bodyPr wrap="square" lIns="0" tIns="0" rIns="0" bIns="0" rtlCol="0" anchor="t"/>
          <a:lstStyle/>
          <a:p>
            <a:pPr marL="0" indent="0">
              <a:buNone/>
            </a:pPr>
            <a:r>
              <a:rPr lang="en-US" sz="1150" dirty="0">
                <a:solidFill>
                  <a:srgbClr val="64748B"/>
                </a:solidFill>
                <a:latin typeface="Segoe UI" pitchFamily="34" charset="0"/>
                <a:ea typeface="Segoe UI" pitchFamily="34" charset="-122"/>
                <a:cs typeface="Segoe UI" pitchFamily="34" charset="-120"/>
              </a:rPr>
              <a:t>Rigorous documentation citations from live vendor pages (re-verified September 2026).</a:t>
            </a:r>
            <a:endParaRPr lang="en-US" sz="1150" dirty="0"/>
          </a:p>
        </p:txBody>
      </p:sp>
      <p:sp>
        <p:nvSpPr>
          <p:cNvPr id="6" name="Shape 4"/>
          <p:cNvSpPr/>
          <p:nvPr/>
        </p:nvSpPr>
        <p:spPr>
          <a:xfrm>
            <a:off x="731520" y="1691640"/>
            <a:ext cx="5257800" cy="3337560"/>
          </a:xfrm>
          <a:prstGeom prst="roundRect">
            <a:avLst>
              <a:gd name="adj" fmla="val 2192"/>
            </a:avLst>
          </a:prstGeom>
          <a:solidFill>
            <a:srgbClr val="FFFFFF"/>
          </a:solidFill>
          <a:ln w="12700">
            <a:solidFill>
              <a:srgbClr val="E2E8F0"/>
            </a:solidFill>
            <a:prstDash val="solid"/>
          </a:ln>
        </p:spPr>
        <p:txBody>
          <a:bodyPr/>
          <a:lstStyle/>
          <a:p>
            <a:endParaRPr lang="en-US"/>
          </a:p>
        </p:txBody>
      </p:sp>
      <p:sp>
        <p:nvSpPr>
          <p:cNvPr id="7" name="Shape 5"/>
          <p:cNvSpPr/>
          <p:nvPr/>
        </p:nvSpPr>
        <p:spPr>
          <a:xfrm>
            <a:off x="749808" y="1709928"/>
            <a:ext cx="5221224" cy="45720"/>
          </a:xfrm>
          <a:prstGeom prst="roundRect">
            <a:avLst>
              <a:gd name="adj" fmla="val 40000"/>
            </a:avLst>
          </a:prstGeom>
          <a:solidFill>
            <a:srgbClr val="F43F5E"/>
          </a:solidFill>
          <a:ln w="12700">
            <a:solidFill>
              <a:srgbClr val="F43F5E"/>
            </a:solidFill>
            <a:prstDash val="solid"/>
          </a:ln>
        </p:spPr>
        <p:txBody>
          <a:bodyPr/>
          <a:lstStyle/>
          <a:p>
            <a:endParaRPr lang="en-US"/>
          </a:p>
        </p:txBody>
      </p:sp>
      <p:sp>
        <p:nvSpPr>
          <p:cNvPr id="8" name="Shape 6"/>
          <p:cNvSpPr/>
          <p:nvPr/>
        </p:nvSpPr>
        <p:spPr>
          <a:xfrm>
            <a:off x="960120" y="1892808"/>
            <a:ext cx="3922776" cy="219456"/>
          </a:xfrm>
          <a:prstGeom prst="roundRect">
            <a:avLst>
              <a:gd name="adj" fmla="val 50000"/>
            </a:avLst>
          </a:prstGeom>
          <a:solidFill>
            <a:srgbClr val="FFF1F2"/>
          </a:solidFill>
          <a:ln w="10160">
            <a:solidFill>
              <a:srgbClr val="FECDD3"/>
            </a:solidFill>
            <a:prstDash val="solid"/>
          </a:ln>
        </p:spPr>
        <p:txBody>
          <a:bodyPr/>
          <a:lstStyle/>
          <a:p>
            <a:endParaRPr lang="en-US"/>
          </a:p>
        </p:txBody>
      </p:sp>
      <p:sp>
        <p:nvSpPr>
          <p:cNvPr id="9" name="Text 7"/>
          <p:cNvSpPr/>
          <p:nvPr/>
        </p:nvSpPr>
        <p:spPr>
          <a:xfrm>
            <a:off x="960120" y="1892808"/>
            <a:ext cx="3922776" cy="219456"/>
          </a:xfrm>
          <a:prstGeom prst="rect">
            <a:avLst/>
          </a:prstGeom>
          <a:noFill/>
          <a:ln/>
        </p:spPr>
        <p:txBody>
          <a:bodyPr wrap="square" lIns="0" tIns="0" rIns="0" bIns="0" rtlCol="0" anchor="ctr"/>
          <a:lstStyle/>
          <a:p>
            <a:pPr marL="0" indent="0" algn="ctr">
              <a:buNone/>
            </a:pPr>
            <a:r>
              <a:rPr lang="en-US" sz="800" b="1" dirty="0">
                <a:solidFill>
                  <a:srgbClr val="9F1239"/>
                </a:solidFill>
                <a:latin typeface="Segoe UI" pitchFamily="34" charset="0"/>
                <a:ea typeface="Segoe UI" pitchFamily="34" charset="-122"/>
                <a:cs typeface="Segoe UI" pitchFamily="34" charset="-120"/>
              </a:rPr>
              <a:t>HYPERNATIVE // OFFICIAL SOURCES (SEP 2026)</a:t>
            </a:r>
            <a:endParaRPr lang="en-US" sz="800" dirty="0"/>
          </a:p>
        </p:txBody>
      </p:sp>
      <p:sp>
        <p:nvSpPr>
          <p:cNvPr id="10" name="Text 8"/>
          <p:cNvSpPr/>
          <p:nvPr/>
        </p:nvSpPr>
        <p:spPr>
          <a:xfrm>
            <a:off x="960120" y="2194560"/>
            <a:ext cx="4800600" cy="256032"/>
          </a:xfrm>
          <a:prstGeom prst="rect">
            <a:avLst/>
          </a:prstGeom>
          <a:noFill/>
          <a:ln/>
        </p:spPr>
        <p:txBody>
          <a:bodyPr wrap="square" lIns="0" tIns="0" rIns="0" bIns="0"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Official Product Pages (hypernative.io)</a:t>
            </a:r>
            <a:endParaRPr lang="en-US" sz="1100" dirty="0"/>
          </a:p>
        </p:txBody>
      </p:sp>
      <p:sp>
        <p:nvSpPr>
          <p:cNvPr id="11" name="Text 9"/>
          <p:cNvSpPr/>
          <p:nvPr/>
        </p:nvSpPr>
        <p:spPr>
          <a:xfrm>
            <a:off x="960120" y="2496312"/>
            <a:ext cx="4800600" cy="548640"/>
          </a:xfrm>
          <a:prstGeom prst="rect">
            <a:avLst/>
          </a:prstGeom>
          <a:noFill/>
          <a:ln/>
        </p:spPr>
        <p:txBody>
          <a:bodyPr wrap="square" lIns="0" tIns="0" rIns="0" bIns="0" rtlCol="0" anchor="t"/>
          <a:lstStyle/>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 hypernative.io/product/onchain-monitoring-automated-response</a:t>
            </a:r>
            <a:endParaRPr lang="en-US" sz="780" dirty="0"/>
          </a:p>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75+ chains, 300+ risk types, AI/graph models, automated response, severity alerting. Vendor-reported: 99% of hacks detected before first tx, &lt;0.001% false positive rate.</a:t>
            </a:r>
            <a:endParaRPr lang="en-US" sz="780" dirty="0"/>
          </a:p>
        </p:txBody>
      </p:sp>
      <p:sp>
        <p:nvSpPr>
          <p:cNvPr id="12" name="Text 10"/>
          <p:cNvSpPr/>
          <p:nvPr/>
        </p:nvSpPr>
        <p:spPr>
          <a:xfrm>
            <a:off x="960120" y="3090672"/>
            <a:ext cx="4800600" cy="548640"/>
          </a:xfrm>
          <a:prstGeom prst="rect">
            <a:avLst/>
          </a:prstGeom>
          <a:noFill/>
          <a:ln/>
        </p:spPr>
        <p:txBody>
          <a:bodyPr wrap="square" lIns="0" tIns="0" rIns="0" bIns="0" rtlCol="0" anchor="t"/>
          <a:lstStyle/>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 hypernative.io/product/transaction-guard</a:t>
            </a:r>
            <a:endParaRPr lang="en-US" sz="780" dirty="0"/>
          </a:p>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Pre-signing simulation, intent verification, independent-of-wallet UI verification, policy engine (approve/deny/review), behavioral anomaly detection, sub-second latency.</a:t>
            </a:r>
            <a:endParaRPr lang="en-US" sz="780" dirty="0"/>
          </a:p>
        </p:txBody>
      </p:sp>
      <p:sp>
        <p:nvSpPr>
          <p:cNvPr id="13" name="Text 11"/>
          <p:cNvSpPr/>
          <p:nvPr/>
        </p:nvSpPr>
        <p:spPr>
          <a:xfrm>
            <a:off x="960120" y="3685032"/>
            <a:ext cx="4800600" cy="548640"/>
          </a:xfrm>
          <a:prstGeom prst="rect">
            <a:avLst/>
          </a:prstGeom>
          <a:noFill/>
          <a:ln/>
        </p:spPr>
        <p:txBody>
          <a:bodyPr wrap="square" lIns="0" tIns="0" rIns="0" bIns="0" rtlCol="0" anchor="t"/>
          <a:lstStyle/>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 hypernative.io/product/wallet-protection</a:t>
            </a:r>
            <a:endParaRPr lang="en-US" sz="780" dirty="0"/>
          </a:p>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API-embedded simulation with 'human-readable balance changes, approval grants, and risk warnings,' dApp/URL/NFT/token screening. Vendor-reported: 96% scam detection.</a:t>
            </a:r>
            <a:endParaRPr lang="en-US" sz="780" dirty="0"/>
          </a:p>
        </p:txBody>
      </p:sp>
      <p:sp>
        <p:nvSpPr>
          <p:cNvPr id="14" name="Text 12"/>
          <p:cNvSpPr/>
          <p:nvPr/>
        </p:nvSpPr>
        <p:spPr>
          <a:xfrm>
            <a:off x="960120" y="4279392"/>
            <a:ext cx="4800600" cy="548640"/>
          </a:xfrm>
          <a:prstGeom prst="rect">
            <a:avLst/>
          </a:prstGeom>
          <a:noFill/>
          <a:ln/>
        </p:spPr>
        <p:txBody>
          <a:bodyPr wrap="square" lIns="0" tIns="0" rIns="0" bIns="0" rtlCol="0" anchor="t"/>
          <a:lstStyle/>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 hypernative.io/product/screening-intelligence</a:t>
            </a:r>
            <a:endParaRPr lang="en-US" sz="780" dirty="0"/>
          </a:p>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Address reputation, multi-hop exposure tracking, continuous re-evaluation, audit trails. Vendor-reported: sub-100ms address screening.</a:t>
            </a:r>
            <a:endParaRPr lang="en-US" sz="780" dirty="0"/>
          </a:p>
        </p:txBody>
      </p:sp>
      <p:sp>
        <p:nvSpPr>
          <p:cNvPr id="15" name="Shape 13"/>
          <p:cNvSpPr/>
          <p:nvPr/>
        </p:nvSpPr>
        <p:spPr>
          <a:xfrm>
            <a:off x="6172200" y="1691640"/>
            <a:ext cx="5257800" cy="3337560"/>
          </a:xfrm>
          <a:prstGeom prst="roundRect">
            <a:avLst>
              <a:gd name="adj" fmla="val 2192"/>
            </a:avLst>
          </a:prstGeom>
          <a:solidFill>
            <a:srgbClr val="FFFFFF"/>
          </a:solidFill>
          <a:ln w="12700">
            <a:solidFill>
              <a:srgbClr val="E2E8F0"/>
            </a:solidFill>
            <a:prstDash val="solid"/>
          </a:ln>
        </p:spPr>
        <p:txBody>
          <a:bodyPr/>
          <a:lstStyle/>
          <a:p>
            <a:endParaRPr lang="en-US"/>
          </a:p>
        </p:txBody>
      </p:sp>
      <p:sp>
        <p:nvSpPr>
          <p:cNvPr id="16" name="Shape 14"/>
          <p:cNvSpPr/>
          <p:nvPr/>
        </p:nvSpPr>
        <p:spPr>
          <a:xfrm>
            <a:off x="6190488" y="1709928"/>
            <a:ext cx="5221224" cy="45720"/>
          </a:xfrm>
          <a:prstGeom prst="roundRect">
            <a:avLst>
              <a:gd name="adj" fmla="val 40000"/>
            </a:avLst>
          </a:prstGeom>
          <a:solidFill>
            <a:srgbClr val="6366F1"/>
          </a:solidFill>
          <a:ln w="12700">
            <a:solidFill>
              <a:srgbClr val="6366F1"/>
            </a:solidFill>
            <a:prstDash val="solid"/>
          </a:ln>
        </p:spPr>
        <p:txBody>
          <a:bodyPr/>
          <a:lstStyle/>
          <a:p>
            <a:endParaRPr lang="en-US"/>
          </a:p>
        </p:txBody>
      </p:sp>
      <p:sp>
        <p:nvSpPr>
          <p:cNvPr id="17" name="Shape 15"/>
          <p:cNvSpPr/>
          <p:nvPr/>
        </p:nvSpPr>
        <p:spPr>
          <a:xfrm>
            <a:off x="6400800" y="1892808"/>
            <a:ext cx="4096512" cy="219456"/>
          </a:xfrm>
          <a:prstGeom prst="roundRect">
            <a:avLst>
              <a:gd name="adj" fmla="val 50000"/>
            </a:avLst>
          </a:prstGeom>
          <a:solidFill>
            <a:srgbClr val="EEF2FF"/>
          </a:solidFill>
          <a:ln w="10160">
            <a:solidFill>
              <a:srgbClr val="C7D2FE"/>
            </a:solidFill>
            <a:prstDash val="solid"/>
          </a:ln>
        </p:spPr>
        <p:txBody>
          <a:bodyPr/>
          <a:lstStyle/>
          <a:p>
            <a:endParaRPr lang="en-US"/>
          </a:p>
        </p:txBody>
      </p:sp>
      <p:sp>
        <p:nvSpPr>
          <p:cNvPr id="18" name="Text 16"/>
          <p:cNvSpPr/>
          <p:nvPr/>
        </p:nvSpPr>
        <p:spPr>
          <a:xfrm>
            <a:off x="6400800" y="1892808"/>
            <a:ext cx="4096512" cy="219456"/>
          </a:xfrm>
          <a:prstGeom prst="rect">
            <a:avLst/>
          </a:prstGeom>
          <a:noFill/>
          <a:ln/>
        </p:spPr>
        <p:txBody>
          <a:bodyPr wrap="square" lIns="0" tIns="0" rIns="0" bIns="0" rtlCol="0" anchor="ctr"/>
          <a:lstStyle/>
          <a:p>
            <a:pPr marL="0" indent="0" algn="ctr">
              <a:buNone/>
            </a:pPr>
            <a:r>
              <a:rPr lang="en-US" sz="800" b="1" dirty="0">
                <a:solidFill>
                  <a:srgbClr val="4338CA"/>
                </a:solidFill>
                <a:latin typeface="Segoe UI" pitchFamily="34" charset="0"/>
                <a:ea typeface="Segoe UI" pitchFamily="34" charset="-122"/>
                <a:cs typeface="Segoe UI" pitchFamily="34" charset="-120"/>
              </a:rPr>
              <a:t>FORTA NETWORK // OFFICIAL SOURCES (SEP 2026)</a:t>
            </a:r>
            <a:endParaRPr lang="en-US" sz="800" dirty="0"/>
          </a:p>
        </p:txBody>
      </p:sp>
      <p:sp>
        <p:nvSpPr>
          <p:cNvPr id="19" name="Text 17"/>
          <p:cNvSpPr/>
          <p:nvPr/>
        </p:nvSpPr>
        <p:spPr>
          <a:xfrm>
            <a:off x="6400800" y="2194560"/>
            <a:ext cx="4800600" cy="256032"/>
          </a:xfrm>
          <a:prstGeom prst="rect">
            <a:avLst/>
          </a:prstGeom>
          <a:noFill/>
          <a:ln/>
        </p:spPr>
        <p:txBody>
          <a:bodyPr wrap="square" lIns="0" tIns="0" rIns="0" bIns="0" rtlCol="0" anchor="ctr"/>
          <a:lstStyle/>
          <a:p>
            <a:pPr marL="0" indent="0">
              <a:buNone/>
            </a:pPr>
            <a:r>
              <a:rPr lang="en-US" sz="1100" b="1" dirty="0">
                <a:solidFill>
                  <a:srgbClr val="0F172A"/>
                </a:solidFill>
                <a:latin typeface="Segoe UI" pitchFamily="34" charset="0"/>
                <a:ea typeface="Segoe UI" pitchFamily="34" charset="-122"/>
                <a:cs typeface="Segoe UI" pitchFamily="34" charset="-120"/>
              </a:rPr>
              <a:t>Official Documentation (docs.forta.network &amp; forta.org)</a:t>
            </a:r>
            <a:endParaRPr lang="en-US" sz="1100" dirty="0"/>
          </a:p>
        </p:txBody>
      </p:sp>
      <p:sp>
        <p:nvSpPr>
          <p:cNvPr id="20" name="Text 18"/>
          <p:cNvSpPr/>
          <p:nvPr/>
        </p:nvSpPr>
        <p:spPr>
          <a:xfrm>
            <a:off x="6400800" y="2496312"/>
            <a:ext cx="4800600" cy="548640"/>
          </a:xfrm>
          <a:prstGeom prst="rect">
            <a:avLst/>
          </a:prstGeom>
          <a:noFill/>
          <a:ln/>
        </p:spPr>
        <p:txBody>
          <a:bodyPr wrap="square" lIns="0" tIns="0" rIns="0" bIns="0" rtlCol="0" anchor="t"/>
          <a:lstStyle/>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 docs.forta.network/en/latest/how-forta-works/</a:t>
            </a:r>
            <a:endParaRPr lang="en-US" sz="780" dirty="0"/>
          </a:p>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Detection bots + scan nodes run against each block; alerts stored on IPFS; public registry; consumption via Forta App / Defender Sentinels / public GraphQL API; proof-of-scan.</a:t>
            </a:r>
            <a:endParaRPr lang="en-US" sz="780" dirty="0"/>
          </a:p>
        </p:txBody>
      </p:sp>
      <p:sp>
        <p:nvSpPr>
          <p:cNvPr id="21" name="Text 19"/>
          <p:cNvSpPr/>
          <p:nvPr/>
        </p:nvSpPr>
        <p:spPr>
          <a:xfrm>
            <a:off x="6400800" y="3090672"/>
            <a:ext cx="4800600" cy="548640"/>
          </a:xfrm>
          <a:prstGeom prst="rect">
            <a:avLst/>
          </a:prstGeom>
          <a:noFill/>
          <a:ln/>
        </p:spPr>
        <p:txBody>
          <a:bodyPr wrap="square" lIns="0" tIns="0" rIns="0" bIns="0" rtlCol="0" anchor="t"/>
          <a:lstStyle/>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 docs.forta.network/en/latest/external-bots/</a:t>
            </a:r>
            <a:endParaRPr lang="en-US" sz="780" dirty="0"/>
          </a:p>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Finding structure defined by bot developer: name, description, alertId, type, severity, labels with per-label confidence, source transaction hashes.</a:t>
            </a:r>
            <a:endParaRPr lang="en-US" sz="780" dirty="0"/>
          </a:p>
        </p:txBody>
      </p:sp>
      <p:sp>
        <p:nvSpPr>
          <p:cNvPr id="22" name="Text 20"/>
          <p:cNvSpPr/>
          <p:nvPr/>
        </p:nvSpPr>
        <p:spPr>
          <a:xfrm>
            <a:off x="6400800" y="3685032"/>
            <a:ext cx="4800600" cy="548640"/>
          </a:xfrm>
          <a:prstGeom prst="rect">
            <a:avLst/>
          </a:prstGeom>
          <a:noFill/>
          <a:ln/>
        </p:spPr>
        <p:txBody>
          <a:bodyPr wrap="square" lIns="0" tIns="0" rIns="0" bIns="0" rtlCol="0" anchor="t"/>
          <a:lstStyle/>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 docs.forta.network/en/latest/forta-firewall-overview/</a:t>
            </a:r>
            <a:endParaRPr lang="en-US" sz="780" dirty="0"/>
          </a:p>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Pre-inclusion screening for integrated rollups via RaaS providers (Conduit, Gelato, Alchemy, Zeeve); delay-not-censor model for censorship-resistance; simulation + AI threat models.</a:t>
            </a:r>
            <a:endParaRPr lang="en-US" sz="780" dirty="0"/>
          </a:p>
        </p:txBody>
      </p:sp>
      <p:sp>
        <p:nvSpPr>
          <p:cNvPr id="23" name="Text 21"/>
          <p:cNvSpPr/>
          <p:nvPr/>
        </p:nvSpPr>
        <p:spPr>
          <a:xfrm>
            <a:off x="6400800" y="4279392"/>
            <a:ext cx="4800600" cy="548640"/>
          </a:xfrm>
          <a:prstGeom prst="rect">
            <a:avLst/>
          </a:prstGeom>
          <a:noFill/>
          <a:ln/>
        </p:spPr>
        <p:txBody>
          <a:bodyPr wrap="square" lIns="0" tIns="0" rIns="0" bIns="0" rtlCol="0" anchor="t"/>
          <a:lstStyle/>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 forta.org (Forta Risk Overview)</a:t>
            </a:r>
            <a:endParaRPr lang="en-US" sz="780" dirty="0"/>
          </a:p>
          <a:p>
            <a:pPr marL="0" indent="0">
              <a:lnSpc>
                <a:spcPts val="1050"/>
              </a:lnSpc>
              <a:buNone/>
            </a:pPr>
            <a:r>
              <a:rPr lang="en-US" sz="780" dirty="0">
                <a:solidFill>
                  <a:srgbClr val="334155"/>
                </a:solidFill>
                <a:latin typeface="Segoe UI" pitchFamily="34" charset="0"/>
                <a:ea typeface="Segoe UI" pitchFamily="34" charset="-122"/>
                <a:cs typeface="Segoe UI" pitchFamily="34" charset="-120"/>
              </a:rPr>
              <a:t>'Forta Risk: every dependency, direct or several hops away, mapped, quantified in USD and monitored block by block'; Risk Graph MCP server.</a:t>
            </a:r>
            <a:endParaRPr lang="en-US" sz="780" dirty="0"/>
          </a:p>
        </p:txBody>
      </p:sp>
      <p:sp>
        <p:nvSpPr>
          <p:cNvPr id="24" name="Shape 22"/>
          <p:cNvSpPr/>
          <p:nvPr/>
        </p:nvSpPr>
        <p:spPr>
          <a:xfrm>
            <a:off x="731520" y="5166360"/>
            <a:ext cx="10698480" cy="1051560"/>
          </a:xfrm>
          <a:prstGeom prst="roundRect">
            <a:avLst>
              <a:gd name="adj" fmla="val 6957"/>
            </a:avLst>
          </a:prstGeom>
          <a:solidFill>
            <a:srgbClr val="F8FAFC"/>
          </a:solidFill>
          <a:ln w="12700">
            <a:solidFill>
              <a:srgbClr val="E2E8F0"/>
            </a:solidFill>
            <a:prstDash val="solid"/>
          </a:ln>
        </p:spPr>
        <p:txBody>
          <a:bodyPr/>
          <a:lstStyle/>
          <a:p>
            <a:endParaRPr lang="en-US"/>
          </a:p>
        </p:txBody>
      </p:sp>
      <p:sp>
        <p:nvSpPr>
          <p:cNvPr id="25" name="Shape 23"/>
          <p:cNvSpPr/>
          <p:nvPr/>
        </p:nvSpPr>
        <p:spPr>
          <a:xfrm>
            <a:off x="749808" y="5184648"/>
            <a:ext cx="10661904" cy="45720"/>
          </a:xfrm>
          <a:prstGeom prst="roundRect">
            <a:avLst>
              <a:gd name="adj" fmla="val 40000"/>
            </a:avLst>
          </a:prstGeom>
          <a:solidFill>
            <a:srgbClr val="F59E0B"/>
          </a:solidFill>
          <a:ln w="12700">
            <a:solidFill>
              <a:srgbClr val="F59E0B"/>
            </a:solidFill>
            <a:prstDash val="solid"/>
          </a:ln>
        </p:spPr>
        <p:txBody>
          <a:bodyPr/>
          <a:lstStyle/>
          <a:p>
            <a:endParaRPr lang="en-US"/>
          </a:p>
        </p:txBody>
      </p:sp>
      <p:sp>
        <p:nvSpPr>
          <p:cNvPr id="26" name="Text 24"/>
          <p:cNvSpPr/>
          <p:nvPr/>
        </p:nvSpPr>
        <p:spPr>
          <a:xfrm>
            <a:off x="914400" y="5257800"/>
            <a:ext cx="10332720" cy="182880"/>
          </a:xfrm>
          <a:prstGeom prst="rect">
            <a:avLst/>
          </a:prstGeom>
          <a:noFill/>
          <a:ln/>
        </p:spPr>
        <p:txBody>
          <a:bodyPr wrap="square" lIns="0" tIns="0" rIns="0" bIns="0" rtlCol="0" anchor="ctr"/>
          <a:lstStyle/>
          <a:p>
            <a:pPr marL="0" indent="0">
              <a:buNone/>
            </a:pPr>
            <a:r>
              <a:rPr lang="en-US" sz="850" b="1" dirty="0">
                <a:solidFill>
                  <a:srgbClr val="92400E"/>
                </a:solidFill>
                <a:latin typeface="Segoe UI" pitchFamily="34" charset="0"/>
                <a:ea typeface="Segoe UI" pitchFamily="34" charset="-122"/>
                <a:cs typeface="Segoe UI" pitchFamily="34" charset="-120"/>
              </a:rPr>
              <a:t>RESEARCH METHODOLOGY &amp; LABELING STANDARDS</a:t>
            </a:r>
            <a:endParaRPr lang="en-US" sz="850" dirty="0"/>
          </a:p>
        </p:txBody>
      </p:sp>
      <p:sp>
        <p:nvSpPr>
          <p:cNvPr id="27" name="Text 25"/>
          <p:cNvSpPr/>
          <p:nvPr/>
        </p:nvSpPr>
        <p:spPr>
          <a:xfrm>
            <a:off x="914400" y="5486400"/>
            <a:ext cx="10332720" cy="658368"/>
          </a:xfrm>
          <a:prstGeom prst="rect">
            <a:avLst/>
          </a:prstGeom>
          <a:noFill/>
          <a:ln/>
        </p:spPr>
        <p:txBody>
          <a:bodyPr wrap="square" lIns="0" tIns="0" rIns="0" bIns="0" rtlCol="0" anchor="t"/>
          <a:lstStyle/>
          <a:p>
            <a:pPr marL="0" indent="0">
              <a:lnSpc>
                <a:spcPts val="1150"/>
              </a:lnSpc>
              <a:buNone/>
            </a:pPr>
            <a:r>
              <a:rPr lang="en-US" sz="800" dirty="0">
                <a:solidFill>
                  <a:srgbClr val="334155"/>
                </a:solidFill>
                <a:latin typeface="Segoe UI" pitchFamily="34" charset="0"/>
                <a:ea typeface="Segoe UI" pitchFamily="34" charset="-122"/>
                <a:cs typeface="Segoe UI" pitchFamily="34" charset="-120"/>
              </a:rPr>
              <a:t>• Documented Capability: Claims sourced directly from official vendor documentation as of September 2026.</a:t>
            </a:r>
            <a:endParaRPr lang="en-US" sz="800" dirty="0"/>
          </a:p>
          <a:p>
            <a:pPr marL="0" indent="0">
              <a:lnSpc>
                <a:spcPts val="1150"/>
              </a:lnSpc>
              <a:buNone/>
            </a:pPr>
            <a:r>
              <a:rPr lang="en-US" sz="800" dirty="0">
                <a:solidFill>
                  <a:srgbClr val="334155"/>
                </a:solidFill>
                <a:latin typeface="Segoe UI" pitchFamily="34" charset="0"/>
                <a:ea typeface="Segoe UI" pitchFamily="34" charset="-122"/>
                <a:cs typeface="Segoe UI" pitchFamily="34" charset="-120"/>
              </a:rPr>
              <a:t>• Architectural Inference: Inherent trade-offs derived from documented product shapes (e.g. enterprise API vs end-user transparency). No 'X cannot do Y' claims are made.</a:t>
            </a:r>
            <a:endParaRPr lang="en-US" sz="800" dirty="0"/>
          </a:p>
          <a:p>
            <a:pPr marL="0" indent="0">
              <a:lnSpc>
                <a:spcPts val="1150"/>
              </a:lnSpc>
              <a:buNone/>
            </a:pPr>
            <a:r>
              <a:rPr lang="en-US" sz="800" dirty="0">
                <a:solidFill>
                  <a:srgbClr val="334155"/>
                </a:solidFill>
                <a:latin typeface="Segoe UI" pitchFamily="34" charset="0"/>
                <a:ea typeface="Segoe UI" pitchFamily="34" charset="-122"/>
                <a:cs typeface="Segoe UI" pitchFamily="34" charset="-120"/>
              </a:rPr>
              <a:t>• Proposed Concept: Sentinel design ideas, explicitly labeled throughout the deck.</a:t>
            </a:r>
            <a:endParaRPr lang="en-US" sz="800" dirty="0"/>
          </a:p>
          <a:p>
            <a:pPr marL="0" indent="0">
              <a:lnSpc>
                <a:spcPts val="1150"/>
              </a:lnSpc>
              <a:buNone/>
            </a:pPr>
            <a:r>
              <a:rPr lang="en-US" sz="800" dirty="0">
                <a:solidFill>
                  <a:srgbClr val="334155"/>
                </a:solidFill>
                <a:latin typeface="Segoe UI" pitchFamily="34" charset="0"/>
                <a:ea typeface="Segoe UI" pitchFamily="34" charset="-122"/>
                <a:cs typeface="Segoe UI" pitchFamily="34" charset="-120"/>
              </a:rPr>
              <a:t>• Vendor Metrics: All performance statistics (99% hack detection, &lt;0.001% FP, 96% scam detection, sub-100ms) are explicitly labeled vendor-reported.</a:t>
            </a:r>
            <a:endParaRPr lang="en-US" sz="800" dirty="0"/>
          </a:p>
        </p:txBody>
      </p:sp>
      <p:sp>
        <p:nvSpPr>
          <p:cNvPr id="28" name="Shape 26"/>
          <p:cNvSpPr/>
          <p:nvPr/>
        </p:nvSpPr>
        <p:spPr>
          <a:xfrm>
            <a:off x="731520" y="6419088"/>
            <a:ext cx="10698480" cy="0"/>
          </a:xfrm>
          <a:prstGeom prst="line">
            <a:avLst/>
          </a:prstGeom>
          <a:noFill/>
          <a:ln w="10160">
            <a:solidFill>
              <a:srgbClr val="E2E8F0"/>
            </a:solidFill>
            <a:prstDash val="solid"/>
          </a:ln>
        </p:spPr>
        <p:txBody>
          <a:bodyPr/>
          <a:lstStyle/>
          <a:p>
            <a:endParaRPr lang="en-US"/>
          </a:p>
        </p:txBody>
      </p:sp>
      <p:sp>
        <p:nvSpPr>
          <p:cNvPr id="29" name="Text 27"/>
          <p:cNvSpPr/>
          <p:nvPr/>
        </p:nvSpPr>
        <p:spPr>
          <a:xfrm>
            <a:off x="731520" y="6492240"/>
            <a:ext cx="6400800" cy="228600"/>
          </a:xfrm>
          <a:prstGeom prst="rect">
            <a:avLst/>
          </a:prstGeom>
          <a:noFill/>
          <a:ln/>
        </p:spPr>
        <p:txBody>
          <a:bodyPr wrap="square" lIns="0" tIns="0" rIns="0" bIns="0" rtlCol="0" anchor="ctr"/>
          <a:lstStyle/>
          <a:p>
            <a:pPr marL="0" indent="0">
              <a:buNone/>
            </a:pPr>
            <a:r>
              <a:rPr lang="en-US" sz="850" dirty="0">
                <a:solidFill>
                  <a:srgbClr val="64748B"/>
                </a:solidFill>
                <a:latin typeface="Segoe UI" pitchFamily="34" charset="0"/>
                <a:ea typeface="Segoe UI" pitchFamily="34" charset="-122"/>
                <a:cs typeface="Segoe UI" pitchFamily="34" charset="-120"/>
              </a:rPr>
              <a:t>SENTINEL  •  Multipli Hackathon 2026  •  From Alert to Evidence</a:t>
            </a:r>
            <a:endParaRPr lang="en-US" sz="850" dirty="0"/>
          </a:p>
        </p:txBody>
      </p:sp>
      <p:sp>
        <p:nvSpPr>
          <p:cNvPr id="30" name="Text 28"/>
          <p:cNvSpPr/>
          <p:nvPr/>
        </p:nvSpPr>
        <p:spPr>
          <a:xfrm>
            <a:off x="7315200" y="6492240"/>
            <a:ext cx="4114800" cy="228600"/>
          </a:xfrm>
          <a:prstGeom prst="rect">
            <a:avLst/>
          </a:prstGeom>
          <a:noFill/>
          <a:ln/>
        </p:spPr>
        <p:txBody>
          <a:bodyPr wrap="square" lIns="0" tIns="0" rIns="0" bIns="0" rtlCol="0" anchor="ctr"/>
          <a:lstStyle/>
          <a:p>
            <a:pPr marL="0" indent="0" algn="r">
              <a:buNone/>
            </a:pPr>
            <a:r>
              <a:rPr lang="en-US" sz="850" b="1" dirty="0">
                <a:solidFill>
                  <a:srgbClr val="0F172A"/>
                </a:solidFill>
                <a:latin typeface="Segoe UI" pitchFamily="34" charset="0"/>
                <a:ea typeface="Segoe UI" pitchFamily="34" charset="-122"/>
                <a:cs typeface="Segoe UI" pitchFamily="34" charset="-120"/>
              </a:rPr>
              <a:t>Slide 16 of 16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5347</Words>
  <Application>Microsoft Macintosh PowerPoint</Application>
  <PresentationFormat>Widescreen</PresentationFormat>
  <Paragraphs>425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Sentinel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 Multipli Hackathon 2026</dc:title>
  <dc:subject>Sentinel — From Alert to Evidence</dc:subject>
  <dc:creator>Sentinel Team</dc:creator>
  <cp:lastModifiedBy>ABHINANDAN HOTA</cp:lastModifiedBy>
  <cp:revision>2</cp:revision>
  <dcterms:created xsi:type="dcterms:W3CDTF">2026-09-19T07:28:10Z</dcterms:created>
  <dcterms:modified xsi:type="dcterms:W3CDTF">2026-09-19T07:35:07Z</dcterms:modified>
</cp:coreProperties>
</file>