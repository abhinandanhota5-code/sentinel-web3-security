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A357A1-8827-475D-9214-932D18A8F322}">
  <a:tblStyle styleId="{23A357A1-8827-475D-9214-932D18A8F3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fc21eb09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409fc21eb09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409fc21eb09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9fc21eb09_3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409fc21eb09_3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409fc21eb09_3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fc21eb09_3_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409fc21eb09_3_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409fc21eb09_3_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9fc21eb09_3_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409fc21eb09_3_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409fc21eb09_3_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fc21eb09_3_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409fc21eb09_3_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409fc21eb09_3_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09fc21eb09_3_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409fc21eb09_3_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409fc21eb09_3_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c21eb09_3_1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409fc21eb09_3_1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409fc21eb09_3_1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457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MULTIPLI HACKATHON  /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5029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BUILT FOR THE BUILDERS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private/tmp/claude-501/-Users-gauthampharish-Hackathon/a8b21bb2-63c7-4790-96ac-9605a5beff0c/scratchpad/assets/logo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1880" y="1097280"/>
            <a:ext cx="1920240" cy="5076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2286000" y="18288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b="0" i="0" lang="en-GB" sz="9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ROUND 1  ·  IDEA SUBMISSION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85800" y="219456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DM Sans"/>
              </a:defRPr>
            </a:pPr>
            <a:r>
              <a:t>SENTINEL</a:t>
            </a:r>
          </a:p>
        </p:txBody>
      </p:sp>
      <p:sp>
        <p:nvSpPr>
          <p:cNvPr id="62" name="Google Shape;62;p15"/>
          <p:cNvSpPr txBox="1"/>
          <p:nvPr/>
        </p:nvSpPr>
        <p:spPr>
          <a:xfrm>
            <a:off x="13716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400">
                <a:solidFill>
                  <a:srgbClr val="5EEAD4"/>
                </a:solidFill>
                <a:latin typeface="DM Sans"/>
              </a:defRPr>
            </a:pPr>
            <a:r>
              <a:t>Wallet &amp; Contract Reputation: From Alert to Evidence</a:t>
            </a:r>
          </a:p>
        </p:txBody>
      </p:sp>
      <p:sp>
        <p:nvSpPr>
          <p:cNvPr id="63" name="Google Shape;63;p15"/>
          <p:cNvSpPr txBox="1"/>
          <p:nvPr/>
        </p:nvSpPr>
        <p:spPr>
          <a:xfrm>
            <a:off x="4572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19–20 SEPTEMBER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2926080" y="4736592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/>
        </p:nvSpPr>
        <p:spPr>
          <a:xfrm>
            <a:off x="59436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36 HOURS. MAKE THEM COUNT.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claude-501/-Users-gauthampharish-Hackathon/a8b21bb2-63c7-4790-96ac-9605a5beff0c/scratchpad/assets/logo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74" name="Google Shape;74;p16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02 /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b="0" i="0" lang="en-GB" sz="9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01  ·  THE 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details</a:t>
            </a:r>
            <a:r>
              <a:rPr b="1" i="0" lang="en-GB" sz="2800" u="none" cap="none" strike="noStrik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45720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{23A357A1-8827-475D-9214-932D18A8F322}</a:tableStyleId>
              </a:tblPr>
              <a:tblGrid>
                <a:gridCol w="1188725"/>
                <a:gridCol w="2194550"/>
                <a:gridCol w="2560325"/>
                <a:gridCol w="22860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/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NAME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EMAIL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COLLEGE / COMPANY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31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1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Abhinandan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abhinandan@sentinel.xyz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Lead Architect &amp; Full Stack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2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Core Developer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dev@sentinel.xyz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Smart Contracts &amp; Rust Indexer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3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Security Researcher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security@sentinel.xyz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Bytecode &amp; Threat Analysis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cap="none" strike="noStrik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4</a:t>
                      </a:r>
                      <a:endParaRPr sz="800" u="none" cap="none" strike="noStrik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AI Engineer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ai@sentinel.xyz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LLM Grounding &amp; Graph Architecture</a:t>
                      </a:r>
                    </a:p>
                  </a:txBody>
                  <a:tcPr marT="0" marB="0" marR="128025" marL="128025" anchor="ctr">
                    <a:lnL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0B0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claude-501/-Users-gauthampharish-Hackathon/a8b21bb2-63c7-4790-96ac-9605a5beff0c/scratchpad/assets/logo.png" id="83" name="Google Shape;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86" name="Google Shape;86;p17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03 /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b="0" i="0" lang="en-GB" sz="9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02  ·  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problem</a:t>
            </a:r>
            <a:r>
              <a:rPr b="1" i="0" lang="en-GB" sz="2800" u="none" cap="none" strike="noStrik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57200" y="1645920"/>
            <a:ext cx="3291840" cy="2834640"/>
          </a:xfrm>
          <a:prstGeom prst="roundRect">
            <a:avLst>
              <a:gd fmla="val 3871" name="adj"/>
            </a:avLst>
          </a:prstGeom>
          <a:solidFill>
            <a:srgbClr val="131313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685800" y="184708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PROBLEM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85800" y="214884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DM Sans"/>
              </a:defRPr>
            </a:pPr>
            <a:r>
              <a:t>Wallet &amp; Contract Reputation: Moving from Opaque Alerts to Verifiable Evidence</a:t>
            </a:r>
          </a:p>
        </p:txBody>
      </p:sp>
      <p:sp>
        <p:nvSpPr>
          <p:cNvPr id="92" name="Google Shape;92;p17"/>
          <p:cNvSpPr/>
          <p:nvPr/>
        </p:nvSpPr>
        <p:spPr>
          <a:xfrm>
            <a:off x="3931920" y="1645920"/>
            <a:ext cx="4754880" cy="1325880"/>
          </a:xfrm>
          <a:prstGeom prst="roundRect">
            <a:avLst>
              <a:gd fmla="val 8276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160520" y="1847088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WHAT IS BROKEN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160520" y="210312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t>Today's Web3 security tools detect threats (Forta) and block transactions (Hypernative), but compress multi-hop data into opaque black-box scores (e.g. 'Risk: 87/100').</a:t>
            </a:r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t>Users and operators suffer from acute alarm fatigue, blind approvals, and an inability to independently verify why an alert fired or calculate their actual dollar blast radius.</a:t>
            </a:r>
          </a:p>
        </p:txBody>
      </p:sp>
      <p:sp>
        <p:nvSpPr>
          <p:cNvPr id="95" name="Google Shape;95;p17"/>
          <p:cNvSpPr/>
          <p:nvPr/>
        </p:nvSpPr>
        <p:spPr>
          <a:xfrm>
            <a:off x="3931920" y="3154680"/>
            <a:ext cx="4754880" cy="1325880"/>
          </a:xfrm>
          <a:prstGeom prst="roundRect">
            <a:avLst>
              <a:gd fmla="val 8276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4160520" y="3355848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WHY IT MATTERS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160520" y="361188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t>In DeFi, a single unverified token approval or stealthily upgraded proxy can drain millions in seconds.</a:t>
            </a:r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t>Clean past history offers zero guarantee against a freshly compromised admin key. DeFi users, DAO signers, and institutional LPs need an evidence-first investigation layer that separates historical reputation from current dollar blast radius before signing.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claude-501/-Users-gauthampharish-Hackathon/a8b21bb2-63c7-4790-96ac-9605a5beff0c/scratchpad/assets/logo.png" id="103" name="Google Shape;1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106" name="Google Shape;106;p18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04 /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b="0" i="0" lang="en-GB" sz="9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03  ·  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solution</a:t>
            </a:r>
            <a:r>
              <a:rPr b="1" i="0" lang="en-GB" sz="2800" u="none" cap="none" strike="noStrik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57200" y="1645920"/>
            <a:ext cx="8229600" cy="1005840"/>
          </a:xfrm>
          <a:prstGeom prst="roundRect">
            <a:avLst>
              <a:gd fmla="val 10909" name="adj"/>
            </a:avLst>
          </a:prstGeom>
          <a:solidFill>
            <a:srgbClr val="131313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685800" y="184708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IN ONE 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85800" y="2103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DM Sans"/>
              </a:defRPr>
            </a:pPr>
            <a:r>
              <a:t>An evidence-first investigation layer that decompresses Web3 security alerts into verifiable on-chain proof trails, active blast radius calculations, and actionable pre-signing protection.</a:t>
            </a:r>
          </a:p>
        </p:txBody>
      </p:sp>
      <p:sp>
        <p:nvSpPr>
          <p:cNvPr id="112" name="Google Shape;112;p18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fmla="val 6667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685800" y="303580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KEY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85800" y="329184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1. Evidence Trail &amp; Confidence Classes: Strict OBSERVED (facts), INFERRED (risks), and UNKNOWN (gaps) discipline.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2. Live Blast Radius &amp; Relationship Graph: Maps wallet-to-contract exposure and computes exact dollar value at risk.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3. Pre-Signing Protection UX: In-wallet transaction review modal with granular spending cap controls (e.g. set $50 cap).</a:t>
            </a:r>
          </a:p>
        </p:txBody>
      </p:sp>
      <p:sp>
        <p:nvSpPr>
          <p:cNvPr id="115" name="Google Shape;115;p18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fmla="val 6667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4892040" y="303580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WHAT MAKES IT DIFFERENT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892040" y="329184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• Investigation-First: Positioned complementary to detection (Forta) and protection (Hypernative).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• AI as Narrator, Never Witness: 100% deterministic blockchain facts first; the LLM only translates structured proof IDs.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• Restores Human Agency: Replaces binary lockouts with inspectable proofs and adjustable allowance caps.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claude-501/-Users-gauthampharish-Hackathon/a8b21bb2-63c7-4790-96ac-9605a5beff0c/scratchpad/assets/logo.png" id="123" name="Google Shape;12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126" name="Google Shape;126;p19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05 /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b="0" i="0" lang="en-GB" sz="9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04  ·  HOW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it works</a:t>
            </a:r>
            <a:r>
              <a:rPr b="1" i="0" lang="en-GB" sz="2800" u="none" cap="none" strike="noStrik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57200" y="1645920"/>
            <a:ext cx="5120640" cy="2834640"/>
          </a:xfrm>
          <a:prstGeom prst="roundRect">
            <a:avLst>
              <a:gd fmla="val 3871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85800" y="18470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85800" y="2148840"/>
            <a:ext cx="4663440" cy="2103120"/>
          </a:xfrm>
          <a:prstGeom prst="roundRect">
            <a:avLst>
              <a:gd fmla="val 3478" name="adj"/>
            </a:avLst>
          </a:prstGeom>
          <a:solidFill>
            <a:srgbClr val="000000"/>
          </a:solidFill>
          <a:ln cap="flat" cmpd="sng" w="9525">
            <a:solidFill>
              <a:srgbClr val="4747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685800" y="214884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[01] RAW TRIGGER (Mempool / RPC Stream / Forta Bot)   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[02] DETERMINISTIC STATE &amp; PROXY RESOLVER (EIP-1967) 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[03] EVIDENCE GRAPH &amp; BLAST RADIUS ($ at Risk)       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[04] GROUNDED LLM NARRATOR (Strict Evidence ID Schema)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[05] PRE-SIGNING WALLET REVIEW (Inspect / Cap / Revoke)│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33" name="Google Shape;133;p19"/>
          <p:cNvSpPr/>
          <p:nvPr/>
        </p:nvSpPr>
        <p:spPr>
          <a:xfrm>
            <a:off x="5760720" y="1645920"/>
            <a:ext cx="2926080" cy="2834640"/>
          </a:xfrm>
          <a:prstGeom prst="roundRect">
            <a:avLst>
              <a:gd fmla="val 3871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5989320" y="184708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TECH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989320" y="210312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Frontend &amp; UX: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Next.js 14, React 19, TypeScript, TailwindCSS, Cytoscape.js, Wagmi &amp; Viem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Analysis &amp; Indexing: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Rust / Node.js EVM RPC listener (Alchemy, QuickNode), EIP-1967 proxy resolver, Bytecode AST decoder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Data &amp; Storage: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PostgreSQL + pgvector, Neo4j Graph Database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Intelligence: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Gemini 1.5 Pro &amp; Claude 3.5 Sonnet (Schema-validated evidence narration)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Networks: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Multipli, Ethereum, Arbitrum,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claude-501/-Users-gauthampharish-Hackathon/a8b21bb2-63c7-4790-96ac-9605a5beff0c/scratchpad/assets/logo.png" id="141" name="Google Shape;1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144" name="Google Shape;144;p20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06 /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b="0" i="0" lang="en-GB" sz="9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05  ·  BUSINESS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Business model</a:t>
            </a:r>
            <a:r>
              <a:rPr b="1" i="0" lang="en-GB" sz="2800" u="none" cap="none" strike="noStrik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57200" y="1645920"/>
            <a:ext cx="2651760" cy="2834640"/>
          </a:xfrm>
          <a:prstGeom prst="roundRect">
            <a:avLst>
              <a:gd fmla="val 4138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68580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WHO IT IS FOR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68580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Web3 Wallets &amp; DAO Signers: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Users seeking clear pre-signing review rather than panic-inducing blocking.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Multipli Protocols &amp; Developers: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Autonomous smart contract verification &amp; attestation during deployment.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Institutional DeFi Funds &amp; LPs: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Real-time blast-radius audits and vault exposure monitoring on Multipli.</a:t>
            </a:r>
          </a:p>
        </p:txBody>
      </p:sp>
      <p:sp>
        <p:nvSpPr>
          <p:cNvPr id="150" name="Google Shape;150;p20"/>
          <p:cNvSpPr/>
          <p:nvPr/>
        </p:nvSpPr>
        <p:spPr>
          <a:xfrm>
            <a:off x="3246120" y="1645920"/>
            <a:ext cx="2651760" cy="2834640"/>
          </a:xfrm>
          <a:prstGeom prst="roundRect">
            <a:avLst>
              <a:gd fmla="val 4138" name="adj"/>
            </a:avLst>
          </a:prstGeom>
          <a:solidFill>
            <a:srgbClr val="131313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347472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HOW IT EARNS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47472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B2B Developer API / SDK: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Tiered subscription for dApps embedding Sentinel evidence cards into frontends.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Institutional Auditing &amp; Compliance: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Enterprise compliance subscriptions with SOC2-ready audit trail export.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Consumer Pro Tier: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Advanced multi-wallet monitoring and 1-click batch allowance revocation.</a:t>
            </a:r>
          </a:p>
        </p:txBody>
      </p:sp>
      <p:sp>
        <p:nvSpPr>
          <p:cNvPr id="153" name="Google Shape;153;p20"/>
          <p:cNvSpPr/>
          <p:nvPr/>
        </p:nvSpPr>
        <p:spPr>
          <a:xfrm>
            <a:off x="6035040" y="1645920"/>
            <a:ext cx="2651760" cy="2834640"/>
          </a:xfrm>
          <a:prstGeom prst="roundRect">
            <a:avLst>
              <a:gd fmla="val 4138" name="adj"/>
            </a:avLst>
          </a:prstGeom>
          <a:solidFill>
            <a:srgbClr val="0B0B0B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626364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26364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Eliminates Alarm Fatigue: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Fewer, higher-context alerts backed by cryptographic proofs.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Prevents Exploits Before Execution: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Stops drainers exploiting mutable proxies and unspent unlimited allowances.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Standardizes Multipli Trust: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Establishes a universal, evidence-first reputation layer across the ecosystem.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/>
        </p:nvSpPr>
        <p:spPr>
          <a:xfrm>
            <a:off x="457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MULTIPLI HACKATHON  /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029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BUILT FOR THE BUILDERS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private/tmp/claude-501/-Users-gauthampharish-Hackathon/a8b21bb2-63c7-4790-96ac-9605a5beff0c/scratchpad/assets/logo.png" id="163" name="Google Shape;1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1508760"/>
            <a:ext cx="1645920" cy="4351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4000" b="1">
                <a:solidFill>
                  <a:srgbClr val="FFFFFF"/>
                </a:solidFill>
                <a:latin typeface="DM Sans"/>
              </a:defRPr>
            </a:pPr>
            <a:r>
              <a:t>Thank you.</a:t>
            </a:r>
          </a:p>
          <a:p>
            <a:pPr>
              <a:defRPr>
                <a:solidFill>
                  <a:srgbClr val="FFFFFF"/>
                </a:solidFill>
                <a:latin typeface="DM Sans"/>
              </a:defRPr>
            </a:pPr>
          </a:p>
          <a:p>
            <a:pPr>
              <a:defRPr sz="1400">
                <a:solidFill>
                  <a:srgbClr val="5EEAD4"/>
                </a:solidFill>
                <a:latin typeface="DM Sans"/>
              </a:defRPr>
            </a:pPr>
            <a:r>
              <a:t>SENTINEL — FROM ALERT TO EVIDENCE.</a:t>
            </a:r>
          </a:p>
        </p:txBody>
      </p:sp>
      <p:sp>
        <p:nvSpPr>
          <p:cNvPr id="165" name="Google Shape;165;p21"/>
          <p:cNvSpPr txBox="1"/>
          <p:nvPr/>
        </p:nvSpPr>
        <p:spPr>
          <a:xfrm>
            <a:off x="4572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19–20 SEPTEMBER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1"/>
          <p:cNvCxnSpPr/>
          <p:nvPr/>
        </p:nvCxnSpPr>
        <p:spPr>
          <a:xfrm>
            <a:off x="2926080" y="4736592"/>
            <a:ext cx="3291840" cy="0"/>
          </a:xfrm>
          <a:prstGeom prst="straightConnector1">
            <a:avLst/>
          </a:prstGeom>
          <a:noFill/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1"/>
          <p:cNvSpPr txBox="1"/>
          <p:nvPr/>
        </p:nvSpPr>
        <p:spPr>
          <a:xfrm>
            <a:off x="59436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b="0" i="0" lang="en-GB" sz="800" u="none" cap="none" strike="noStrik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THINK. BUILD. MULTIPLI.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