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A357A1-8827-475D-9214-932D18A8F322}">
  <a:tblStyle styleId="{23A357A1-8827-475D-9214-932D18A8F3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59" d="100"/>
          <a:sy n="159" d="100"/>
        </p:scale>
        <p:origin x="30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09fc21eb09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409fc21eb09_3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409fc21eb09_3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09fc21eb09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409fc21eb09_3_1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409fc21eb09_3_1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409fc21eb09_3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409fc21eb09_3_2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409fc21eb09_3_2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09fc21eb09_3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409fc21eb09_3_4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409fc21eb09_3_4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09fc21eb09_3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409fc21eb09_3_6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409fc21eb09_3_6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09fc21eb09_3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409fc21eb09_3_8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409fc21eb09_3_8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409fc21eb09_3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g409fc21eb09_3_10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409fc21eb09_3_10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/>
        </p:nvSpPr>
        <p:spPr>
          <a:xfrm>
            <a:off x="457200" y="3200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MULTIPLI HACKATHON  /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 txBox="1"/>
          <p:nvPr/>
        </p:nvSpPr>
        <p:spPr>
          <a:xfrm>
            <a:off x="5029200" y="3200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BUILT FOR THE BUILDERS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15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1880" y="1097280"/>
            <a:ext cx="1920240" cy="50766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/>
          <p:nvPr/>
        </p:nvSpPr>
        <p:spPr>
          <a:xfrm>
            <a:off x="2286000" y="182880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lang="en-GB" sz="9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ROUND 1  ·  IDEA SUBMISSION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685800" y="219456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4400" b="1">
                <a:solidFill>
                  <a:srgbClr val="FFFFFF"/>
                </a:solidFill>
                <a:latin typeface="DM Sans"/>
              </a:defRPr>
            </a:pPr>
            <a:r>
              <a:t>SENTINEL</a:t>
            </a:r>
          </a:p>
        </p:txBody>
      </p:sp>
      <p:sp>
        <p:nvSpPr>
          <p:cNvPr id="62" name="Google Shape;62;p15"/>
          <p:cNvSpPr txBox="1"/>
          <p:nvPr/>
        </p:nvSpPr>
        <p:spPr>
          <a:xfrm>
            <a:off x="1371600" y="3063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1400">
                <a:solidFill>
                  <a:srgbClr val="5EEAD4"/>
                </a:solidFill>
                <a:latin typeface="DM Sans"/>
              </a:defRPr>
            </a:pPr>
            <a:r>
              <a:t>Wallet &amp; Contract Reputation: From Alert to Evidence</a:t>
            </a:r>
          </a:p>
        </p:txBody>
      </p:sp>
      <p:sp>
        <p:nvSpPr>
          <p:cNvPr id="63" name="Google Shape;63;p15"/>
          <p:cNvSpPr txBox="1"/>
          <p:nvPr/>
        </p:nvSpPr>
        <p:spPr>
          <a:xfrm>
            <a:off x="457200" y="4645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19–20 SEPTEMBER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15"/>
          <p:cNvCxnSpPr/>
          <p:nvPr/>
        </p:nvCxnSpPr>
        <p:spPr>
          <a:xfrm>
            <a:off x="2926080" y="4736592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p15"/>
          <p:cNvSpPr txBox="1"/>
          <p:nvPr/>
        </p:nvSpPr>
        <p:spPr>
          <a:xfrm>
            <a:off x="5943600" y="4645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36 HOURS. MAKE THEM COUNT.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800">
                <a:solidFill>
                  <a:srgbClr val="B4B4B4"/>
                </a:solidFill>
                <a:latin typeface="DM Mono"/>
              </a:defRPr>
            </a:pPr>
            <a:r>
              <a:t>SENTINEL</a:t>
            </a:r>
          </a:p>
        </p:txBody>
      </p:sp>
      <p:sp>
        <p:nvSpPr>
          <p:cNvPr id="74" name="Google Shape;74;p16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02 / 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lang="en-GB" sz="9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01  ·  THE TEAM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lang="en-GB" sz="2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Team details</a:t>
            </a:r>
            <a:r>
              <a:rPr lang="en-GB" sz="2800" b="1" i="0" u="none" strike="noStrike" cap="non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" name="Google Shape;77;p16"/>
          <p:cNvGraphicFramePr/>
          <p:nvPr>
            <p:extLst>
              <p:ext uri="{D42A27DB-BD31-4B8C-83A1-F6EECF244321}">
                <p14:modId xmlns:p14="http://schemas.microsoft.com/office/powerpoint/2010/main" val="3325287080"/>
              </p:ext>
            </p:extLst>
          </p:nvPr>
        </p:nvGraphicFramePr>
        <p:xfrm>
          <a:off x="457200" y="1691640"/>
          <a:ext cx="8229600" cy="2395750"/>
        </p:xfrm>
        <a:graphic>
          <a:graphicData uri="http://schemas.openxmlformats.org/drawingml/2006/table">
            <a:tbl>
              <a:tblPr>
                <a:noFill/>
                <a:tableStyleId>{23A357A1-8827-475D-9214-932D18A8F322}</a:tableStyleId>
              </a:tblPr>
              <a:tblGrid>
                <a:gridCol w="118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NAME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EMAIL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31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COLLEGE / COMPANY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313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MEMBER 1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t>Abhinandan</a:t>
                      </a: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US" dirty="0"/>
                        <a:t>A</a:t>
                      </a:r>
                      <a:r>
                        <a:rPr dirty="0"/>
                        <a:t>bhinandan</a:t>
                      </a:r>
                      <a:r>
                        <a:rPr lang="en-US" dirty="0"/>
                        <a:t>.hota5@gmail.com</a:t>
                      </a:r>
                      <a:endParaRPr dirty="0"/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US" dirty="0"/>
                        <a:t>VIT Vellore</a:t>
                      </a:r>
                      <a:endParaRPr dirty="0"/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MEMBER 2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US" dirty="0"/>
                        <a:t>Javin </a:t>
                      </a:r>
                      <a:r>
                        <a:rPr lang="en-US" dirty="0" err="1"/>
                        <a:t>Jetwani</a:t>
                      </a:r>
                      <a:endParaRPr dirty="0"/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US" dirty="0"/>
                        <a:t>javin2200@gmail.com</a:t>
                      </a:r>
                      <a:endParaRPr dirty="0"/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US" dirty="0"/>
                        <a:t>VIT Vellore</a:t>
                      </a:r>
                      <a:endParaRPr dirty="0"/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MEMBER 3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US" dirty="0"/>
                        <a:t>Yash Vardhan Singh</a:t>
                      </a:r>
                      <a:endParaRPr dirty="0"/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US" dirty="0" err="1"/>
                        <a:t>yashsinghjio@gmail.com</a:t>
                      </a:r>
                      <a:endParaRPr dirty="0"/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US" dirty="0"/>
                        <a:t>VIT Vellore</a:t>
                      </a:r>
                      <a:endParaRPr dirty="0"/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6A6A6"/>
                        </a:buClr>
                        <a:buSzPts val="800"/>
                        <a:buFont typeface="DM Mono"/>
                        <a:buNone/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r>
                        <a:rPr lang="en-GB" sz="800" u="none" strike="noStrike" cap="none">
                          <a:solidFill>
                            <a:srgbClr val="A6A6A6"/>
                          </a:solidFill>
                          <a:latin typeface="DM Mono"/>
                          <a:ea typeface="DM Mono"/>
                          <a:cs typeface="DM Mono"/>
                          <a:sym typeface="DM Mono"/>
                        </a:rPr>
                        <a:t>MEMBER 4</a:t>
                      </a:r>
                      <a:endParaRPr sz="800" u="none" strike="noStrike" cap="none">
                        <a:latin typeface="DM Mono"/>
                        <a:ea typeface="DM Mono"/>
                        <a:cs typeface="DM Mono"/>
                        <a:sym typeface="DM Mono"/>
                      </a:endParaRPr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endParaRPr dirty="0"/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endParaRPr dirty="0"/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DM Sans"/>
                        </a:defRPr>
                      </a:pPr>
                      <a:endParaRPr dirty="0"/>
                    </a:p>
                  </a:txBody>
                  <a:tcPr marL="128025" marR="128025" marT="0" marB="0" anchor="ctr">
                    <a:lnL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12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B0B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800">
                <a:solidFill>
                  <a:srgbClr val="B4B4B4"/>
                </a:solidFill>
                <a:latin typeface="DM Mono"/>
              </a:defRPr>
            </a:pPr>
            <a:r>
              <a:t>SENTINEL</a:t>
            </a:r>
          </a:p>
        </p:txBody>
      </p:sp>
      <p:sp>
        <p:nvSpPr>
          <p:cNvPr id="86" name="Google Shape;86;p17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03 / 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lang="en-GB" sz="9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02  ·  THE PROBLEM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lang="en-GB" sz="2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problem</a:t>
            </a:r>
            <a:r>
              <a:rPr lang="en-GB" sz="2800" b="1" i="0" u="none" strike="noStrike" cap="non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57200" y="1645920"/>
            <a:ext cx="3291840" cy="2834640"/>
          </a:xfrm>
          <a:prstGeom prst="roundRect">
            <a:avLst>
              <a:gd name="adj" fmla="val 3871"/>
            </a:avLst>
          </a:prstGeom>
          <a:solidFill>
            <a:srgbClr val="13131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685800" y="1847088"/>
            <a:ext cx="2834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PROBLEM STATEMENT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85800" y="2148840"/>
            <a:ext cx="2834640" cy="190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1100" b="1">
                <a:solidFill>
                  <a:srgbClr val="FFFFFF"/>
                </a:solidFill>
                <a:latin typeface="DM Sans"/>
              </a:defRPr>
            </a:pPr>
            <a:r>
              <a:rPr dirty="0"/>
              <a:t>Wallet &amp; Contract Reputation: Moving from Opaque Alerts to Verifiable Evidence</a:t>
            </a:r>
          </a:p>
        </p:txBody>
      </p:sp>
      <p:sp>
        <p:nvSpPr>
          <p:cNvPr id="92" name="Google Shape;92;p17"/>
          <p:cNvSpPr/>
          <p:nvPr/>
        </p:nvSpPr>
        <p:spPr>
          <a:xfrm>
            <a:off x="3931920" y="1645920"/>
            <a:ext cx="4754880" cy="1325880"/>
          </a:xfrm>
          <a:prstGeom prst="roundRect">
            <a:avLst>
              <a:gd name="adj" fmla="val 8276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4160520" y="1741852"/>
            <a:ext cx="4297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 dirty="0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WHAT IS BROKEN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160520" y="1913823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50">
                <a:solidFill>
                  <a:srgbClr val="B4B4B4"/>
                </a:solidFill>
                <a:latin typeface="DM Sans"/>
              </a:defRPr>
            </a:pPr>
            <a:r>
              <a:rPr dirty="0"/>
              <a:t>Today's Web3 security tools detect threats (Forta) and block transactions (</a:t>
            </a:r>
            <a:r>
              <a:rPr dirty="0" err="1"/>
              <a:t>Hypernative</a:t>
            </a:r>
            <a:r>
              <a:rPr dirty="0"/>
              <a:t>), but compress multi-hop data into opaque black-box scores (e.g. 'Risk: 87/100').</a:t>
            </a:r>
          </a:p>
          <a:p>
            <a:pPr>
              <a:defRPr sz="950">
                <a:solidFill>
                  <a:srgbClr val="B4B4B4"/>
                </a:solidFill>
                <a:latin typeface="DM Sans"/>
              </a:defRPr>
            </a:pPr>
            <a:endParaRPr dirty="0"/>
          </a:p>
          <a:p>
            <a:pPr>
              <a:defRPr sz="950">
                <a:solidFill>
                  <a:srgbClr val="B4B4B4"/>
                </a:solidFill>
                <a:latin typeface="DM Sans"/>
              </a:defRPr>
            </a:pPr>
            <a:r>
              <a:rPr dirty="0"/>
              <a:t>Users and operators suffer from acute alarm fatigue, blind approvals, and an inability to independently verify why an alert fired or calculate their actual dollar blast radius.</a:t>
            </a:r>
          </a:p>
        </p:txBody>
      </p:sp>
      <p:sp>
        <p:nvSpPr>
          <p:cNvPr id="95" name="Google Shape;95;p17"/>
          <p:cNvSpPr/>
          <p:nvPr/>
        </p:nvSpPr>
        <p:spPr>
          <a:xfrm>
            <a:off x="3931920" y="3154680"/>
            <a:ext cx="4754880" cy="1325880"/>
          </a:xfrm>
          <a:prstGeom prst="roundRect">
            <a:avLst>
              <a:gd name="adj" fmla="val 8276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4160520" y="3246120"/>
            <a:ext cx="42976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 dirty="0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WHY IT MATTERS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4160520" y="342900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50">
                <a:solidFill>
                  <a:srgbClr val="B4B4B4"/>
                </a:solidFill>
                <a:latin typeface="DM Sans"/>
              </a:defRPr>
            </a:pPr>
            <a:r>
              <a:rPr dirty="0"/>
              <a:t>In DeFi, a single unverified token approval or stealthily upgraded proxy can drain millions in seconds.</a:t>
            </a:r>
          </a:p>
          <a:p>
            <a:pPr>
              <a:defRPr sz="950">
                <a:solidFill>
                  <a:srgbClr val="B4B4B4"/>
                </a:solidFill>
                <a:latin typeface="DM Sans"/>
              </a:defRPr>
            </a:pPr>
            <a:endParaRPr dirty="0"/>
          </a:p>
          <a:p>
            <a:pPr>
              <a:defRPr sz="950">
                <a:solidFill>
                  <a:srgbClr val="B4B4B4"/>
                </a:solidFill>
                <a:latin typeface="DM Sans"/>
              </a:defRPr>
            </a:pPr>
            <a:r>
              <a:rPr dirty="0"/>
              <a:t>Clean past history offers zero guarantee against a freshly compromised admin key. DeFi users, DAO signers, and institutional LPs need an evidence-first investigation layer that separates historical reputation from current dollar blast radius before signing.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800">
                <a:solidFill>
                  <a:srgbClr val="B4B4B4"/>
                </a:solidFill>
                <a:latin typeface="DM Mono"/>
              </a:defRPr>
            </a:pPr>
            <a:r>
              <a:t>SENTINEL</a:t>
            </a:r>
          </a:p>
        </p:txBody>
      </p:sp>
      <p:sp>
        <p:nvSpPr>
          <p:cNvPr id="106" name="Google Shape;106;p18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04 / 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lang="en-GB" sz="9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03  ·  THE SOLUTION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lang="en-GB" sz="2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Our solution</a:t>
            </a:r>
            <a:r>
              <a:rPr lang="en-GB" sz="2800" b="1" i="0" u="none" strike="noStrike" cap="non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57200" y="164592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13131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8"/>
          <p:cNvSpPr txBox="1"/>
          <p:nvPr/>
        </p:nvSpPr>
        <p:spPr>
          <a:xfrm>
            <a:off x="685800" y="1847088"/>
            <a:ext cx="7772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IN ONE LINE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85800" y="2103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1100" b="1">
                <a:solidFill>
                  <a:srgbClr val="FFFFFF"/>
                </a:solidFill>
                <a:latin typeface="DM Sans"/>
              </a:defRPr>
            </a:pPr>
            <a:r>
              <a:t>An evidence-first investigation layer that decompresses Web3 security alerts into verifiable on-chain proof trails, active blast radius calculations, and actionable pre-signing protection.</a:t>
            </a:r>
          </a:p>
        </p:txBody>
      </p:sp>
      <p:sp>
        <p:nvSpPr>
          <p:cNvPr id="112" name="Google Shape;112;p18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685800" y="3035808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KEY FEATURES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685800" y="329184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r>
              <a:t>1. Evidence Trail &amp; Confidence Classes: Strict OBSERVED (facts), INFERRED (risks), and UNKNOWN (gaps) discipline.</a:t>
            </a:r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r>
              <a:t>2. Live Blast Radius &amp; Relationship Graph: Maps wallet-to-contract exposure and computes exact dollar value at risk.</a:t>
            </a:r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r>
              <a:t>3. Pre-Signing Protection UX: In-wallet transaction review modal with granular spending cap controls (e.g. set $50 cap).</a:t>
            </a:r>
          </a:p>
        </p:txBody>
      </p:sp>
      <p:sp>
        <p:nvSpPr>
          <p:cNvPr id="115" name="Google Shape;115;p18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4892040" y="3035808"/>
            <a:ext cx="3566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WHAT MAKES IT DIFFERENT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4892040" y="329184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r>
              <a:t>• Investigation-First: Positioned complementary to detection (Forta) and protection (Hypernative).</a:t>
            </a:r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r>
              <a:t>• AI as Narrator, Never Witness: 100% deterministic blockchain facts first; the LLM only translates structured proof IDs.</a:t>
            </a:r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900">
                <a:solidFill>
                  <a:srgbClr val="B4B4B4"/>
                </a:solidFill>
                <a:latin typeface="DM Sans"/>
              </a:defRPr>
            </a:pPr>
            <a:r>
              <a:t>• Restores Human Agency: Replaces binary lockouts with inspectable proofs and adjustable allowance caps.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800">
                <a:solidFill>
                  <a:srgbClr val="B4B4B4"/>
                </a:solidFill>
                <a:latin typeface="DM Mono"/>
              </a:defRPr>
            </a:pPr>
            <a:r>
              <a:t>SENTINEL</a:t>
            </a:r>
          </a:p>
        </p:txBody>
      </p:sp>
      <p:sp>
        <p:nvSpPr>
          <p:cNvPr id="126" name="Google Shape;126;p19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05 / 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lang="en-GB" sz="9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04  ·  HOW IT 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lang="en-GB" sz="2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How it works</a:t>
            </a:r>
            <a:r>
              <a:rPr lang="en-GB" sz="2800" b="1" i="0" u="none" strike="noStrike" cap="non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457200" y="1645920"/>
            <a:ext cx="5120640" cy="2834640"/>
          </a:xfrm>
          <a:prstGeom prst="roundRect">
            <a:avLst>
              <a:gd name="adj" fmla="val 3871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685800" y="1847088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ARCHITECTURE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685800" y="2148840"/>
            <a:ext cx="4663440" cy="2103120"/>
          </a:xfrm>
          <a:prstGeom prst="roundRect">
            <a:avLst>
              <a:gd name="adj" fmla="val 3478"/>
            </a:avLst>
          </a:prstGeom>
          <a:solidFill>
            <a:srgbClr val="000000"/>
          </a:solidFill>
          <a:ln w="9525" cap="flat" cmpd="sng">
            <a:solidFill>
              <a:srgbClr val="47474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685800" y="2148840"/>
            <a:ext cx="466344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│ [01] RAW TRIGGER (Mempool / RPC Stream / Forta Bot)    │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└───────────────────────────┬────────────────────────────┘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                            ▼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│ [02] DETERMINISTIC STATE &amp; PROXY RESOLVER (EIP-1967)  │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└───────────────────────────┬────────────────────────────┘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                            ▼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│ [03] EVIDENCE GRAPH &amp; BLAST RADIUS ($ at Risk)        │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└───────────────────────────┬────────────────────────────┘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                            ▼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│ [04] GROUNDED LLM NARRATOR (Strict Evidence ID Schema) │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└───────────────────────────┬────────────────────────────┘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                            ▼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│ [05] PRE-SIGNING WALLET REVIEW (Inspect / Cap / Revoke)│</a:t>
            </a:r>
          </a:p>
          <a:p>
            <a:pPr>
              <a:defRPr sz="850">
                <a:solidFill>
                  <a:srgbClr val="5EEAD4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33" name="Google Shape;133;p19"/>
          <p:cNvSpPr/>
          <p:nvPr/>
        </p:nvSpPr>
        <p:spPr>
          <a:xfrm>
            <a:off x="5760720" y="1645920"/>
            <a:ext cx="2926080" cy="2834640"/>
          </a:xfrm>
          <a:prstGeom prst="roundRect">
            <a:avLst>
              <a:gd name="adj" fmla="val 3871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5989320" y="1847088"/>
            <a:ext cx="2468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TECH STACK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989320" y="2103120"/>
            <a:ext cx="246888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• Frontend &amp; UX: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  Next.js 14, React 19, TypeScript, TailwindCSS, Cytoscape.js, Wagmi &amp; Viem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• Analysis &amp; Indexing: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  Rust / Node.js EVM RPC listener (Alchemy, QuickNode), EIP-1967 proxy resolver, Bytecode AST decoder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• Data &amp; Storage: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  PostgreSQL + pgvector, Neo4j Graph Database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• Intelligence: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  Gemini 1.5 Pro &amp; Claude 3.5 Sonnet (Schema-validated evidence narration)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• Networks:</a:t>
            </a:r>
          </a:p>
          <a:p>
            <a:pPr>
              <a:defRPr sz="850">
                <a:solidFill>
                  <a:srgbClr val="B4B4B4"/>
                </a:solidFill>
                <a:latin typeface="DM Sans"/>
              </a:defRPr>
            </a:pPr>
            <a:r>
              <a:t>  Multipli, Ethereum, Arbitrum, 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0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310896"/>
            <a:ext cx="868680" cy="22965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5029200" y="3291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HACKATHON 2026  /  ROUND 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800">
                <a:solidFill>
                  <a:srgbClr val="B4B4B4"/>
                </a:solidFill>
                <a:latin typeface="DM Mono"/>
              </a:defRPr>
            </a:pPr>
            <a:r>
              <a:t>SENTINEL</a:t>
            </a:r>
          </a:p>
        </p:txBody>
      </p:sp>
      <p:sp>
        <p:nvSpPr>
          <p:cNvPr id="144" name="Google Shape;144;p20"/>
          <p:cNvSpPr txBox="1"/>
          <p:nvPr/>
        </p:nvSpPr>
        <p:spPr>
          <a:xfrm>
            <a:off x="6858000" y="475488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707070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707070"/>
                </a:solidFill>
                <a:latin typeface="DM Mono"/>
                <a:ea typeface="DM Mono"/>
                <a:cs typeface="DM Mono"/>
                <a:sym typeface="DM Mono"/>
              </a:rPr>
              <a:t>06 / 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457200" y="73152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900"/>
              <a:buFont typeface="DM Mono"/>
              <a:buNone/>
            </a:pPr>
            <a:r>
              <a:rPr lang="en-GB" sz="9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05  ·  BUSINESS MODEL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DM Sans"/>
              <a:buNone/>
            </a:pPr>
            <a:r>
              <a:rPr lang="en-GB" sz="28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Business model</a:t>
            </a:r>
            <a:r>
              <a:rPr lang="en-GB" sz="2800" b="1" i="0" u="none" strike="noStrike" cap="none">
                <a:solidFill>
                  <a:srgbClr val="70707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457200" y="16459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685800" y="184708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WHO IT IS FOR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685800" y="210312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Web3 Wallets &amp; DAO Signers: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Users seeking clear pre-signing review rather than panic-inducing blocking.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Multipli Protocols &amp; Developers: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Autonomous smart contract verification &amp; attestation during deployment.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Institutional DeFi Funds &amp; LPs: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Real-time blast-radius audits and vault exposure monitoring on Multipli.</a:t>
            </a:r>
          </a:p>
        </p:txBody>
      </p:sp>
      <p:sp>
        <p:nvSpPr>
          <p:cNvPr id="150" name="Google Shape;150;p20"/>
          <p:cNvSpPr/>
          <p:nvPr/>
        </p:nvSpPr>
        <p:spPr>
          <a:xfrm>
            <a:off x="3246120" y="16459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131313"/>
          </a:solidFill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3474720" y="184708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HOW IT EARNS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3474720" y="210312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B2B Developer API / SDK: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Tiered subscription for dApps embedding Sentinel evidence cards into frontends.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Institutional Auditing &amp; Compliance: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Enterprise compliance subscriptions with SOC2-ready audit trail export.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Consumer Pro Tier: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Advanced multi-wallet monitoring and 1-click batch allowance revocation.</a:t>
            </a:r>
          </a:p>
        </p:txBody>
      </p:sp>
      <p:sp>
        <p:nvSpPr>
          <p:cNvPr id="153" name="Google Shape;153;p20"/>
          <p:cNvSpPr/>
          <p:nvPr/>
        </p:nvSpPr>
        <p:spPr>
          <a:xfrm>
            <a:off x="6035040" y="16459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0B0B0B"/>
          </a:solidFill>
          <a:ln w="9525" cap="flat" cmpd="sng">
            <a:solidFill>
              <a:srgbClr val="2121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6263640" y="184708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IMPACT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6263640" y="2103120"/>
            <a:ext cx="219456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Eliminates Alarm Fatigue: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Fewer, higher-context alerts backed by cryptographic proofs.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Prevents Exploits Before Execution: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Stops drainers exploiting mutable proxies and unspent unlimited allowances.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endParaRPr/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• Standardizes Multipli Trust:</a:t>
            </a:r>
          </a:p>
          <a:p>
            <a:pPr>
              <a:defRPr sz="880">
                <a:solidFill>
                  <a:srgbClr val="B4B4B4"/>
                </a:solidFill>
                <a:latin typeface="DM Sans"/>
              </a:defRPr>
            </a:pPr>
            <a:r>
              <a:t>  Establishes a universal, evidence-first reputation layer across the ecosystem.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/>
        </p:nvSpPr>
        <p:spPr>
          <a:xfrm>
            <a:off x="457200" y="3200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MULTIPLI HACKATHON  /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5029200" y="3200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BUILT FOR THE BUILDERS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1" descr="/private/tmp/claude-501/-Users-gauthampharish-Hackathon/a8b21bb2-63c7-4790-96ac-9605a5beff0c/scratchpad/assets/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49040" y="1508760"/>
            <a:ext cx="1645920" cy="4351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914400" y="23317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defRPr sz="4000" b="1">
                <a:solidFill>
                  <a:srgbClr val="FFFFFF"/>
                </a:solidFill>
                <a:latin typeface="DM Sans"/>
              </a:defRPr>
            </a:pPr>
            <a:r>
              <a:t>Thank you.</a:t>
            </a:r>
          </a:p>
          <a:p>
            <a:pPr>
              <a:defRPr>
                <a:solidFill>
                  <a:srgbClr val="FFFFFF"/>
                </a:solidFill>
                <a:latin typeface="DM Sans"/>
              </a:defRPr>
            </a:pPr>
            <a:endParaRPr/>
          </a:p>
          <a:p>
            <a:pPr>
              <a:defRPr sz="1400">
                <a:solidFill>
                  <a:srgbClr val="5EEAD4"/>
                </a:solidFill>
                <a:latin typeface="DM Sans"/>
              </a:defRPr>
            </a:pPr>
            <a:r>
              <a:t>SENTINEL — FROM ALERT TO EVIDENCE.</a:t>
            </a:r>
          </a:p>
        </p:txBody>
      </p:sp>
      <p:sp>
        <p:nvSpPr>
          <p:cNvPr id="165" name="Google Shape;165;p21"/>
          <p:cNvSpPr txBox="1"/>
          <p:nvPr/>
        </p:nvSpPr>
        <p:spPr>
          <a:xfrm>
            <a:off x="457200" y="4645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19–20 SEPTEMBER 2026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21"/>
          <p:cNvCxnSpPr/>
          <p:nvPr/>
        </p:nvCxnSpPr>
        <p:spPr>
          <a:xfrm>
            <a:off x="2926080" y="4736592"/>
            <a:ext cx="3291840" cy="0"/>
          </a:xfrm>
          <a:prstGeom prst="straightConnector1">
            <a:avLst/>
          </a:prstGeom>
          <a:noFill/>
          <a:ln w="9525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21"/>
          <p:cNvSpPr txBox="1"/>
          <p:nvPr/>
        </p:nvSpPr>
        <p:spPr>
          <a:xfrm>
            <a:off x="5943600" y="464515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800"/>
              <a:buFont typeface="DM Mono"/>
              <a:buNone/>
            </a:pPr>
            <a:r>
              <a:rPr lang="en-GB" sz="800" b="0" i="0" u="none" strike="noStrike" cap="none">
                <a:solidFill>
                  <a:srgbClr val="A6A6A6"/>
                </a:solidFill>
                <a:latin typeface="DM Mono"/>
                <a:ea typeface="DM Mono"/>
                <a:cs typeface="DM Mono"/>
                <a:sym typeface="DM Mono"/>
              </a:rPr>
              <a:t>THINK. BUILD. MULTIPLI.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831</Words>
  <Application>Microsoft Macintosh PowerPoint</Application>
  <PresentationFormat>On-screen Show (16:9)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DM Mono</vt:lpstr>
      <vt:lpstr>DM Sans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ABHINANDAN HOTA</cp:lastModifiedBy>
  <cp:revision>1</cp:revision>
  <dcterms:modified xsi:type="dcterms:W3CDTF">2026-09-19T07:52:57Z</dcterms:modified>
</cp:coreProperties>
</file>